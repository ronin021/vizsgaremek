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10"/>
  </p:normalViewPr>
  <p:slideViewPr>
    <p:cSldViewPr snapToGrid="0" snapToObjects="1">
      <p:cViewPr varScale="1">
        <p:scale>
          <a:sx n="138" d="100"/>
          <a:sy n="138" d="100"/>
        </p:scale>
        <p:origin x="834"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603141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This is InteriorShop — our final project. It's a fully functional e-commerce platform for interior design products. We built the frontend in React 19, the backend in Node.js with Express and TypeScript, and the database in MySQL. Let me walk you through the project.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application has six core areas. Users can browse furniture and décor products, register and log in securely, manage a live shopping cart, complete a checkout process, and admins can manage everything through a dedicated dashboard. All communication happens over a REST API using JSON.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architecture follows the classic three-tier model. The React frontend communicates with the Express backend over HTTP using JSON. The backend then queries the MySQL database. Authentication state travels as a JWT token in every request header.</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let's dive into the frontend. We built the entire user interface with React 19. All pages are organized as separate JSX components and connected with React Router. We used two Context providers — one for authentication state, one for the cart — so the data is globally available without prop drilling.</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frontend has 14 pages connected by React Router. The api folder contains dedicated modules for each feature area. Two Context providers — AuthContext and CartContext — manage global state. Protected routes like checkout and admin redirect unauthenticated or non-admin users back to the home page.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a user logs in, the backend returns a JWT token. We store it in localStorage via our authApi. Every subsequent API call goes through a central client.js function that automatically reads the token and injects it as a Bearer header. This means no component needs to manually manage the token.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cart is not just stored in memory — every item is saved to the database immediately. When a user adds a product, CartContext first checks if an active order exists. If not, it creates one. It also handles deduplication: adding the same product again just increases the quantity. Free shipping kicks in above 150,000 HUF.</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backend. The server is written in TypeScript using the Express framework. It follows a clean layered architecture: routes call controllers, controllers use services, services query the database. Two middleware layers handle authentication and admin authorization.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backend is cleanly separated into four layers. An incoming request first hits the route, passes through middleware for authentication checks, then reaches the controller which parses the request and calls the appropriate service. The service runs the SQL query and returns the result back up the chain.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JWT tokens expire after seven days. Every protected route first passes through the authenticate middleware which verifies the token signature using a secret key. Admin routes have an additional authorize middleware that checks the is_admin flag on the user record. If either check fails, a 401 or 403 is returned immediately.</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database has five tables. Users store bcrypt-hashed passwords and an is_admin flag. Products reference a category and store images as a JSON array string. Orders have extra fields for payment method, shipping address, and phone added during the project. Order items join orders and products with a quantity.</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admin panel is only accessible to users with the is_admin flag set. On load it fires a Promise.all call to fetch products, orders, categories, and users in parallel. Admins can create or edit products including multiple images — either by URL or file upload, which gets converted to base64. Orders are displayed with color-coded status badges.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order process has six stages. After adding items to the cart, the user fills in shipping and payment details on the checkout page. Submitting triggers two sequential API calls: first create the order record, then post each cart item as an order item. The order status starts as Feldolgozás alatt — Processing.</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coordinated the entire project through Discord, using dedicated channels for frontend, backend, and database topics. All code lives on GitHub with a feature-branch workflow — nobody pushed directly to main. Tasks were split clearly: each team member owned specific layers. We also kept a running audit log documenting the status of every module.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that wraps up our presentation. To summarize: InteriorShop is a fully working full-stack webshop built with modern technologies. We learned a lot about connecting a React frontend to a Node.js backend, managing state with Context, securing routes with JWT, and working as a team with Git. Thank you for your attention — we're happy to answer any questions.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117"/>
        </a:solidFill>
        <a:effectLst/>
      </p:bgPr>
    </p:bg>
    <p:spTree>
      <p:nvGrpSpPr>
        <p:cNvPr id="1" name=""/>
        <p:cNvGrpSpPr/>
        <p:nvPr/>
      </p:nvGrpSpPr>
      <p:grpSpPr>
        <a:xfrm>
          <a:off x="0" y="0"/>
          <a:ext cx="0" cy="0"/>
          <a:chOff x="0" y="0"/>
          <a:chExt cx="0" cy="0"/>
        </a:xfrm>
      </p:grpSpPr>
      <p:sp>
        <p:nvSpPr>
          <p:cNvPr id="2" name="Shape 0"/>
          <p:cNvSpPr/>
          <p:nvPr/>
        </p:nvSpPr>
        <p:spPr>
          <a:xfrm>
            <a:off x="5303520" y="0"/>
            <a:ext cx="3840480" cy="5143500"/>
          </a:xfrm>
          <a:prstGeom prst="rect">
            <a:avLst/>
          </a:prstGeom>
          <a:solidFill>
            <a:srgbClr val="E07B54">
              <a:alpha val="88000"/>
            </a:srgbClr>
          </a:solidFill>
          <a:ln w="12700">
            <a:solidFill>
              <a:srgbClr val="E07B54">
                <a:alpha val="88000"/>
              </a:srgbClr>
            </a:solidFill>
            <a:prstDash val="solid"/>
          </a:ln>
        </p:spPr>
        <p:txBody>
          <a:bodyPr/>
          <a:lstStyle/>
          <a:p>
            <a:endParaRPr lang="hu-HU"/>
          </a:p>
        </p:txBody>
      </p:sp>
      <p:sp>
        <p:nvSpPr>
          <p:cNvPr id="3" name="Shape 1"/>
          <p:cNvSpPr/>
          <p:nvPr/>
        </p:nvSpPr>
        <p:spPr>
          <a:xfrm>
            <a:off x="5120640" y="0"/>
            <a:ext cx="54864" cy="5143500"/>
          </a:xfrm>
          <a:prstGeom prst="rect">
            <a:avLst/>
          </a:prstGeom>
          <a:solidFill>
            <a:srgbClr val="E07B54"/>
          </a:solidFill>
          <a:ln w="12700">
            <a:solidFill>
              <a:srgbClr val="E07B54"/>
            </a:solidFill>
            <a:prstDash val="solid"/>
          </a:ln>
        </p:spPr>
        <p:txBody>
          <a:bodyPr/>
          <a:lstStyle/>
          <a:p>
            <a:endParaRPr lang="hu-HU"/>
          </a:p>
        </p:txBody>
      </p:sp>
      <p:sp>
        <p:nvSpPr>
          <p:cNvPr id="4" name="Shape 2"/>
          <p:cNvSpPr/>
          <p:nvPr/>
        </p:nvSpPr>
        <p:spPr>
          <a:xfrm>
            <a:off x="5852160" y="457200"/>
            <a:ext cx="2560320" cy="2560320"/>
          </a:xfrm>
          <a:prstGeom prst="ellipse">
            <a:avLst/>
          </a:prstGeom>
          <a:solidFill>
            <a:srgbClr val="0F1117"/>
          </a:solidFill>
          <a:ln w="12700">
            <a:solidFill>
              <a:srgbClr val="FFFFFF">
                <a:alpha val="25000"/>
              </a:srgbClr>
            </a:solidFill>
            <a:prstDash val="solid"/>
          </a:ln>
        </p:spPr>
        <p:txBody>
          <a:bodyPr/>
          <a:lstStyle/>
          <a:p>
            <a:endParaRPr lang="hu-HU"/>
          </a:p>
        </p:txBody>
      </p:sp>
      <p:sp>
        <p:nvSpPr>
          <p:cNvPr id="5" name="Shape 3"/>
          <p:cNvSpPr/>
          <p:nvPr/>
        </p:nvSpPr>
        <p:spPr>
          <a:xfrm>
            <a:off x="6400800" y="1005840"/>
            <a:ext cx="1463040" cy="1463040"/>
          </a:xfrm>
          <a:prstGeom prst="ellipse">
            <a:avLst/>
          </a:prstGeom>
          <a:solidFill>
            <a:srgbClr val="E07B54"/>
          </a:solidFill>
          <a:ln w="12700">
            <a:solidFill>
              <a:srgbClr val="E07B54"/>
            </a:solidFill>
            <a:prstDash val="solid"/>
          </a:ln>
        </p:spPr>
        <p:txBody>
          <a:bodyPr/>
          <a:lstStyle/>
          <a:p>
            <a:endParaRPr lang="hu-HU"/>
          </a:p>
        </p:txBody>
      </p:sp>
      <p:sp>
        <p:nvSpPr>
          <p:cNvPr id="6" name="Shape 4"/>
          <p:cNvSpPr/>
          <p:nvPr/>
        </p:nvSpPr>
        <p:spPr>
          <a:xfrm>
            <a:off x="502920" y="1005840"/>
            <a:ext cx="2011680" cy="292608"/>
          </a:xfrm>
          <a:prstGeom prst="rect">
            <a:avLst/>
          </a:prstGeom>
          <a:solidFill>
            <a:srgbClr val="E07B54"/>
          </a:solidFill>
          <a:ln w="12700">
            <a:solidFill>
              <a:srgbClr val="E07B54"/>
            </a:solidFill>
            <a:prstDash val="solid"/>
          </a:ln>
        </p:spPr>
        <p:txBody>
          <a:bodyPr/>
          <a:lstStyle/>
          <a:p>
            <a:endParaRPr lang="hu-HU"/>
          </a:p>
        </p:txBody>
      </p:sp>
      <p:sp>
        <p:nvSpPr>
          <p:cNvPr id="7" name="Text 5"/>
          <p:cNvSpPr/>
          <p:nvPr/>
        </p:nvSpPr>
        <p:spPr>
          <a:xfrm>
            <a:off x="502920" y="1005840"/>
            <a:ext cx="2011680" cy="292608"/>
          </a:xfrm>
          <a:prstGeom prst="rect">
            <a:avLst/>
          </a:prstGeom>
          <a:noFill/>
          <a:ln/>
        </p:spPr>
        <p:txBody>
          <a:bodyPr wrap="square" lIns="0" tIns="0" rIns="0" bIns="0" rtlCol="0" anchor="ctr"/>
          <a:lstStyle/>
          <a:p>
            <a:pPr marL="0" indent="0" algn="ctr">
              <a:buNone/>
            </a:pPr>
            <a:r>
              <a:rPr lang="en-US" sz="900" b="1" kern="0" spc="300" dirty="0">
                <a:solidFill>
                  <a:srgbClr val="FFFFFF"/>
                </a:solidFill>
              </a:rPr>
              <a:t>FINAL PROJECT</a:t>
            </a:r>
            <a:endParaRPr lang="en-US" sz="900" dirty="0"/>
          </a:p>
        </p:txBody>
      </p:sp>
      <p:sp>
        <p:nvSpPr>
          <p:cNvPr id="8" name="Text 6"/>
          <p:cNvSpPr/>
          <p:nvPr/>
        </p:nvSpPr>
        <p:spPr>
          <a:xfrm>
            <a:off x="457200" y="1417320"/>
            <a:ext cx="4572000" cy="1097280"/>
          </a:xfrm>
          <a:prstGeom prst="rect">
            <a:avLst/>
          </a:prstGeom>
          <a:noFill/>
          <a:ln/>
        </p:spPr>
        <p:txBody>
          <a:bodyPr wrap="square" rtlCol="0" anchor="ctr"/>
          <a:lstStyle/>
          <a:p>
            <a:pPr marL="0" indent="0">
              <a:buNone/>
            </a:pPr>
            <a:r>
              <a:rPr lang="en-US" sz="7200" b="1" dirty="0">
                <a:solidFill>
                  <a:srgbClr val="FFFFFF"/>
                </a:solidFill>
                <a:latin typeface="Georgia" pitchFamily="34" charset="0"/>
                <a:ea typeface="Georgia" pitchFamily="34" charset="-122"/>
                <a:cs typeface="Georgia" pitchFamily="34" charset="-120"/>
              </a:rPr>
              <a:t>Interior</a:t>
            </a:r>
            <a:endParaRPr lang="en-US" sz="7200" dirty="0"/>
          </a:p>
        </p:txBody>
      </p:sp>
      <p:sp>
        <p:nvSpPr>
          <p:cNvPr id="9" name="Text 7"/>
          <p:cNvSpPr/>
          <p:nvPr/>
        </p:nvSpPr>
        <p:spPr>
          <a:xfrm>
            <a:off x="457200" y="2377440"/>
            <a:ext cx="4572000" cy="1005840"/>
          </a:xfrm>
          <a:prstGeom prst="rect">
            <a:avLst/>
          </a:prstGeom>
          <a:noFill/>
          <a:ln/>
        </p:spPr>
        <p:txBody>
          <a:bodyPr wrap="square" rtlCol="0" anchor="ctr"/>
          <a:lstStyle/>
          <a:p>
            <a:pPr marL="0" indent="0">
              <a:buNone/>
            </a:pPr>
            <a:r>
              <a:rPr lang="en-US" sz="7200" b="1" dirty="0">
                <a:solidFill>
                  <a:srgbClr val="E07B54"/>
                </a:solidFill>
                <a:latin typeface="Georgia" pitchFamily="34" charset="0"/>
                <a:ea typeface="Georgia" pitchFamily="34" charset="-122"/>
                <a:cs typeface="Georgia" pitchFamily="34" charset="-120"/>
              </a:rPr>
              <a:t>Shop</a:t>
            </a:r>
            <a:endParaRPr lang="en-US" sz="7200" dirty="0"/>
          </a:p>
        </p:txBody>
      </p:sp>
      <p:sp>
        <p:nvSpPr>
          <p:cNvPr id="10" name="Text 8"/>
          <p:cNvSpPr/>
          <p:nvPr/>
        </p:nvSpPr>
        <p:spPr>
          <a:xfrm>
            <a:off x="502920" y="3429000"/>
            <a:ext cx="4572000" cy="822960"/>
          </a:xfrm>
          <a:prstGeom prst="rect">
            <a:avLst/>
          </a:prstGeom>
          <a:noFill/>
          <a:ln/>
        </p:spPr>
        <p:txBody>
          <a:bodyPr wrap="square" rtlCol="0" anchor="ctr"/>
          <a:lstStyle/>
          <a:p>
            <a:pPr marL="0" indent="0">
              <a:lnSpc>
                <a:spcPct val="140000"/>
              </a:lnSpc>
              <a:buNone/>
            </a:pPr>
            <a:r>
              <a:rPr lang="en-US" sz="1400" dirty="0">
                <a:solidFill>
                  <a:srgbClr val="C5CDD8"/>
                </a:solidFill>
              </a:rPr>
              <a:t>A full-stack interior design e-commerce</a:t>
            </a:r>
            <a:endParaRPr lang="en-US" sz="1400" dirty="0"/>
          </a:p>
          <a:p>
            <a:pPr marL="0" indent="0">
              <a:lnSpc>
                <a:spcPct val="140000"/>
              </a:lnSpc>
              <a:buNone/>
            </a:pPr>
            <a:r>
              <a:rPr lang="en-US" sz="1400" dirty="0">
                <a:solidFill>
                  <a:srgbClr val="C5CDD8"/>
                </a:solidFill>
              </a:rPr>
              <a:t>platform built with React &amp; Node.js</a:t>
            </a:r>
            <a:endParaRPr lang="en-US" sz="1400" dirty="0"/>
          </a:p>
        </p:txBody>
      </p:sp>
      <p:sp>
        <p:nvSpPr>
          <p:cNvPr id="11" name="Shape 9"/>
          <p:cNvSpPr/>
          <p:nvPr/>
        </p:nvSpPr>
        <p:spPr>
          <a:xfrm>
            <a:off x="5577840" y="1005840"/>
            <a:ext cx="3108960" cy="594360"/>
          </a:xfrm>
          <a:prstGeom prst="rect">
            <a:avLst/>
          </a:prstGeom>
          <a:solidFill>
            <a:srgbClr val="0F1117">
              <a:alpha val="85000"/>
            </a:srgbClr>
          </a:solidFill>
          <a:ln w="19050">
            <a:solidFill>
              <a:srgbClr val="67E8F9"/>
            </a:solidFill>
            <a:prstDash val="solid"/>
          </a:ln>
        </p:spPr>
        <p:txBody>
          <a:bodyPr/>
          <a:lstStyle/>
          <a:p>
            <a:endParaRPr lang="hu-HU"/>
          </a:p>
        </p:txBody>
      </p:sp>
      <p:sp>
        <p:nvSpPr>
          <p:cNvPr id="12" name="Shape 10"/>
          <p:cNvSpPr/>
          <p:nvPr/>
        </p:nvSpPr>
        <p:spPr>
          <a:xfrm>
            <a:off x="5577840" y="1005840"/>
            <a:ext cx="201168" cy="594360"/>
          </a:xfrm>
          <a:prstGeom prst="rect">
            <a:avLst/>
          </a:prstGeom>
          <a:solidFill>
            <a:srgbClr val="67E8F9"/>
          </a:solidFill>
          <a:ln w="12700">
            <a:solidFill>
              <a:srgbClr val="67E8F9"/>
            </a:solidFill>
            <a:prstDash val="solid"/>
          </a:ln>
        </p:spPr>
        <p:txBody>
          <a:bodyPr/>
          <a:lstStyle/>
          <a:p>
            <a:endParaRPr lang="hu-HU"/>
          </a:p>
        </p:txBody>
      </p:sp>
      <p:sp>
        <p:nvSpPr>
          <p:cNvPr id="13" name="Text 11"/>
          <p:cNvSpPr/>
          <p:nvPr/>
        </p:nvSpPr>
        <p:spPr>
          <a:xfrm>
            <a:off x="5870448" y="1005840"/>
            <a:ext cx="2560320" cy="594360"/>
          </a:xfrm>
          <a:prstGeom prst="rect">
            <a:avLst/>
          </a:prstGeom>
          <a:noFill/>
          <a:ln/>
        </p:spPr>
        <p:txBody>
          <a:bodyPr wrap="square" rtlCol="0" anchor="ctr"/>
          <a:lstStyle/>
          <a:p>
            <a:pPr marL="0" indent="0">
              <a:buNone/>
            </a:pPr>
            <a:r>
              <a:rPr lang="en-US" sz="1400" b="1" dirty="0">
                <a:solidFill>
                  <a:srgbClr val="FFFFFF"/>
                </a:solidFill>
              </a:rPr>
              <a:t>React 19</a:t>
            </a:r>
            <a:endParaRPr lang="en-US" sz="1400" dirty="0"/>
          </a:p>
        </p:txBody>
      </p:sp>
      <p:sp>
        <p:nvSpPr>
          <p:cNvPr id="14" name="Shape 12"/>
          <p:cNvSpPr/>
          <p:nvPr/>
        </p:nvSpPr>
        <p:spPr>
          <a:xfrm>
            <a:off x="5577840" y="1755648"/>
            <a:ext cx="3108960" cy="594360"/>
          </a:xfrm>
          <a:prstGeom prst="rect">
            <a:avLst/>
          </a:prstGeom>
          <a:solidFill>
            <a:srgbClr val="0F1117">
              <a:alpha val="85000"/>
            </a:srgbClr>
          </a:solidFill>
          <a:ln w="19050">
            <a:solidFill>
              <a:srgbClr val="34D399"/>
            </a:solidFill>
            <a:prstDash val="solid"/>
          </a:ln>
        </p:spPr>
        <p:txBody>
          <a:bodyPr/>
          <a:lstStyle/>
          <a:p>
            <a:endParaRPr lang="hu-HU"/>
          </a:p>
        </p:txBody>
      </p:sp>
      <p:sp>
        <p:nvSpPr>
          <p:cNvPr id="15" name="Shape 13"/>
          <p:cNvSpPr/>
          <p:nvPr/>
        </p:nvSpPr>
        <p:spPr>
          <a:xfrm>
            <a:off x="5577840" y="1755648"/>
            <a:ext cx="201168" cy="594360"/>
          </a:xfrm>
          <a:prstGeom prst="rect">
            <a:avLst/>
          </a:prstGeom>
          <a:solidFill>
            <a:srgbClr val="34D399"/>
          </a:solidFill>
          <a:ln w="12700">
            <a:solidFill>
              <a:srgbClr val="34D399"/>
            </a:solidFill>
            <a:prstDash val="solid"/>
          </a:ln>
        </p:spPr>
        <p:txBody>
          <a:bodyPr/>
          <a:lstStyle/>
          <a:p>
            <a:endParaRPr lang="hu-HU"/>
          </a:p>
        </p:txBody>
      </p:sp>
      <p:sp>
        <p:nvSpPr>
          <p:cNvPr id="16" name="Text 14"/>
          <p:cNvSpPr/>
          <p:nvPr/>
        </p:nvSpPr>
        <p:spPr>
          <a:xfrm>
            <a:off x="5870448" y="1755648"/>
            <a:ext cx="2560320" cy="594360"/>
          </a:xfrm>
          <a:prstGeom prst="rect">
            <a:avLst/>
          </a:prstGeom>
          <a:noFill/>
          <a:ln/>
        </p:spPr>
        <p:txBody>
          <a:bodyPr wrap="square" rtlCol="0" anchor="ctr"/>
          <a:lstStyle/>
          <a:p>
            <a:pPr marL="0" indent="0">
              <a:buNone/>
            </a:pPr>
            <a:r>
              <a:rPr lang="en-US" sz="1400" b="1" dirty="0">
                <a:solidFill>
                  <a:srgbClr val="FFFFFF"/>
                </a:solidFill>
              </a:rPr>
              <a:t>Node.js</a:t>
            </a:r>
            <a:endParaRPr lang="en-US" sz="1400" dirty="0"/>
          </a:p>
        </p:txBody>
      </p:sp>
      <p:sp>
        <p:nvSpPr>
          <p:cNvPr id="17" name="Shape 15"/>
          <p:cNvSpPr/>
          <p:nvPr/>
        </p:nvSpPr>
        <p:spPr>
          <a:xfrm>
            <a:off x="5577840" y="2505456"/>
            <a:ext cx="3108960" cy="594360"/>
          </a:xfrm>
          <a:prstGeom prst="rect">
            <a:avLst/>
          </a:prstGeom>
          <a:solidFill>
            <a:srgbClr val="0F1117">
              <a:alpha val="85000"/>
            </a:srgbClr>
          </a:solidFill>
          <a:ln w="19050">
            <a:solidFill>
              <a:srgbClr val="F5C842"/>
            </a:solidFill>
            <a:prstDash val="solid"/>
          </a:ln>
        </p:spPr>
        <p:txBody>
          <a:bodyPr/>
          <a:lstStyle/>
          <a:p>
            <a:endParaRPr lang="hu-HU"/>
          </a:p>
        </p:txBody>
      </p:sp>
      <p:sp>
        <p:nvSpPr>
          <p:cNvPr id="18" name="Shape 16"/>
          <p:cNvSpPr/>
          <p:nvPr/>
        </p:nvSpPr>
        <p:spPr>
          <a:xfrm>
            <a:off x="5577840" y="2505456"/>
            <a:ext cx="201168" cy="594360"/>
          </a:xfrm>
          <a:prstGeom prst="rect">
            <a:avLst/>
          </a:prstGeom>
          <a:solidFill>
            <a:srgbClr val="F5C842"/>
          </a:solidFill>
          <a:ln w="12700">
            <a:solidFill>
              <a:srgbClr val="F5C842"/>
            </a:solidFill>
            <a:prstDash val="solid"/>
          </a:ln>
        </p:spPr>
        <p:txBody>
          <a:bodyPr/>
          <a:lstStyle/>
          <a:p>
            <a:endParaRPr lang="hu-HU"/>
          </a:p>
        </p:txBody>
      </p:sp>
      <p:sp>
        <p:nvSpPr>
          <p:cNvPr id="19" name="Text 17"/>
          <p:cNvSpPr/>
          <p:nvPr/>
        </p:nvSpPr>
        <p:spPr>
          <a:xfrm>
            <a:off x="5870448" y="2505456"/>
            <a:ext cx="2560320" cy="594360"/>
          </a:xfrm>
          <a:prstGeom prst="rect">
            <a:avLst/>
          </a:prstGeom>
          <a:noFill/>
          <a:ln/>
        </p:spPr>
        <p:txBody>
          <a:bodyPr wrap="square" rtlCol="0" anchor="ctr"/>
          <a:lstStyle/>
          <a:p>
            <a:pPr marL="0" indent="0">
              <a:buNone/>
            </a:pPr>
            <a:r>
              <a:rPr lang="en-US" sz="1400" b="1" dirty="0">
                <a:solidFill>
                  <a:srgbClr val="FFFFFF"/>
                </a:solidFill>
              </a:rPr>
              <a:t>MySQL</a:t>
            </a:r>
            <a:endParaRPr lang="en-US" sz="1400" dirty="0"/>
          </a:p>
        </p:txBody>
      </p:sp>
      <p:sp>
        <p:nvSpPr>
          <p:cNvPr id="20" name="Shape 18"/>
          <p:cNvSpPr/>
          <p:nvPr/>
        </p:nvSpPr>
        <p:spPr>
          <a:xfrm>
            <a:off x="5577840" y="3255264"/>
            <a:ext cx="3108960" cy="594360"/>
          </a:xfrm>
          <a:prstGeom prst="rect">
            <a:avLst/>
          </a:prstGeom>
          <a:solidFill>
            <a:srgbClr val="0F1117">
              <a:alpha val="85000"/>
            </a:srgbClr>
          </a:solidFill>
          <a:ln w="19050">
            <a:solidFill>
              <a:srgbClr val="A78BFA"/>
            </a:solidFill>
            <a:prstDash val="solid"/>
          </a:ln>
        </p:spPr>
        <p:txBody>
          <a:bodyPr/>
          <a:lstStyle/>
          <a:p>
            <a:endParaRPr lang="hu-HU"/>
          </a:p>
        </p:txBody>
      </p:sp>
      <p:sp>
        <p:nvSpPr>
          <p:cNvPr id="21" name="Shape 19"/>
          <p:cNvSpPr/>
          <p:nvPr/>
        </p:nvSpPr>
        <p:spPr>
          <a:xfrm>
            <a:off x="5577840" y="3255264"/>
            <a:ext cx="201168" cy="594360"/>
          </a:xfrm>
          <a:prstGeom prst="rect">
            <a:avLst/>
          </a:prstGeom>
          <a:solidFill>
            <a:srgbClr val="A78BFA"/>
          </a:solidFill>
          <a:ln w="12700">
            <a:solidFill>
              <a:srgbClr val="A78BFA"/>
            </a:solidFill>
            <a:prstDash val="solid"/>
          </a:ln>
        </p:spPr>
        <p:txBody>
          <a:bodyPr/>
          <a:lstStyle/>
          <a:p>
            <a:endParaRPr lang="hu-HU"/>
          </a:p>
        </p:txBody>
      </p:sp>
      <p:sp>
        <p:nvSpPr>
          <p:cNvPr id="22" name="Text 20"/>
          <p:cNvSpPr/>
          <p:nvPr/>
        </p:nvSpPr>
        <p:spPr>
          <a:xfrm>
            <a:off x="5870448" y="3255264"/>
            <a:ext cx="2560320" cy="594360"/>
          </a:xfrm>
          <a:prstGeom prst="rect">
            <a:avLst/>
          </a:prstGeom>
          <a:noFill/>
          <a:ln/>
        </p:spPr>
        <p:txBody>
          <a:bodyPr wrap="square" rtlCol="0" anchor="ctr"/>
          <a:lstStyle/>
          <a:p>
            <a:pPr marL="0" indent="0">
              <a:buNone/>
            </a:pPr>
            <a:r>
              <a:rPr lang="en-US" sz="1400" b="1" dirty="0">
                <a:solidFill>
                  <a:srgbClr val="FFFFFF"/>
                </a:solidFill>
              </a:rPr>
              <a:t>JWT Auth</a:t>
            </a:r>
            <a:endParaRPr lang="en-US" sz="1400" dirty="0"/>
          </a:p>
        </p:txBody>
      </p:sp>
      <p:sp>
        <p:nvSpPr>
          <p:cNvPr id="23" name="Shape 21"/>
          <p:cNvSpPr/>
          <p:nvPr/>
        </p:nvSpPr>
        <p:spPr>
          <a:xfrm>
            <a:off x="5577840" y="4005072"/>
            <a:ext cx="3108960" cy="594360"/>
          </a:xfrm>
          <a:prstGeom prst="rect">
            <a:avLst/>
          </a:prstGeom>
          <a:solidFill>
            <a:srgbClr val="0F1117">
              <a:alpha val="85000"/>
            </a:srgbClr>
          </a:solidFill>
          <a:ln w="19050">
            <a:solidFill>
              <a:srgbClr val="4ECDC4"/>
            </a:solidFill>
            <a:prstDash val="solid"/>
          </a:ln>
        </p:spPr>
        <p:txBody>
          <a:bodyPr/>
          <a:lstStyle/>
          <a:p>
            <a:endParaRPr lang="hu-HU"/>
          </a:p>
        </p:txBody>
      </p:sp>
      <p:sp>
        <p:nvSpPr>
          <p:cNvPr id="24" name="Shape 22"/>
          <p:cNvSpPr/>
          <p:nvPr/>
        </p:nvSpPr>
        <p:spPr>
          <a:xfrm>
            <a:off x="5577840" y="4005072"/>
            <a:ext cx="201168" cy="594360"/>
          </a:xfrm>
          <a:prstGeom prst="rect">
            <a:avLst/>
          </a:prstGeom>
          <a:solidFill>
            <a:srgbClr val="4ECDC4"/>
          </a:solidFill>
          <a:ln w="12700">
            <a:solidFill>
              <a:srgbClr val="4ECDC4"/>
            </a:solidFill>
            <a:prstDash val="solid"/>
          </a:ln>
        </p:spPr>
        <p:txBody>
          <a:bodyPr/>
          <a:lstStyle/>
          <a:p>
            <a:endParaRPr lang="hu-HU"/>
          </a:p>
        </p:txBody>
      </p:sp>
      <p:sp>
        <p:nvSpPr>
          <p:cNvPr id="25" name="Text 23"/>
          <p:cNvSpPr/>
          <p:nvPr/>
        </p:nvSpPr>
        <p:spPr>
          <a:xfrm>
            <a:off x="5870448" y="4005072"/>
            <a:ext cx="2560320" cy="594360"/>
          </a:xfrm>
          <a:prstGeom prst="rect">
            <a:avLst/>
          </a:prstGeom>
          <a:noFill/>
          <a:ln/>
        </p:spPr>
        <p:txBody>
          <a:bodyPr wrap="square" rtlCol="0" anchor="ctr"/>
          <a:lstStyle/>
          <a:p>
            <a:pPr marL="0" indent="0">
              <a:buNone/>
            </a:pPr>
            <a:r>
              <a:rPr lang="en-US" sz="1400" b="1" dirty="0">
                <a:solidFill>
                  <a:srgbClr val="FFFFFF"/>
                </a:solidFill>
              </a:rPr>
              <a:t>Vite</a:t>
            </a:r>
            <a:endParaRPr lang="en-US" sz="1400" dirty="0"/>
          </a:p>
        </p:txBody>
      </p:sp>
      <p:sp>
        <p:nvSpPr>
          <p:cNvPr id="26" name="Shape 24"/>
          <p:cNvSpPr/>
          <p:nvPr/>
        </p:nvSpPr>
        <p:spPr>
          <a:xfrm>
            <a:off x="0" y="4754880"/>
            <a:ext cx="5029200" cy="388620"/>
          </a:xfrm>
          <a:prstGeom prst="rect">
            <a:avLst/>
          </a:prstGeom>
          <a:solidFill>
            <a:srgbClr val="1A1D2E"/>
          </a:solidFill>
          <a:ln w="12700">
            <a:solidFill>
              <a:srgbClr val="1A1D2E"/>
            </a:solidFill>
            <a:prstDash val="solid"/>
          </a:ln>
        </p:spPr>
        <p:txBody>
          <a:bodyPr/>
          <a:lstStyle/>
          <a:p>
            <a:endParaRPr lang="hu-HU"/>
          </a:p>
        </p:txBody>
      </p:sp>
      <p:sp>
        <p:nvSpPr>
          <p:cNvPr id="27" name="Text 25"/>
          <p:cNvSpPr/>
          <p:nvPr/>
        </p:nvSpPr>
        <p:spPr>
          <a:xfrm>
            <a:off x="274320" y="4754880"/>
            <a:ext cx="4754880" cy="388620"/>
          </a:xfrm>
          <a:prstGeom prst="rect">
            <a:avLst/>
          </a:prstGeom>
          <a:noFill/>
          <a:ln/>
        </p:spPr>
        <p:txBody>
          <a:bodyPr wrap="square" rtlCol="0" anchor="ctr"/>
          <a:lstStyle/>
          <a:p>
            <a:pPr marL="0" indent="0">
              <a:buNone/>
            </a:pPr>
            <a:r>
              <a:rPr lang="en-US" sz="1000" dirty="0">
                <a:solidFill>
                  <a:srgbClr val="8892A4"/>
                </a:solidFill>
              </a:rPr>
              <a:t>🏠  Interior Design  ·  Webshop  ·  Admin Panel  ·  REST API</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117"/>
        </a:solidFill>
        <a:effectLst/>
      </p:bgPr>
    </p:bg>
    <p:spTree>
      <p:nvGrpSpPr>
        <p:cNvPr id="1" name=""/>
        <p:cNvGrpSpPr/>
        <p:nvPr/>
      </p:nvGrpSpPr>
      <p:grpSpPr>
        <a:xfrm>
          <a:off x="0" y="0"/>
          <a:ext cx="0" cy="0"/>
          <a:chOff x="0" y="0"/>
          <a:chExt cx="0" cy="0"/>
        </a:xfrm>
      </p:grpSpPr>
      <p:sp>
        <p:nvSpPr>
          <p:cNvPr id="2" name="Shape 0"/>
          <p:cNvSpPr/>
          <p:nvPr/>
        </p:nvSpPr>
        <p:spPr>
          <a:xfrm>
            <a:off x="0" y="0"/>
            <a:ext cx="9144000" cy="1078992"/>
          </a:xfrm>
          <a:prstGeom prst="rect">
            <a:avLst/>
          </a:prstGeom>
          <a:solidFill>
            <a:srgbClr val="1A1D2E"/>
          </a:solidFill>
          <a:ln w="12700">
            <a:solidFill>
              <a:srgbClr val="1A1D2E"/>
            </a:solidFill>
            <a:prstDash val="solid"/>
          </a:ln>
        </p:spPr>
        <p:txBody>
          <a:bodyPr/>
          <a:lstStyle/>
          <a:p>
            <a:endParaRPr lang="hu-HU"/>
          </a:p>
        </p:txBody>
      </p:sp>
      <p:sp>
        <p:nvSpPr>
          <p:cNvPr id="3" name="Shape 1"/>
          <p:cNvSpPr/>
          <p:nvPr/>
        </p:nvSpPr>
        <p:spPr>
          <a:xfrm>
            <a:off x="0" y="1078992"/>
            <a:ext cx="9144000" cy="36576"/>
          </a:xfrm>
          <a:prstGeom prst="rect">
            <a:avLst/>
          </a:prstGeom>
          <a:solidFill>
            <a:srgbClr val="E07B54"/>
          </a:solidFill>
          <a:ln w="12700">
            <a:solidFill>
              <a:srgbClr val="E07B54"/>
            </a:solidFill>
            <a:prstDash val="solid"/>
          </a:ln>
        </p:spPr>
        <p:txBody>
          <a:bodyPr/>
          <a:lstStyle/>
          <a:p>
            <a:endParaRPr lang="hu-HU"/>
          </a:p>
        </p:txBody>
      </p:sp>
      <p:sp>
        <p:nvSpPr>
          <p:cNvPr id="4" name="Text 2"/>
          <p:cNvSpPr/>
          <p:nvPr/>
        </p:nvSpPr>
        <p:spPr>
          <a:xfrm>
            <a:off x="502920" y="73152"/>
            <a:ext cx="6400800" cy="640080"/>
          </a:xfrm>
          <a:prstGeom prst="rect">
            <a:avLst/>
          </a:prstGeom>
          <a:noFill/>
          <a:ln/>
        </p:spPr>
        <p:txBody>
          <a:bodyPr wrap="square" rtlCol="0" anchor="ctr"/>
          <a:lstStyle/>
          <a:p>
            <a:pPr marL="0" indent="0">
              <a:buNone/>
            </a:pPr>
            <a:r>
              <a:rPr lang="en-US" sz="3200" b="1" dirty="0">
                <a:solidFill>
                  <a:srgbClr val="FFFFFF"/>
                </a:solidFill>
                <a:latin typeface="Georgia" pitchFamily="34" charset="0"/>
                <a:ea typeface="Georgia" pitchFamily="34" charset="-122"/>
                <a:cs typeface="Georgia" pitchFamily="34" charset="-120"/>
              </a:rPr>
              <a:t>Project Overview</a:t>
            </a:r>
            <a:endParaRPr lang="en-US" sz="3200" dirty="0"/>
          </a:p>
        </p:txBody>
      </p:sp>
      <p:sp>
        <p:nvSpPr>
          <p:cNvPr id="5" name="Text 3"/>
          <p:cNvSpPr/>
          <p:nvPr/>
        </p:nvSpPr>
        <p:spPr>
          <a:xfrm>
            <a:off x="502920" y="713232"/>
            <a:ext cx="7772400" cy="329184"/>
          </a:xfrm>
          <a:prstGeom prst="rect">
            <a:avLst/>
          </a:prstGeom>
          <a:noFill/>
          <a:ln/>
        </p:spPr>
        <p:txBody>
          <a:bodyPr wrap="square" rtlCol="0" anchor="ctr"/>
          <a:lstStyle/>
          <a:p>
            <a:pPr marL="0" indent="0">
              <a:buNone/>
            </a:pPr>
            <a:r>
              <a:rPr lang="en-US" sz="1300" dirty="0">
                <a:solidFill>
                  <a:srgbClr val="8892A4"/>
                </a:solidFill>
              </a:rPr>
              <a:t>What InteriorShop does at a glance</a:t>
            </a:r>
            <a:endParaRPr lang="en-US" sz="1300" dirty="0"/>
          </a:p>
        </p:txBody>
      </p:sp>
      <p:sp>
        <p:nvSpPr>
          <p:cNvPr id="6" name="Shape 4"/>
          <p:cNvSpPr/>
          <p:nvPr/>
        </p:nvSpPr>
        <p:spPr>
          <a:xfrm>
            <a:off x="292608" y="1325880"/>
            <a:ext cx="2743200" cy="1600200"/>
          </a:xfrm>
          <a:prstGeom prst="rect">
            <a:avLst/>
          </a:prstGeom>
          <a:solidFill>
            <a:srgbClr val="1A1D2E"/>
          </a:solidFill>
          <a:ln w="15240">
            <a:solidFill>
              <a:srgbClr val="E07B54"/>
            </a:solidFill>
            <a:prstDash val="solid"/>
          </a:ln>
          <a:effectLst>
            <a:outerShdw blurRad="127000" dist="50800" dir="8100000" algn="bl" rotWithShape="0">
              <a:srgbClr val="000000">
                <a:alpha val="35000"/>
              </a:srgbClr>
            </a:outerShdw>
          </a:effectLst>
        </p:spPr>
        <p:txBody>
          <a:bodyPr/>
          <a:lstStyle/>
          <a:p>
            <a:endParaRPr lang="hu-HU"/>
          </a:p>
        </p:txBody>
      </p:sp>
      <p:sp>
        <p:nvSpPr>
          <p:cNvPr id="7" name="Shape 5"/>
          <p:cNvSpPr/>
          <p:nvPr/>
        </p:nvSpPr>
        <p:spPr>
          <a:xfrm>
            <a:off x="292608" y="1325880"/>
            <a:ext cx="2743200" cy="64008"/>
          </a:xfrm>
          <a:prstGeom prst="rect">
            <a:avLst/>
          </a:prstGeom>
          <a:solidFill>
            <a:srgbClr val="E07B54"/>
          </a:solidFill>
          <a:ln w="12700">
            <a:solidFill>
              <a:srgbClr val="E07B54"/>
            </a:solidFill>
            <a:prstDash val="solid"/>
          </a:ln>
        </p:spPr>
        <p:txBody>
          <a:bodyPr/>
          <a:lstStyle/>
          <a:p>
            <a:endParaRPr lang="hu-HU"/>
          </a:p>
        </p:txBody>
      </p:sp>
      <p:sp>
        <p:nvSpPr>
          <p:cNvPr id="8" name="Text 6"/>
          <p:cNvSpPr/>
          <p:nvPr/>
        </p:nvSpPr>
        <p:spPr>
          <a:xfrm>
            <a:off x="365760" y="1508760"/>
            <a:ext cx="731520" cy="731520"/>
          </a:xfrm>
          <a:prstGeom prst="rect">
            <a:avLst/>
          </a:prstGeom>
          <a:noFill/>
          <a:ln/>
        </p:spPr>
        <p:txBody>
          <a:bodyPr wrap="square" rtlCol="0" anchor="ctr"/>
          <a:lstStyle/>
          <a:p>
            <a:pPr marL="0" indent="0" algn="ctr">
              <a:buNone/>
            </a:pPr>
            <a:r>
              <a:rPr lang="en-US" sz="2800" dirty="0">
                <a:solidFill>
                  <a:schemeClr val="bg1"/>
                </a:solidFill>
              </a:rPr>
              <a:t>🛍️</a:t>
            </a:r>
          </a:p>
        </p:txBody>
      </p:sp>
      <p:sp>
        <p:nvSpPr>
          <p:cNvPr id="9" name="Text 7"/>
          <p:cNvSpPr/>
          <p:nvPr/>
        </p:nvSpPr>
        <p:spPr>
          <a:xfrm>
            <a:off x="1115568" y="1490472"/>
            <a:ext cx="1783080" cy="384048"/>
          </a:xfrm>
          <a:prstGeom prst="rect">
            <a:avLst/>
          </a:prstGeom>
          <a:noFill/>
          <a:ln/>
        </p:spPr>
        <p:txBody>
          <a:bodyPr wrap="square" rtlCol="0" anchor="ctr"/>
          <a:lstStyle/>
          <a:p>
            <a:pPr marL="0" indent="0">
              <a:buNone/>
            </a:pPr>
            <a:r>
              <a:rPr lang="en-US" sz="1400" b="1" dirty="0">
                <a:solidFill>
                  <a:srgbClr val="FFFFFF"/>
                </a:solidFill>
              </a:rPr>
              <a:t>Browse &amp; Buy</a:t>
            </a:r>
            <a:endParaRPr lang="en-US" sz="1400" dirty="0"/>
          </a:p>
        </p:txBody>
      </p:sp>
      <p:sp>
        <p:nvSpPr>
          <p:cNvPr id="10" name="Text 8"/>
          <p:cNvSpPr/>
          <p:nvPr/>
        </p:nvSpPr>
        <p:spPr>
          <a:xfrm>
            <a:off x="1115568" y="1874520"/>
            <a:ext cx="1783080" cy="822960"/>
          </a:xfrm>
          <a:prstGeom prst="rect">
            <a:avLst/>
          </a:prstGeom>
          <a:noFill/>
          <a:ln/>
        </p:spPr>
        <p:txBody>
          <a:bodyPr wrap="square" rtlCol="0" anchor="ctr"/>
          <a:lstStyle/>
          <a:p>
            <a:pPr marL="0" indent="0">
              <a:lnSpc>
                <a:spcPct val="130000"/>
              </a:lnSpc>
              <a:buNone/>
            </a:pPr>
            <a:r>
              <a:rPr lang="en-US" sz="1100" dirty="0">
                <a:solidFill>
                  <a:srgbClr val="8892A4"/>
                </a:solidFill>
              </a:rPr>
              <a:t>Product catalog with categories, search &amp; filters</a:t>
            </a:r>
            <a:endParaRPr lang="en-US" sz="1100" dirty="0"/>
          </a:p>
        </p:txBody>
      </p:sp>
      <p:sp>
        <p:nvSpPr>
          <p:cNvPr id="11" name="Shape 9"/>
          <p:cNvSpPr/>
          <p:nvPr/>
        </p:nvSpPr>
        <p:spPr>
          <a:xfrm>
            <a:off x="3218688" y="1325880"/>
            <a:ext cx="2743200" cy="1600200"/>
          </a:xfrm>
          <a:prstGeom prst="rect">
            <a:avLst/>
          </a:prstGeom>
          <a:solidFill>
            <a:srgbClr val="1A1D2E"/>
          </a:solidFill>
          <a:ln w="15240">
            <a:solidFill>
              <a:srgbClr val="A78BFA"/>
            </a:solidFill>
            <a:prstDash val="solid"/>
          </a:ln>
          <a:effectLst>
            <a:outerShdw blurRad="127000" dist="50800" dir="8100000" algn="bl" rotWithShape="0">
              <a:srgbClr val="000000">
                <a:alpha val="35000"/>
              </a:srgbClr>
            </a:outerShdw>
          </a:effectLst>
        </p:spPr>
        <p:txBody>
          <a:bodyPr/>
          <a:lstStyle/>
          <a:p>
            <a:endParaRPr lang="hu-HU"/>
          </a:p>
        </p:txBody>
      </p:sp>
      <p:sp>
        <p:nvSpPr>
          <p:cNvPr id="12" name="Shape 10"/>
          <p:cNvSpPr/>
          <p:nvPr/>
        </p:nvSpPr>
        <p:spPr>
          <a:xfrm>
            <a:off x="3218688" y="1325880"/>
            <a:ext cx="2743200" cy="64008"/>
          </a:xfrm>
          <a:prstGeom prst="rect">
            <a:avLst/>
          </a:prstGeom>
          <a:solidFill>
            <a:srgbClr val="A78BFA"/>
          </a:solidFill>
          <a:ln w="12700">
            <a:solidFill>
              <a:srgbClr val="A78BFA"/>
            </a:solidFill>
            <a:prstDash val="solid"/>
          </a:ln>
        </p:spPr>
        <p:txBody>
          <a:bodyPr/>
          <a:lstStyle/>
          <a:p>
            <a:endParaRPr lang="hu-HU"/>
          </a:p>
        </p:txBody>
      </p:sp>
      <p:sp>
        <p:nvSpPr>
          <p:cNvPr id="13" name="Text 11"/>
          <p:cNvSpPr/>
          <p:nvPr/>
        </p:nvSpPr>
        <p:spPr>
          <a:xfrm>
            <a:off x="3291840" y="1508760"/>
            <a:ext cx="731520" cy="731520"/>
          </a:xfrm>
          <a:prstGeom prst="rect">
            <a:avLst/>
          </a:prstGeom>
          <a:noFill/>
          <a:ln/>
        </p:spPr>
        <p:txBody>
          <a:bodyPr wrap="square" rtlCol="0" anchor="ctr"/>
          <a:lstStyle/>
          <a:p>
            <a:pPr marL="0" indent="0" algn="ctr">
              <a:buNone/>
            </a:pPr>
            <a:r>
              <a:rPr lang="en-US" sz="2800" dirty="0">
                <a:solidFill>
                  <a:schemeClr val="bg1"/>
                </a:solidFill>
              </a:rPr>
              <a:t>🔐</a:t>
            </a:r>
          </a:p>
        </p:txBody>
      </p:sp>
      <p:sp>
        <p:nvSpPr>
          <p:cNvPr id="14" name="Text 12"/>
          <p:cNvSpPr/>
          <p:nvPr/>
        </p:nvSpPr>
        <p:spPr>
          <a:xfrm>
            <a:off x="4041648" y="1490472"/>
            <a:ext cx="1783080" cy="384048"/>
          </a:xfrm>
          <a:prstGeom prst="rect">
            <a:avLst/>
          </a:prstGeom>
          <a:noFill/>
          <a:ln/>
        </p:spPr>
        <p:txBody>
          <a:bodyPr wrap="square" rtlCol="0" anchor="ctr"/>
          <a:lstStyle/>
          <a:p>
            <a:pPr marL="0" indent="0">
              <a:buNone/>
            </a:pPr>
            <a:r>
              <a:rPr lang="en-US" sz="1400" b="1" dirty="0">
                <a:solidFill>
                  <a:srgbClr val="FFFFFF"/>
                </a:solidFill>
              </a:rPr>
              <a:t>Secure Auth</a:t>
            </a:r>
            <a:endParaRPr lang="en-US" sz="1400" dirty="0"/>
          </a:p>
        </p:txBody>
      </p:sp>
      <p:sp>
        <p:nvSpPr>
          <p:cNvPr id="15" name="Text 13"/>
          <p:cNvSpPr/>
          <p:nvPr/>
        </p:nvSpPr>
        <p:spPr>
          <a:xfrm>
            <a:off x="4041648" y="1874520"/>
            <a:ext cx="1783080" cy="822960"/>
          </a:xfrm>
          <a:prstGeom prst="rect">
            <a:avLst/>
          </a:prstGeom>
          <a:noFill/>
          <a:ln/>
        </p:spPr>
        <p:txBody>
          <a:bodyPr wrap="square" rtlCol="0" anchor="ctr"/>
          <a:lstStyle/>
          <a:p>
            <a:pPr marL="0" indent="0">
              <a:lnSpc>
                <a:spcPct val="130000"/>
              </a:lnSpc>
              <a:buNone/>
            </a:pPr>
            <a:r>
              <a:rPr lang="en-US" sz="1100" dirty="0">
                <a:solidFill>
                  <a:srgbClr val="8892A4"/>
                </a:solidFill>
              </a:rPr>
              <a:t>JWT-based login &amp; registration system</a:t>
            </a:r>
            <a:endParaRPr lang="en-US" sz="1100" dirty="0"/>
          </a:p>
        </p:txBody>
      </p:sp>
      <p:sp>
        <p:nvSpPr>
          <p:cNvPr id="16" name="Shape 14"/>
          <p:cNvSpPr/>
          <p:nvPr/>
        </p:nvSpPr>
        <p:spPr>
          <a:xfrm>
            <a:off x="6144768" y="1325880"/>
            <a:ext cx="2743200" cy="1600200"/>
          </a:xfrm>
          <a:prstGeom prst="rect">
            <a:avLst/>
          </a:prstGeom>
          <a:solidFill>
            <a:srgbClr val="1A1D2E"/>
          </a:solidFill>
          <a:ln w="15240">
            <a:solidFill>
              <a:srgbClr val="4ECDC4"/>
            </a:solidFill>
            <a:prstDash val="solid"/>
          </a:ln>
          <a:effectLst>
            <a:outerShdw blurRad="127000" dist="50800" dir="8100000" algn="bl" rotWithShape="0">
              <a:srgbClr val="000000">
                <a:alpha val="35000"/>
              </a:srgbClr>
            </a:outerShdw>
          </a:effectLst>
        </p:spPr>
        <p:txBody>
          <a:bodyPr/>
          <a:lstStyle/>
          <a:p>
            <a:endParaRPr lang="hu-HU"/>
          </a:p>
        </p:txBody>
      </p:sp>
      <p:sp>
        <p:nvSpPr>
          <p:cNvPr id="17" name="Shape 15"/>
          <p:cNvSpPr/>
          <p:nvPr/>
        </p:nvSpPr>
        <p:spPr>
          <a:xfrm>
            <a:off x="6144768" y="1325880"/>
            <a:ext cx="2743200" cy="64008"/>
          </a:xfrm>
          <a:prstGeom prst="rect">
            <a:avLst/>
          </a:prstGeom>
          <a:solidFill>
            <a:srgbClr val="4ECDC4"/>
          </a:solidFill>
          <a:ln w="12700">
            <a:solidFill>
              <a:srgbClr val="4ECDC4"/>
            </a:solidFill>
            <a:prstDash val="solid"/>
          </a:ln>
        </p:spPr>
        <p:txBody>
          <a:bodyPr/>
          <a:lstStyle/>
          <a:p>
            <a:endParaRPr lang="hu-HU"/>
          </a:p>
        </p:txBody>
      </p:sp>
      <p:sp>
        <p:nvSpPr>
          <p:cNvPr id="18" name="Text 16"/>
          <p:cNvSpPr/>
          <p:nvPr/>
        </p:nvSpPr>
        <p:spPr>
          <a:xfrm>
            <a:off x="6217920" y="1508760"/>
            <a:ext cx="731520" cy="731520"/>
          </a:xfrm>
          <a:prstGeom prst="rect">
            <a:avLst/>
          </a:prstGeom>
          <a:noFill/>
          <a:ln/>
        </p:spPr>
        <p:txBody>
          <a:bodyPr wrap="square" rtlCol="0" anchor="ctr"/>
          <a:lstStyle/>
          <a:p>
            <a:pPr marL="0" indent="0" algn="ctr">
              <a:buNone/>
            </a:pPr>
            <a:r>
              <a:rPr lang="en-US" sz="2800" dirty="0">
                <a:solidFill>
                  <a:schemeClr val="bg1"/>
                </a:solidFill>
              </a:rPr>
              <a:t>🛒</a:t>
            </a:r>
          </a:p>
        </p:txBody>
      </p:sp>
      <p:sp>
        <p:nvSpPr>
          <p:cNvPr id="19" name="Text 17"/>
          <p:cNvSpPr/>
          <p:nvPr/>
        </p:nvSpPr>
        <p:spPr>
          <a:xfrm>
            <a:off x="6967728" y="1490472"/>
            <a:ext cx="1783080" cy="384048"/>
          </a:xfrm>
          <a:prstGeom prst="rect">
            <a:avLst/>
          </a:prstGeom>
          <a:noFill/>
          <a:ln/>
        </p:spPr>
        <p:txBody>
          <a:bodyPr wrap="square" rtlCol="0" anchor="ctr"/>
          <a:lstStyle/>
          <a:p>
            <a:pPr marL="0" indent="0">
              <a:buNone/>
            </a:pPr>
            <a:r>
              <a:rPr lang="en-US" sz="1400" b="1" dirty="0">
                <a:solidFill>
                  <a:srgbClr val="FFFFFF"/>
                </a:solidFill>
              </a:rPr>
              <a:t>Live Cart</a:t>
            </a:r>
            <a:endParaRPr lang="en-US" sz="1400" dirty="0"/>
          </a:p>
        </p:txBody>
      </p:sp>
      <p:sp>
        <p:nvSpPr>
          <p:cNvPr id="20" name="Text 18"/>
          <p:cNvSpPr/>
          <p:nvPr/>
        </p:nvSpPr>
        <p:spPr>
          <a:xfrm>
            <a:off x="6967728" y="1874520"/>
            <a:ext cx="1783080" cy="822960"/>
          </a:xfrm>
          <a:prstGeom prst="rect">
            <a:avLst/>
          </a:prstGeom>
          <a:noFill/>
          <a:ln/>
        </p:spPr>
        <p:txBody>
          <a:bodyPr wrap="square" rtlCol="0" anchor="ctr"/>
          <a:lstStyle/>
          <a:p>
            <a:pPr marL="0" indent="0">
              <a:lnSpc>
                <a:spcPct val="130000"/>
              </a:lnSpc>
              <a:buNone/>
            </a:pPr>
            <a:r>
              <a:rPr lang="en-US" sz="1100" dirty="0">
                <a:solidFill>
                  <a:srgbClr val="8892A4"/>
                </a:solidFill>
              </a:rPr>
              <a:t>Database-backed cart — persists across sessions</a:t>
            </a:r>
            <a:endParaRPr lang="en-US" sz="1100" dirty="0"/>
          </a:p>
        </p:txBody>
      </p:sp>
      <p:sp>
        <p:nvSpPr>
          <p:cNvPr id="21" name="Shape 19"/>
          <p:cNvSpPr/>
          <p:nvPr/>
        </p:nvSpPr>
        <p:spPr>
          <a:xfrm>
            <a:off x="292608" y="3081528"/>
            <a:ext cx="2743200" cy="1600200"/>
          </a:xfrm>
          <a:prstGeom prst="rect">
            <a:avLst/>
          </a:prstGeom>
          <a:solidFill>
            <a:srgbClr val="1A1D2E"/>
          </a:solidFill>
          <a:ln w="15240">
            <a:solidFill>
              <a:srgbClr val="F5C842"/>
            </a:solidFill>
            <a:prstDash val="solid"/>
          </a:ln>
          <a:effectLst>
            <a:outerShdw blurRad="127000" dist="50800" dir="8100000" algn="bl" rotWithShape="0">
              <a:srgbClr val="000000">
                <a:alpha val="35000"/>
              </a:srgbClr>
            </a:outerShdw>
          </a:effectLst>
        </p:spPr>
        <p:txBody>
          <a:bodyPr/>
          <a:lstStyle/>
          <a:p>
            <a:endParaRPr lang="hu-HU"/>
          </a:p>
        </p:txBody>
      </p:sp>
      <p:sp>
        <p:nvSpPr>
          <p:cNvPr id="22" name="Shape 20"/>
          <p:cNvSpPr/>
          <p:nvPr/>
        </p:nvSpPr>
        <p:spPr>
          <a:xfrm>
            <a:off x="292608" y="3081528"/>
            <a:ext cx="2743200" cy="64008"/>
          </a:xfrm>
          <a:prstGeom prst="rect">
            <a:avLst/>
          </a:prstGeom>
          <a:solidFill>
            <a:srgbClr val="F5C842"/>
          </a:solidFill>
          <a:ln w="12700">
            <a:solidFill>
              <a:srgbClr val="F5C842"/>
            </a:solidFill>
            <a:prstDash val="solid"/>
          </a:ln>
        </p:spPr>
        <p:txBody>
          <a:bodyPr/>
          <a:lstStyle/>
          <a:p>
            <a:endParaRPr lang="hu-HU"/>
          </a:p>
        </p:txBody>
      </p:sp>
      <p:sp>
        <p:nvSpPr>
          <p:cNvPr id="23" name="Text 21"/>
          <p:cNvSpPr/>
          <p:nvPr/>
        </p:nvSpPr>
        <p:spPr>
          <a:xfrm>
            <a:off x="365760" y="3264408"/>
            <a:ext cx="731520" cy="731520"/>
          </a:xfrm>
          <a:prstGeom prst="rect">
            <a:avLst/>
          </a:prstGeom>
          <a:noFill/>
          <a:ln/>
        </p:spPr>
        <p:txBody>
          <a:bodyPr wrap="square" rtlCol="0" anchor="ctr"/>
          <a:lstStyle/>
          <a:p>
            <a:pPr marL="0" indent="0" algn="ctr">
              <a:buNone/>
            </a:pPr>
            <a:r>
              <a:rPr lang="en-US" sz="2800" dirty="0">
                <a:solidFill>
                  <a:schemeClr val="bg1"/>
                </a:solidFill>
              </a:rPr>
              <a:t>📦</a:t>
            </a:r>
          </a:p>
        </p:txBody>
      </p:sp>
      <p:sp>
        <p:nvSpPr>
          <p:cNvPr id="24" name="Text 22"/>
          <p:cNvSpPr/>
          <p:nvPr/>
        </p:nvSpPr>
        <p:spPr>
          <a:xfrm>
            <a:off x="1115568" y="3246120"/>
            <a:ext cx="1783080" cy="384048"/>
          </a:xfrm>
          <a:prstGeom prst="rect">
            <a:avLst/>
          </a:prstGeom>
          <a:noFill/>
          <a:ln/>
        </p:spPr>
        <p:txBody>
          <a:bodyPr wrap="square" rtlCol="0" anchor="ctr"/>
          <a:lstStyle/>
          <a:p>
            <a:pPr marL="0" indent="0">
              <a:buNone/>
            </a:pPr>
            <a:r>
              <a:rPr lang="en-US" sz="1400" b="1" dirty="0">
                <a:solidFill>
                  <a:srgbClr val="FFFFFF"/>
                </a:solidFill>
              </a:rPr>
              <a:t>Order Flow</a:t>
            </a:r>
            <a:endParaRPr lang="en-US" sz="1400" dirty="0"/>
          </a:p>
        </p:txBody>
      </p:sp>
      <p:sp>
        <p:nvSpPr>
          <p:cNvPr id="25" name="Text 23"/>
          <p:cNvSpPr/>
          <p:nvPr/>
        </p:nvSpPr>
        <p:spPr>
          <a:xfrm>
            <a:off x="1115568" y="3630168"/>
            <a:ext cx="1783080" cy="822960"/>
          </a:xfrm>
          <a:prstGeom prst="rect">
            <a:avLst/>
          </a:prstGeom>
          <a:noFill/>
          <a:ln/>
        </p:spPr>
        <p:txBody>
          <a:bodyPr wrap="square" rtlCol="0" anchor="ctr"/>
          <a:lstStyle/>
          <a:p>
            <a:pPr marL="0" indent="0">
              <a:lnSpc>
                <a:spcPct val="130000"/>
              </a:lnSpc>
              <a:buNone/>
            </a:pPr>
            <a:r>
              <a:rPr lang="en-US" sz="1100" dirty="0">
                <a:solidFill>
                  <a:srgbClr val="8892A4"/>
                </a:solidFill>
              </a:rPr>
              <a:t>Checkout → payment → order confirmation</a:t>
            </a:r>
            <a:endParaRPr lang="en-US" sz="1100" dirty="0"/>
          </a:p>
        </p:txBody>
      </p:sp>
      <p:sp>
        <p:nvSpPr>
          <p:cNvPr id="26" name="Shape 24"/>
          <p:cNvSpPr/>
          <p:nvPr/>
        </p:nvSpPr>
        <p:spPr>
          <a:xfrm>
            <a:off x="3218688" y="3081528"/>
            <a:ext cx="2743200" cy="1600200"/>
          </a:xfrm>
          <a:prstGeom prst="rect">
            <a:avLst/>
          </a:prstGeom>
          <a:solidFill>
            <a:srgbClr val="1A1D2E"/>
          </a:solidFill>
          <a:ln w="15240">
            <a:solidFill>
              <a:srgbClr val="34D399"/>
            </a:solidFill>
            <a:prstDash val="solid"/>
          </a:ln>
          <a:effectLst>
            <a:outerShdw blurRad="127000" dist="50800" dir="8100000" algn="bl" rotWithShape="0">
              <a:srgbClr val="000000">
                <a:alpha val="35000"/>
              </a:srgbClr>
            </a:outerShdw>
          </a:effectLst>
        </p:spPr>
        <p:txBody>
          <a:bodyPr/>
          <a:lstStyle/>
          <a:p>
            <a:endParaRPr lang="hu-HU"/>
          </a:p>
        </p:txBody>
      </p:sp>
      <p:sp>
        <p:nvSpPr>
          <p:cNvPr id="27" name="Shape 25"/>
          <p:cNvSpPr/>
          <p:nvPr/>
        </p:nvSpPr>
        <p:spPr>
          <a:xfrm>
            <a:off x="3218688" y="3081528"/>
            <a:ext cx="2743200" cy="64008"/>
          </a:xfrm>
          <a:prstGeom prst="rect">
            <a:avLst/>
          </a:prstGeom>
          <a:solidFill>
            <a:srgbClr val="34D399"/>
          </a:solidFill>
          <a:ln w="12700">
            <a:solidFill>
              <a:srgbClr val="34D399"/>
            </a:solidFill>
            <a:prstDash val="solid"/>
          </a:ln>
        </p:spPr>
        <p:txBody>
          <a:bodyPr/>
          <a:lstStyle/>
          <a:p>
            <a:endParaRPr lang="hu-HU"/>
          </a:p>
        </p:txBody>
      </p:sp>
      <p:sp>
        <p:nvSpPr>
          <p:cNvPr id="28" name="Text 26"/>
          <p:cNvSpPr/>
          <p:nvPr/>
        </p:nvSpPr>
        <p:spPr>
          <a:xfrm>
            <a:off x="3291840" y="3264408"/>
            <a:ext cx="731520" cy="731520"/>
          </a:xfrm>
          <a:prstGeom prst="rect">
            <a:avLst/>
          </a:prstGeom>
          <a:noFill/>
          <a:ln/>
        </p:spPr>
        <p:txBody>
          <a:bodyPr wrap="square" rtlCol="0" anchor="ctr"/>
          <a:lstStyle/>
          <a:p>
            <a:pPr marL="0" indent="0" algn="ctr">
              <a:buNone/>
            </a:pPr>
            <a:r>
              <a:rPr lang="en-US" sz="2800" dirty="0">
                <a:solidFill>
                  <a:schemeClr val="bg1"/>
                </a:solidFill>
              </a:rPr>
              <a:t>⚙️</a:t>
            </a:r>
          </a:p>
        </p:txBody>
      </p:sp>
      <p:sp>
        <p:nvSpPr>
          <p:cNvPr id="29" name="Text 27"/>
          <p:cNvSpPr/>
          <p:nvPr/>
        </p:nvSpPr>
        <p:spPr>
          <a:xfrm>
            <a:off x="4041648" y="3246120"/>
            <a:ext cx="1783080" cy="384048"/>
          </a:xfrm>
          <a:prstGeom prst="rect">
            <a:avLst/>
          </a:prstGeom>
          <a:noFill/>
          <a:ln/>
        </p:spPr>
        <p:txBody>
          <a:bodyPr wrap="square" rtlCol="0" anchor="ctr"/>
          <a:lstStyle/>
          <a:p>
            <a:pPr marL="0" indent="0">
              <a:buNone/>
            </a:pPr>
            <a:r>
              <a:rPr lang="en-US" sz="1400" b="1" dirty="0">
                <a:solidFill>
                  <a:srgbClr val="FFFFFF"/>
                </a:solidFill>
              </a:rPr>
              <a:t>Admin Panel</a:t>
            </a:r>
            <a:endParaRPr lang="en-US" sz="1400" dirty="0"/>
          </a:p>
        </p:txBody>
      </p:sp>
      <p:sp>
        <p:nvSpPr>
          <p:cNvPr id="30" name="Text 28"/>
          <p:cNvSpPr/>
          <p:nvPr/>
        </p:nvSpPr>
        <p:spPr>
          <a:xfrm>
            <a:off x="4041648" y="3630168"/>
            <a:ext cx="1783080" cy="822960"/>
          </a:xfrm>
          <a:prstGeom prst="rect">
            <a:avLst/>
          </a:prstGeom>
          <a:noFill/>
          <a:ln/>
        </p:spPr>
        <p:txBody>
          <a:bodyPr wrap="square" rtlCol="0" anchor="ctr"/>
          <a:lstStyle/>
          <a:p>
            <a:pPr marL="0" indent="0">
              <a:lnSpc>
                <a:spcPct val="130000"/>
              </a:lnSpc>
              <a:buNone/>
            </a:pPr>
            <a:r>
              <a:rPr lang="en-US" sz="1100" dirty="0">
                <a:solidFill>
                  <a:srgbClr val="8892A4"/>
                </a:solidFill>
              </a:rPr>
              <a:t>Product CRUD, order management, revenue stats</a:t>
            </a:r>
            <a:endParaRPr lang="en-US" sz="1100" dirty="0"/>
          </a:p>
        </p:txBody>
      </p:sp>
      <p:sp>
        <p:nvSpPr>
          <p:cNvPr id="31" name="Shape 29"/>
          <p:cNvSpPr/>
          <p:nvPr/>
        </p:nvSpPr>
        <p:spPr>
          <a:xfrm>
            <a:off x="6144768" y="3081528"/>
            <a:ext cx="2743200" cy="1600200"/>
          </a:xfrm>
          <a:prstGeom prst="rect">
            <a:avLst/>
          </a:prstGeom>
          <a:solidFill>
            <a:srgbClr val="1A1D2E"/>
          </a:solidFill>
          <a:ln w="15240">
            <a:solidFill>
              <a:srgbClr val="67E8F9"/>
            </a:solidFill>
            <a:prstDash val="solid"/>
          </a:ln>
          <a:effectLst>
            <a:outerShdw blurRad="127000" dist="50800" dir="8100000" algn="bl" rotWithShape="0">
              <a:srgbClr val="000000">
                <a:alpha val="35000"/>
              </a:srgbClr>
            </a:outerShdw>
          </a:effectLst>
        </p:spPr>
        <p:txBody>
          <a:bodyPr/>
          <a:lstStyle/>
          <a:p>
            <a:endParaRPr lang="hu-HU"/>
          </a:p>
        </p:txBody>
      </p:sp>
      <p:sp>
        <p:nvSpPr>
          <p:cNvPr id="32" name="Shape 30"/>
          <p:cNvSpPr/>
          <p:nvPr/>
        </p:nvSpPr>
        <p:spPr>
          <a:xfrm>
            <a:off x="6144768" y="3081528"/>
            <a:ext cx="2743200" cy="64008"/>
          </a:xfrm>
          <a:prstGeom prst="rect">
            <a:avLst/>
          </a:prstGeom>
          <a:solidFill>
            <a:srgbClr val="67E8F9"/>
          </a:solidFill>
          <a:ln w="12700">
            <a:solidFill>
              <a:srgbClr val="67E8F9"/>
            </a:solidFill>
            <a:prstDash val="solid"/>
          </a:ln>
        </p:spPr>
        <p:txBody>
          <a:bodyPr/>
          <a:lstStyle/>
          <a:p>
            <a:endParaRPr lang="hu-HU"/>
          </a:p>
        </p:txBody>
      </p:sp>
      <p:sp>
        <p:nvSpPr>
          <p:cNvPr id="33" name="Text 31"/>
          <p:cNvSpPr/>
          <p:nvPr/>
        </p:nvSpPr>
        <p:spPr>
          <a:xfrm>
            <a:off x="6217920" y="3264408"/>
            <a:ext cx="731520" cy="731520"/>
          </a:xfrm>
          <a:prstGeom prst="rect">
            <a:avLst/>
          </a:prstGeom>
          <a:noFill/>
          <a:ln/>
        </p:spPr>
        <p:txBody>
          <a:bodyPr wrap="square" rtlCol="0" anchor="ctr"/>
          <a:lstStyle/>
          <a:p>
            <a:pPr marL="0" indent="0" algn="ctr">
              <a:buNone/>
            </a:pPr>
            <a:r>
              <a:rPr lang="en-US" sz="2800" dirty="0">
                <a:solidFill>
                  <a:schemeClr val="bg1"/>
                </a:solidFill>
              </a:rPr>
              <a:t>📡</a:t>
            </a:r>
          </a:p>
        </p:txBody>
      </p:sp>
      <p:sp>
        <p:nvSpPr>
          <p:cNvPr id="34" name="Text 32"/>
          <p:cNvSpPr/>
          <p:nvPr/>
        </p:nvSpPr>
        <p:spPr>
          <a:xfrm>
            <a:off x="6967728" y="3246120"/>
            <a:ext cx="1783080" cy="384048"/>
          </a:xfrm>
          <a:prstGeom prst="rect">
            <a:avLst/>
          </a:prstGeom>
          <a:noFill/>
          <a:ln/>
        </p:spPr>
        <p:txBody>
          <a:bodyPr wrap="square" rtlCol="0" anchor="ctr"/>
          <a:lstStyle/>
          <a:p>
            <a:pPr marL="0" indent="0">
              <a:buNone/>
            </a:pPr>
            <a:r>
              <a:rPr lang="en-US" sz="1400" b="1" dirty="0">
                <a:solidFill>
                  <a:srgbClr val="FFFFFF"/>
                </a:solidFill>
              </a:rPr>
              <a:t>REST API</a:t>
            </a:r>
            <a:endParaRPr lang="en-US" sz="1400" dirty="0"/>
          </a:p>
        </p:txBody>
      </p:sp>
      <p:sp>
        <p:nvSpPr>
          <p:cNvPr id="35" name="Text 33"/>
          <p:cNvSpPr/>
          <p:nvPr/>
        </p:nvSpPr>
        <p:spPr>
          <a:xfrm>
            <a:off x="6967728" y="3630168"/>
            <a:ext cx="1783080" cy="822960"/>
          </a:xfrm>
          <a:prstGeom prst="rect">
            <a:avLst/>
          </a:prstGeom>
          <a:noFill/>
          <a:ln/>
        </p:spPr>
        <p:txBody>
          <a:bodyPr wrap="square" rtlCol="0" anchor="ctr"/>
          <a:lstStyle/>
          <a:p>
            <a:pPr marL="0" indent="0">
              <a:lnSpc>
                <a:spcPct val="130000"/>
              </a:lnSpc>
              <a:buNone/>
            </a:pPr>
            <a:r>
              <a:rPr lang="en-US" sz="1100" dirty="0">
                <a:solidFill>
                  <a:srgbClr val="8892A4"/>
                </a:solidFill>
              </a:rPr>
              <a:t>JSON over HTTP — fully documented endpoints</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117"/>
        </a:solidFill>
        <a:effectLst/>
      </p:bgPr>
    </p:bg>
    <p:spTree>
      <p:nvGrpSpPr>
        <p:cNvPr id="1" name=""/>
        <p:cNvGrpSpPr/>
        <p:nvPr/>
      </p:nvGrpSpPr>
      <p:grpSpPr>
        <a:xfrm>
          <a:off x="0" y="0"/>
          <a:ext cx="0" cy="0"/>
          <a:chOff x="0" y="0"/>
          <a:chExt cx="0" cy="0"/>
        </a:xfrm>
      </p:grpSpPr>
      <p:sp>
        <p:nvSpPr>
          <p:cNvPr id="2" name="Shape 0"/>
          <p:cNvSpPr/>
          <p:nvPr/>
        </p:nvSpPr>
        <p:spPr>
          <a:xfrm>
            <a:off x="0" y="0"/>
            <a:ext cx="9144000" cy="1078992"/>
          </a:xfrm>
          <a:prstGeom prst="rect">
            <a:avLst/>
          </a:prstGeom>
          <a:solidFill>
            <a:srgbClr val="1A1D2E"/>
          </a:solidFill>
          <a:ln w="12700">
            <a:solidFill>
              <a:srgbClr val="1A1D2E"/>
            </a:solidFill>
            <a:prstDash val="solid"/>
          </a:ln>
        </p:spPr>
        <p:txBody>
          <a:bodyPr/>
          <a:lstStyle/>
          <a:p>
            <a:endParaRPr lang="hu-HU"/>
          </a:p>
        </p:txBody>
      </p:sp>
      <p:sp>
        <p:nvSpPr>
          <p:cNvPr id="3" name="Shape 1"/>
          <p:cNvSpPr/>
          <p:nvPr/>
        </p:nvSpPr>
        <p:spPr>
          <a:xfrm>
            <a:off x="0" y="1078992"/>
            <a:ext cx="9144000" cy="36576"/>
          </a:xfrm>
          <a:prstGeom prst="rect">
            <a:avLst/>
          </a:prstGeom>
          <a:solidFill>
            <a:srgbClr val="E07B54"/>
          </a:solidFill>
          <a:ln w="12700">
            <a:solidFill>
              <a:srgbClr val="E07B54"/>
            </a:solidFill>
            <a:prstDash val="solid"/>
          </a:ln>
        </p:spPr>
        <p:txBody>
          <a:bodyPr/>
          <a:lstStyle/>
          <a:p>
            <a:endParaRPr lang="hu-HU"/>
          </a:p>
        </p:txBody>
      </p:sp>
      <p:sp>
        <p:nvSpPr>
          <p:cNvPr id="4" name="Text 2"/>
          <p:cNvSpPr/>
          <p:nvPr/>
        </p:nvSpPr>
        <p:spPr>
          <a:xfrm>
            <a:off x="502920" y="73152"/>
            <a:ext cx="6400800" cy="640080"/>
          </a:xfrm>
          <a:prstGeom prst="rect">
            <a:avLst/>
          </a:prstGeom>
          <a:noFill/>
          <a:ln/>
        </p:spPr>
        <p:txBody>
          <a:bodyPr wrap="square" rtlCol="0" anchor="ctr"/>
          <a:lstStyle/>
          <a:p>
            <a:pPr marL="0" indent="0">
              <a:buNone/>
            </a:pPr>
            <a:r>
              <a:rPr lang="en-US" sz="3200" b="1" dirty="0">
                <a:solidFill>
                  <a:srgbClr val="FFFFFF"/>
                </a:solidFill>
                <a:latin typeface="Georgia" pitchFamily="34" charset="0"/>
                <a:ea typeface="Georgia" pitchFamily="34" charset="-122"/>
                <a:cs typeface="Georgia" pitchFamily="34" charset="-120"/>
              </a:rPr>
              <a:t>System Architecture</a:t>
            </a:r>
            <a:endParaRPr lang="en-US" sz="3200" dirty="0"/>
          </a:p>
        </p:txBody>
      </p:sp>
      <p:sp>
        <p:nvSpPr>
          <p:cNvPr id="5" name="Text 3"/>
          <p:cNvSpPr/>
          <p:nvPr/>
        </p:nvSpPr>
        <p:spPr>
          <a:xfrm>
            <a:off x="502920" y="713232"/>
            <a:ext cx="7772400" cy="329184"/>
          </a:xfrm>
          <a:prstGeom prst="rect">
            <a:avLst/>
          </a:prstGeom>
          <a:noFill/>
          <a:ln/>
        </p:spPr>
        <p:txBody>
          <a:bodyPr wrap="square" rtlCol="0" anchor="ctr"/>
          <a:lstStyle/>
          <a:p>
            <a:pPr marL="0" indent="0">
              <a:buNone/>
            </a:pPr>
            <a:r>
              <a:rPr lang="en-US" sz="1300" dirty="0">
                <a:solidFill>
                  <a:srgbClr val="8892A4"/>
                </a:solidFill>
              </a:rPr>
              <a:t>Three-tier fullstack application</a:t>
            </a:r>
            <a:endParaRPr lang="en-US" sz="1300" dirty="0"/>
          </a:p>
        </p:txBody>
      </p:sp>
      <p:sp>
        <p:nvSpPr>
          <p:cNvPr id="6" name="Shape 4"/>
          <p:cNvSpPr/>
          <p:nvPr/>
        </p:nvSpPr>
        <p:spPr>
          <a:xfrm>
            <a:off x="45720" y="1261872"/>
            <a:ext cx="2816352" cy="3291840"/>
          </a:xfrm>
          <a:prstGeom prst="rect">
            <a:avLst/>
          </a:prstGeom>
          <a:solidFill>
            <a:srgbClr val="67E8F9">
              <a:alpha val="12000"/>
            </a:srgbClr>
          </a:solidFill>
          <a:ln w="19050">
            <a:solidFill>
              <a:srgbClr val="67E8F9"/>
            </a:solidFill>
            <a:prstDash val="solid"/>
          </a:ln>
          <a:effectLst>
            <a:outerShdw blurRad="127000" dist="50800" dir="8100000" algn="bl" rotWithShape="0">
              <a:srgbClr val="000000">
                <a:alpha val="35000"/>
              </a:srgbClr>
            </a:outerShdw>
          </a:effectLst>
        </p:spPr>
        <p:txBody>
          <a:bodyPr/>
          <a:lstStyle/>
          <a:p>
            <a:endParaRPr lang="hu-HU"/>
          </a:p>
        </p:txBody>
      </p:sp>
      <p:sp>
        <p:nvSpPr>
          <p:cNvPr id="7" name="Shape 5"/>
          <p:cNvSpPr/>
          <p:nvPr/>
        </p:nvSpPr>
        <p:spPr>
          <a:xfrm>
            <a:off x="82296" y="1298448"/>
            <a:ext cx="2743200" cy="3218688"/>
          </a:xfrm>
          <a:prstGeom prst="rect">
            <a:avLst/>
          </a:prstGeom>
          <a:solidFill>
            <a:srgbClr val="1A1D2E"/>
          </a:solidFill>
          <a:ln w="15240">
            <a:solidFill>
              <a:srgbClr val="67E8F9"/>
            </a:solidFill>
            <a:prstDash val="solid"/>
          </a:ln>
          <a:effectLst>
            <a:outerShdw blurRad="127000" dist="50800" dir="8100000" algn="bl" rotWithShape="0">
              <a:srgbClr val="000000">
                <a:alpha val="35000"/>
              </a:srgbClr>
            </a:outerShdw>
          </a:effectLst>
        </p:spPr>
        <p:txBody>
          <a:bodyPr/>
          <a:lstStyle/>
          <a:p>
            <a:endParaRPr lang="hu-HU"/>
          </a:p>
        </p:txBody>
      </p:sp>
      <p:sp>
        <p:nvSpPr>
          <p:cNvPr id="8" name="Shape 6"/>
          <p:cNvSpPr/>
          <p:nvPr/>
        </p:nvSpPr>
        <p:spPr>
          <a:xfrm>
            <a:off x="82296" y="1298448"/>
            <a:ext cx="2743200" cy="548640"/>
          </a:xfrm>
          <a:prstGeom prst="rect">
            <a:avLst/>
          </a:prstGeom>
          <a:solidFill>
            <a:srgbClr val="67E8F9"/>
          </a:solidFill>
          <a:ln w="12700">
            <a:solidFill>
              <a:srgbClr val="67E8F9"/>
            </a:solidFill>
            <a:prstDash val="solid"/>
          </a:ln>
        </p:spPr>
        <p:txBody>
          <a:bodyPr/>
          <a:lstStyle/>
          <a:p>
            <a:endParaRPr lang="hu-HU"/>
          </a:p>
        </p:txBody>
      </p:sp>
      <p:sp>
        <p:nvSpPr>
          <p:cNvPr id="9" name="Text 7"/>
          <p:cNvSpPr/>
          <p:nvPr/>
        </p:nvSpPr>
        <p:spPr>
          <a:xfrm>
            <a:off x="82296" y="1298448"/>
            <a:ext cx="2743200" cy="548640"/>
          </a:xfrm>
          <a:prstGeom prst="rect">
            <a:avLst/>
          </a:prstGeom>
          <a:noFill/>
          <a:ln/>
        </p:spPr>
        <p:txBody>
          <a:bodyPr wrap="square" lIns="0" tIns="0" rIns="0" bIns="0" rtlCol="0" anchor="ctr"/>
          <a:lstStyle/>
          <a:p>
            <a:pPr marL="0" indent="0" algn="ctr">
              <a:buNone/>
            </a:pPr>
            <a:r>
              <a:rPr lang="en-US" sz="1300" b="1" kern="0" spc="300" dirty="0">
                <a:solidFill>
                  <a:srgbClr val="FFFFFF"/>
                </a:solidFill>
              </a:rPr>
              <a:t>FRONTEND</a:t>
            </a:r>
            <a:endParaRPr lang="en-US" sz="1300" dirty="0"/>
          </a:p>
        </p:txBody>
      </p:sp>
      <p:sp>
        <p:nvSpPr>
          <p:cNvPr id="10" name="Shape 8"/>
          <p:cNvSpPr/>
          <p:nvPr/>
        </p:nvSpPr>
        <p:spPr>
          <a:xfrm>
            <a:off x="192024" y="1993392"/>
            <a:ext cx="2523744" cy="512064"/>
          </a:xfrm>
          <a:prstGeom prst="rect">
            <a:avLst/>
          </a:prstGeom>
          <a:solidFill>
            <a:srgbClr val="0F1117">
              <a:alpha val="70000"/>
            </a:srgbClr>
          </a:solidFill>
          <a:ln w="12700">
            <a:solidFill>
              <a:srgbClr val="2E3250"/>
            </a:solidFill>
            <a:prstDash val="solid"/>
          </a:ln>
        </p:spPr>
        <p:txBody>
          <a:bodyPr/>
          <a:lstStyle/>
          <a:p>
            <a:endParaRPr lang="hu-HU"/>
          </a:p>
        </p:txBody>
      </p:sp>
      <p:sp>
        <p:nvSpPr>
          <p:cNvPr id="11" name="Text 9"/>
          <p:cNvSpPr/>
          <p:nvPr/>
        </p:nvSpPr>
        <p:spPr>
          <a:xfrm>
            <a:off x="192024" y="1993392"/>
            <a:ext cx="2523744" cy="512064"/>
          </a:xfrm>
          <a:prstGeom prst="rect">
            <a:avLst/>
          </a:prstGeom>
          <a:noFill/>
          <a:ln/>
        </p:spPr>
        <p:txBody>
          <a:bodyPr wrap="square" rtlCol="0" anchor="ctr"/>
          <a:lstStyle/>
          <a:p>
            <a:pPr marL="0" indent="0" algn="ctr">
              <a:buNone/>
            </a:pPr>
            <a:r>
              <a:rPr lang="en-US" sz="1300" dirty="0">
                <a:solidFill>
                  <a:srgbClr val="FFFFFF"/>
                </a:solidFill>
              </a:rPr>
              <a:t>React 19</a:t>
            </a:r>
            <a:endParaRPr lang="en-US" sz="1300" dirty="0"/>
          </a:p>
        </p:txBody>
      </p:sp>
      <p:sp>
        <p:nvSpPr>
          <p:cNvPr id="12" name="Shape 10"/>
          <p:cNvSpPr/>
          <p:nvPr/>
        </p:nvSpPr>
        <p:spPr>
          <a:xfrm>
            <a:off x="192024" y="2615184"/>
            <a:ext cx="2523744" cy="512064"/>
          </a:xfrm>
          <a:prstGeom prst="rect">
            <a:avLst/>
          </a:prstGeom>
          <a:solidFill>
            <a:srgbClr val="0F1117">
              <a:alpha val="70000"/>
            </a:srgbClr>
          </a:solidFill>
          <a:ln w="12700">
            <a:solidFill>
              <a:srgbClr val="2E3250"/>
            </a:solidFill>
            <a:prstDash val="solid"/>
          </a:ln>
        </p:spPr>
        <p:txBody>
          <a:bodyPr/>
          <a:lstStyle/>
          <a:p>
            <a:endParaRPr lang="hu-HU"/>
          </a:p>
        </p:txBody>
      </p:sp>
      <p:sp>
        <p:nvSpPr>
          <p:cNvPr id="13" name="Text 11"/>
          <p:cNvSpPr/>
          <p:nvPr/>
        </p:nvSpPr>
        <p:spPr>
          <a:xfrm>
            <a:off x="192024" y="2615184"/>
            <a:ext cx="2523744" cy="512064"/>
          </a:xfrm>
          <a:prstGeom prst="rect">
            <a:avLst/>
          </a:prstGeom>
          <a:noFill/>
          <a:ln/>
        </p:spPr>
        <p:txBody>
          <a:bodyPr wrap="square" rtlCol="0" anchor="ctr"/>
          <a:lstStyle/>
          <a:p>
            <a:pPr marL="0" indent="0" algn="ctr">
              <a:buNone/>
            </a:pPr>
            <a:r>
              <a:rPr lang="en-US" sz="1300" dirty="0">
                <a:solidFill>
                  <a:srgbClr val="FFFFFF"/>
                </a:solidFill>
              </a:rPr>
              <a:t>Vite</a:t>
            </a:r>
            <a:endParaRPr lang="en-US" sz="1300" dirty="0"/>
          </a:p>
        </p:txBody>
      </p:sp>
      <p:sp>
        <p:nvSpPr>
          <p:cNvPr id="14" name="Shape 12"/>
          <p:cNvSpPr/>
          <p:nvPr/>
        </p:nvSpPr>
        <p:spPr>
          <a:xfrm>
            <a:off x="192024" y="3236976"/>
            <a:ext cx="2523744" cy="512064"/>
          </a:xfrm>
          <a:prstGeom prst="rect">
            <a:avLst/>
          </a:prstGeom>
          <a:solidFill>
            <a:srgbClr val="0F1117">
              <a:alpha val="70000"/>
            </a:srgbClr>
          </a:solidFill>
          <a:ln w="12700">
            <a:solidFill>
              <a:srgbClr val="2E3250"/>
            </a:solidFill>
            <a:prstDash val="solid"/>
          </a:ln>
        </p:spPr>
        <p:txBody>
          <a:bodyPr/>
          <a:lstStyle/>
          <a:p>
            <a:endParaRPr lang="hu-HU"/>
          </a:p>
        </p:txBody>
      </p:sp>
      <p:sp>
        <p:nvSpPr>
          <p:cNvPr id="15" name="Text 13"/>
          <p:cNvSpPr/>
          <p:nvPr/>
        </p:nvSpPr>
        <p:spPr>
          <a:xfrm>
            <a:off x="192024" y="3236976"/>
            <a:ext cx="2523744" cy="512064"/>
          </a:xfrm>
          <a:prstGeom prst="rect">
            <a:avLst/>
          </a:prstGeom>
          <a:noFill/>
          <a:ln/>
        </p:spPr>
        <p:txBody>
          <a:bodyPr wrap="square" rtlCol="0" anchor="ctr"/>
          <a:lstStyle/>
          <a:p>
            <a:pPr marL="0" indent="0" algn="ctr">
              <a:buNone/>
            </a:pPr>
            <a:r>
              <a:rPr lang="en-US" sz="1300" dirty="0">
                <a:solidFill>
                  <a:srgbClr val="FFFFFF"/>
                </a:solidFill>
              </a:rPr>
              <a:t>Context API</a:t>
            </a:r>
            <a:endParaRPr lang="en-US" sz="1300" dirty="0"/>
          </a:p>
        </p:txBody>
      </p:sp>
      <p:sp>
        <p:nvSpPr>
          <p:cNvPr id="16" name="Shape 14"/>
          <p:cNvSpPr/>
          <p:nvPr/>
        </p:nvSpPr>
        <p:spPr>
          <a:xfrm>
            <a:off x="192024" y="3858768"/>
            <a:ext cx="2523744" cy="512064"/>
          </a:xfrm>
          <a:prstGeom prst="rect">
            <a:avLst/>
          </a:prstGeom>
          <a:solidFill>
            <a:srgbClr val="0F1117">
              <a:alpha val="70000"/>
            </a:srgbClr>
          </a:solidFill>
          <a:ln w="12700">
            <a:solidFill>
              <a:srgbClr val="2E3250"/>
            </a:solidFill>
            <a:prstDash val="solid"/>
          </a:ln>
        </p:spPr>
        <p:txBody>
          <a:bodyPr/>
          <a:lstStyle/>
          <a:p>
            <a:endParaRPr lang="hu-HU"/>
          </a:p>
        </p:txBody>
      </p:sp>
      <p:sp>
        <p:nvSpPr>
          <p:cNvPr id="17" name="Text 15"/>
          <p:cNvSpPr/>
          <p:nvPr/>
        </p:nvSpPr>
        <p:spPr>
          <a:xfrm>
            <a:off x="192024" y="3858768"/>
            <a:ext cx="2523744" cy="512064"/>
          </a:xfrm>
          <a:prstGeom prst="rect">
            <a:avLst/>
          </a:prstGeom>
          <a:noFill/>
          <a:ln/>
        </p:spPr>
        <p:txBody>
          <a:bodyPr wrap="square" rtlCol="0" anchor="ctr"/>
          <a:lstStyle/>
          <a:p>
            <a:pPr marL="0" indent="0" algn="ctr">
              <a:buNone/>
            </a:pPr>
            <a:r>
              <a:rPr lang="en-US" sz="1300" dirty="0">
                <a:solidFill>
                  <a:srgbClr val="FFFFFF"/>
                </a:solidFill>
              </a:rPr>
              <a:t>React Router v7</a:t>
            </a:r>
            <a:endParaRPr lang="en-US" sz="1300" dirty="0"/>
          </a:p>
        </p:txBody>
      </p:sp>
      <p:sp>
        <p:nvSpPr>
          <p:cNvPr id="18" name="Shape 16"/>
          <p:cNvSpPr/>
          <p:nvPr/>
        </p:nvSpPr>
        <p:spPr>
          <a:xfrm>
            <a:off x="3209544" y="1261872"/>
            <a:ext cx="2553492" cy="3291840"/>
          </a:xfrm>
          <a:prstGeom prst="rect">
            <a:avLst/>
          </a:prstGeom>
          <a:solidFill>
            <a:srgbClr val="E07B54">
              <a:alpha val="12000"/>
            </a:srgbClr>
          </a:solidFill>
          <a:ln w="19050">
            <a:solidFill>
              <a:srgbClr val="E07B54"/>
            </a:solidFill>
            <a:prstDash val="solid"/>
          </a:ln>
          <a:effectLst>
            <a:outerShdw blurRad="127000" dist="50800" dir="8100000" algn="bl" rotWithShape="0">
              <a:srgbClr val="000000">
                <a:alpha val="35000"/>
              </a:srgbClr>
            </a:outerShdw>
          </a:effectLst>
        </p:spPr>
        <p:txBody>
          <a:bodyPr/>
          <a:lstStyle/>
          <a:p>
            <a:endParaRPr lang="hu-HU"/>
          </a:p>
        </p:txBody>
      </p:sp>
      <p:sp>
        <p:nvSpPr>
          <p:cNvPr id="19" name="Shape 17"/>
          <p:cNvSpPr/>
          <p:nvPr/>
        </p:nvSpPr>
        <p:spPr>
          <a:xfrm>
            <a:off x="3246120" y="1298448"/>
            <a:ext cx="2487168" cy="3218688"/>
          </a:xfrm>
          <a:prstGeom prst="rect">
            <a:avLst/>
          </a:prstGeom>
          <a:solidFill>
            <a:srgbClr val="1A1D2E"/>
          </a:solidFill>
          <a:ln w="15240">
            <a:solidFill>
              <a:srgbClr val="E07B54"/>
            </a:solidFill>
            <a:prstDash val="solid"/>
          </a:ln>
          <a:effectLst>
            <a:outerShdw blurRad="127000" dist="50800" dir="8100000" algn="bl" rotWithShape="0">
              <a:srgbClr val="000000">
                <a:alpha val="35000"/>
              </a:srgbClr>
            </a:outerShdw>
          </a:effectLst>
        </p:spPr>
        <p:txBody>
          <a:bodyPr/>
          <a:lstStyle/>
          <a:p>
            <a:endParaRPr lang="hu-HU"/>
          </a:p>
        </p:txBody>
      </p:sp>
      <p:sp>
        <p:nvSpPr>
          <p:cNvPr id="20" name="Shape 18"/>
          <p:cNvSpPr/>
          <p:nvPr/>
        </p:nvSpPr>
        <p:spPr>
          <a:xfrm>
            <a:off x="3246120" y="1298448"/>
            <a:ext cx="2487168" cy="548640"/>
          </a:xfrm>
          <a:prstGeom prst="rect">
            <a:avLst/>
          </a:prstGeom>
          <a:solidFill>
            <a:srgbClr val="E07B54"/>
          </a:solidFill>
          <a:ln w="12700">
            <a:solidFill>
              <a:srgbClr val="E07B54"/>
            </a:solidFill>
            <a:prstDash val="solid"/>
          </a:ln>
        </p:spPr>
        <p:txBody>
          <a:bodyPr/>
          <a:lstStyle/>
          <a:p>
            <a:endParaRPr lang="hu-HU"/>
          </a:p>
        </p:txBody>
      </p:sp>
      <p:sp>
        <p:nvSpPr>
          <p:cNvPr id="21" name="Text 19"/>
          <p:cNvSpPr/>
          <p:nvPr/>
        </p:nvSpPr>
        <p:spPr>
          <a:xfrm>
            <a:off x="3246120" y="1298448"/>
            <a:ext cx="2487168" cy="548640"/>
          </a:xfrm>
          <a:prstGeom prst="rect">
            <a:avLst/>
          </a:prstGeom>
          <a:noFill/>
          <a:ln/>
        </p:spPr>
        <p:txBody>
          <a:bodyPr wrap="square" lIns="0" tIns="0" rIns="0" bIns="0" rtlCol="0" anchor="ctr"/>
          <a:lstStyle/>
          <a:p>
            <a:pPr marL="0" indent="0" algn="ctr">
              <a:buNone/>
            </a:pPr>
            <a:r>
              <a:rPr lang="en-US" sz="1300" b="1" kern="0" spc="300" dirty="0">
                <a:solidFill>
                  <a:srgbClr val="FFFFFF"/>
                </a:solidFill>
              </a:rPr>
              <a:t>BACKEND</a:t>
            </a:r>
            <a:endParaRPr lang="en-US" sz="1300" dirty="0"/>
          </a:p>
        </p:txBody>
      </p:sp>
      <p:sp>
        <p:nvSpPr>
          <p:cNvPr id="22" name="Shape 20"/>
          <p:cNvSpPr/>
          <p:nvPr/>
        </p:nvSpPr>
        <p:spPr>
          <a:xfrm>
            <a:off x="3355848" y="1993392"/>
            <a:ext cx="2288195" cy="512064"/>
          </a:xfrm>
          <a:prstGeom prst="rect">
            <a:avLst/>
          </a:prstGeom>
          <a:solidFill>
            <a:srgbClr val="0F1117">
              <a:alpha val="70000"/>
            </a:srgbClr>
          </a:solidFill>
          <a:ln w="12700">
            <a:solidFill>
              <a:srgbClr val="2E3250"/>
            </a:solidFill>
            <a:prstDash val="solid"/>
          </a:ln>
        </p:spPr>
        <p:txBody>
          <a:bodyPr/>
          <a:lstStyle/>
          <a:p>
            <a:endParaRPr lang="hu-HU"/>
          </a:p>
        </p:txBody>
      </p:sp>
      <p:sp>
        <p:nvSpPr>
          <p:cNvPr id="23" name="Text 21"/>
          <p:cNvSpPr/>
          <p:nvPr/>
        </p:nvSpPr>
        <p:spPr>
          <a:xfrm>
            <a:off x="3355848" y="1993392"/>
            <a:ext cx="2288195" cy="512064"/>
          </a:xfrm>
          <a:prstGeom prst="rect">
            <a:avLst/>
          </a:prstGeom>
          <a:noFill/>
          <a:ln/>
        </p:spPr>
        <p:txBody>
          <a:bodyPr wrap="square" rtlCol="0" anchor="ctr"/>
          <a:lstStyle/>
          <a:p>
            <a:pPr marL="0" indent="0" algn="ctr">
              <a:buNone/>
            </a:pPr>
            <a:r>
              <a:rPr lang="en-US" sz="1300" dirty="0">
                <a:solidFill>
                  <a:srgbClr val="FFFFFF"/>
                </a:solidFill>
              </a:rPr>
              <a:t>Node.js</a:t>
            </a:r>
            <a:endParaRPr lang="en-US" sz="1300" dirty="0"/>
          </a:p>
        </p:txBody>
      </p:sp>
      <p:sp>
        <p:nvSpPr>
          <p:cNvPr id="24" name="Shape 22"/>
          <p:cNvSpPr/>
          <p:nvPr/>
        </p:nvSpPr>
        <p:spPr>
          <a:xfrm>
            <a:off x="3355848" y="2615184"/>
            <a:ext cx="2288195" cy="512064"/>
          </a:xfrm>
          <a:prstGeom prst="rect">
            <a:avLst/>
          </a:prstGeom>
          <a:solidFill>
            <a:srgbClr val="0F1117">
              <a:alpha val="70000"/>
            </a:srgbClr>
          </a:solidFill>
          <a:ln w="12700">
            <a:solidFill>
              <a:srgbClr val="2E3250"/>
            </a:solidFill>
            <a:prstDash val="solid"/>
          </a:ln>
        </p:spPr>
        <p:txBody>
          <a:bodyPr/>
          <a:lstStyle/>
          <a:p>
            <a:endParaRPr lang="hu-HU"/>
          </a:p>
        </p:txBody>
      </p:sp>
      <p:sp>
        <p:nvSpPr>
          <p:cNvPr id="25" name="Text 23"/>
          <p:cNvSpPr/>
          <p:nvPr/>
        </p:nvSpPr>
        <p:spPr>
          <a:xfrm>
            <a:off x="3355848" y="2615184"/>
            <a:ext cx="2288195" cy="512064"/>
          </a:xfrm>
          <a:prstGeom prst="rect">
            <a:avLst/>
          </a:prstGeom>
          <a:noFill/>
          <a:ln/>
        </p:spPr>
        <p:txBody>
          <a:bodyPr wrap="square" rtlCol="0" anchor="ctr"/>
          <a:lstStyle/>
          <a:p>
            <a:pPr marL="0" indent="0" algn="ctr">
              <a:buNone/>
            </a:pPr>
            <a:r>
              <a:rPr lang="en-US" sz="1300" dirty="0">
                <a:solidFill>
                  <a:srgbClr val="FFFFFF"/>
                </a:solidFill>
              </a:rPr>
              <a:t>Express</a:t>
            </a:r>
            <a:endParaRPr lang="en-US" sz="1300" dirty="0"/>
          </a:p>
        </p:txBody>
      </p:sp>
      <p:sp>
        <p:nvSpPr>
          <p:cNvPr id="26" name="Shape 24"/>
          <p:cNvSpPr/>
          <p:nvPr/>
        </p:nvSpPr>
        <p:spPr>
          <a:xfrm>
            <a:off x="3355848" y="3236976"/>
            <a:ext cx="2288195" cy="512064"/>
          </a:xfrm>
          <a:prstGeom prst="rect">
            <a:avLst/>
          </a:prstGeom>
          <a:solidFill>
            <a:srgbClr val="0F1117">
              <a:alpha val="70000"/>
            </a:srgbClr>
          </a:solidFill>
          <a:ln w="12700">
            <a:solidFill>
              <a:srgbClr val="2E3250"/>
            </a:solidFill>
            <a:prstDash val="solid"/>
          </a:ln>
        </p:spPr>
        <p:txBody>
          <a:bodyPr/>
          <a:lstStyle/>
          <a:p>
            <a:endParaRPr lang="hu-HU"/>
          </a:p>
        </p:txBody>
      </p:sp>
      <p:sp>
        <p:nvSpPr>
          <p:cNvPr id="27" name="Text 25"/>
          <p:cNvSpPr/>
          <p:nvPr/>
        </p:nvSpPr>
        <p:spPr>
          <a:xfrm>
            <a:off x="3355848" y="3236976"/>
            <a:ext cx="2288195" cy="512064"/>
          </a:xfrm>
          <a:prstGeom prst="rect">
            <a:avLst/>
          </a:prstGeom>
          <a:noFill/>
          <a:ln/>
        </p:spPr>
        <p:txBody>
          <a:bodyPr wrap="square" rtlCol="0" anchor="ctr"/>
          <a:lstStyle/>
          <a:p>
            <a:pPr marL="0" indent="0" algn="ctr">
              <a:buNone/>
            </a:pPr>
            <a:r>
              <a:rPr lang="en-US" sz="1300" dirty="0">
                <a:solidFill>
                  <a:srgbClr val="FFFFFF"/>
                </a:solidFill>
              </a:rPr>
              <a:t>TypeScript</a:t>
            </a:r>
            <a:endParaRPr lang="en-US" sz="1300" dirty="0"/>
          </a:p>
        </p:txBody>
      </p:sp>
      <p:sp>
        <p:nvSpPr>
          <p:cNvPr id="28" name="Shape 26"/>
          <p:cNvSpPr/>
          <p:nvPr/>
        </p:nvSpPr>
        <p:spPr>
          <a:xfrm>
            <a:off x="3355848" y="3858768"/>
            <a:ext cx="2288195" cy="512064"/>
          </a:xfrm>
          <a:prstGeom prst="rect">
            <a:avLst/>
          </a:prstGeom>
          <a:solidFill>
            <a:srgbClr val="0F1117">
              <a:alpha val="70000"/>
            </a:srgbClr>
          </a:solidFill>
          <a:ln w="12700">
            <a:solidFill>
              <a:srgbClr val="2E3250"/>
            </a:solidFill>
            <a:prstDash val="solid"/>
          </a:ln>
        </p:spPr>
        <p:txBody>
          <a:bodyPr/>
          <a:lstStyle/>
          <a:p>
            <a:endParaRPr lang="hu-HU"/>
          </a:p>
        </p:txBody>
      </p:sp>
      <p:sp>
        <p:nvSpPr>
          <p:cNvPr id="29" name="Text 27"/>
          <p:cNvSpPr/>
          <p:nvPr/>
        </p:nvSpPr>
        <p:spPr>
          <a:xfrm>
            <a:off x="3355848" y="3858768"/>
            <a:ext cx="2288195" cy="512064"/>
          </a:xfrm>
          <a:prstGeom prst="rect">
            <a:avLst/>
          </a:prstGeom>
          <a:noFill/>
          <a:ln/>
        </p:spPr>
        <p:txBody>
          <a:bodyPr wrap="square" rtlCol="0" anchor="ctr"/>
          <a:lstStyle/>
          <a:p>
            <a:pPr marL="0" indent="0" algn="ctr">
              <a:buNone/>
            </a:pPr>
            <a:r>
              <a:rPr lang="en-US" sz="1300" dirty="0">
                <a:solidFill>
                  <a:srgbClr val="FFFFFF"/>
                </a:solidFill>
              </a:rPr>
              <a:t>JWT Middleware</a:t>
            </a:r>
            <a:endParaRPr lang="en-US" sz="1300" dirty="0"/>
          </a:p>
        </p:txBody>
      </p:sp>
      <p:sp>
        <p:nvSpPr>
          <p:cNvPr id="30" name="Shape 28"/>
          <p:cNvSpPr/>
          <p:nvPr/>
        </p:nvSpPr>
        <p:spPr>
          <a:xfrm>
            <a:off x="6135624" y="1261872"/>
            <a:ext cx="2816352" cy="3291840"/>
          </a:xfrm>
          <a:prstGeom prst="rect">
            <a:avLst/>
          </a:prstGeom>
          <a:solidFill>
            <a:srgbClr val="34D399">
              <a:alpha val="12000"/>
            </a:srgbClr>
          </a:solidFill>
          <a:ln w="19050">
            <a:solidFill>
              <a:srgbClr val="34D399"/>
            </a:solidFill>
            <a:prstDash val="solid"/>
          </a:ln>
          <a:effectLst>
            <a:outerShdw blurRad="127000" dist="50800" dir="8100000" algn="bl" rotWithShape="0">
              <a:srgbClr val="000000">
                <a:alpha val="35000"/>
              </a:srgbClr>
            </a:outerShdw>
          </a:effectLst>
        </p:spPr>
        <p:txBody>
          <a:bodyPr/>
          <a:lstStyle/>
          <a:p>
            <a:endParaRPr lang="hu-HU"/>
          </a:p>
        </p:txBody>
      </p:sp>
      <p:sp>
        <p:nvSpPr>
          <p:cNvPr id="31" name="Shape 29"/>
          <p:cNvSpPr/>
          <p:nvPr/>
        </p:nvSpPr>
        <p:spPr>
          <a:xfrm>
            <a:off x="6172200" y="1298448"/>
            <a:ext cx="2743200" cy="3218688"/>
          </a:xfrm>
          <a:prstGeom prst="rect">
            <a:avLst/>
          </a:prstGeom>
          <a:solidFill>
            <a:srgbClr val="1A1D2E"/>
          </a:solidFill>
          <a:ln w="15240">
            <a:solidFill>
              <a:srgbClr val="34D399"/>
            </a:solidFill>
            <a:prstDash val="solid"/>
          </a:ln>
          <a:effectLst>
            <a:outerShdw blurRad="127000" dist="50800" dir="8100000" algn="bl" rotWithShape="0">
              <a:srgbClr val="000000">
                <a:alpha val="35000"/>
              </a:srgbClr>
            </a:outerShdw>
          </a:effectLst>
        </p:spPr>
        <p:txBody>
          <a:bodyPr/>
          <a:lstStyle/>
          <a:p>
            <a:endParaRPr lang="hu-HU"/>
          </a:p>
        </p:txBody>
      </p:sp>
      <p:sp>
        <p:nvSpPr>
          <p:cNvPr id="32" name="Shape 30"/>
          <p:cNvSpPr/>
          <p:nvPr/>
        </p:nvSpPr>
        <p:spPr>
          <a:xfrm>
            <a:off x="6172200" y="1298448"/>
            <a:ext cx="2743200" cy="548640"/>
          </a:xfrm>
          <a:prstGeom prst="rect">
            <a:avLst/>
          </a:prstGeom>
          <a:solidFill>
            <a:srgbClr val="34D399"/>
          </a:solidFill>
          <a:ln w="12700">
            <a:solidFill>
              <a:srgbClr val="34D399"/>
            </a:solidFill>
            <a:prstDash val="solid"/>
          </a:ln>
        </p:spPr>
        <p:txBody>
          <a:bodyPr/>
          <a:lstStyle/>
          <a:p>
            <a:endParaRPr lang="hu-HU"/>
          </a:p>
        </p:txBody>
      </p:sp>
      <p:sp>
        <p:nvSpPr>
          <p:cNvPr id="33" name="Text 31"/>
          <p:cNvSpPr/>
          <p:nvPr/>
        </p:nvSpPr>
        <p:spPr>
          <a:xfrm>
            <a:off x="6172200" y="1298448"/>
            <a:ext cx="2743200" cy="548640"/>
          </a:xfrm>
          <a:prstGeom prst="rect">
            <a:avLst/>
          </a:prstGeom>
          <a:noFill/>
          <a:ln/>
        </p:spPr>
        <p:txBody>
          <a:bodyPr wrap="square" lIns="0" tIns="0" rIns="0" bIns="0" rtlCol="0" anchor="ctr"/>
          <a:lstStyle/>
          <a:p>
            <a:pPr marL="0" indent="0" algn="ctr">
              <a:buNone/>
            </a:pPr>
            <a:r>
              <a:rPr lang="en-US" sz="1300" b="1" kern="0" spc="300" dirty="0">
                <a:solidFill>
                  <a:srgbClr val="FFFFFF"/>
                </a:solidFill>
              </a:rPr>
              <a:t>DATABASE</a:t>
            </a:r>
            <a:endParaRPr lang="en-US" sz="1300" dirty="0"/>
          </a:p>
        </p:txBody>
      </p:sp>
      <p:sp>
        <p:nvSpPr>
          <p:cNvPr id="34" name="Shape 32"/>
          <p:cNvSpPr/>
          <p:nvPr/>
        </p:nvSpPr>
        <p:spPr>
          <a:xfrm>
            <a:off x="6281928" y="1993392"/>
            <a:ext cx="2523744" cy="512064"/>
          </a:xfrm>
          <a:prstGeom prst="rect">
            <a:avLst/>
          </a:prstGeom>
          <a:solidFill>
            <a:srgbClr val="0F1117">
              <a:alpha val="70000"/>
            </a:srgbClr>
          </a:solidFill>
          <a:ln w="12700">
            <a:solidFill>
              <a:srgbClr val="2E3250"/>
            </a:solidFill>
            <a:prstDash val="solid"/>
          </a:ln>
        </p:spPr>
        <p:txBody>
          <a:bodyPr/>
          <a:lstStyle/>
          <a:p>
            <a:endParaRPr lang="hu-HU"/>
          </a:p>
        </p:txBody>
      </p:sp>
      <p:sp>
        <p:nvSpPr>
          <p:cNvPr id="35" name="Text 33"/>
          <p:cNvSpPr/>
          <p:nvPr/>
        </p:nvSpPr>
        <p:spPr>
          <a:xfrm>
            <a:off x="6281928" y="1993392"/>
            <a:ext cx="2523744" cy="512064"/>
          </a:xfrm>
          <a:prstGeom prst="rect">
            <a:avLst/>
          </a:prstGeom>
          <a:noFill/>
          <a:ln/>
        </p:spPr>
        <p:txBody>
          <a:bodyPr wrap="square" rtlCol="0" anchor="ctr"/>
          <a:lstStyle/>
          <a:p>
            <a:pPr marL="0" indent="0" algn="ctr">
              <a:buNone/>
            </a:pPr>
            <a:r>
              <a:rPr lang="en-US" sz="1300" dirty="0">
                <a:solidFill>
                  <a:srgbClr val="FFFFFF"/>
                </a:solidFill>
              </a:rPr>
              <a:t>MySQL</a:t>
            </a:r>
            <a:endParaRPr lang="en-US" sz="1300" dirty="0"/>
          </a:p>
        </p:txBody>
      </p:sp>
      <p:sp>
        <p:nvSpPr>
          <p:cNvPr id="36" name="Shape 34"/>
          <p:cNvSpPr/>
          <p:nvPr/>
        </p:nvSpPr>
        <p:spPr>
          <a:xfrm>
            <a:off x="6281928" y="2615184"/>
            <a:ext cx="2523744" cy="512064"/>
          </a:xfrm>
          <a:prstGeom prst="rect">
            <a:avLst/>
          </a:prstGeom>
          <a:solidFill>
            <a:srgbClr val="0F1117">
              <a:alpha val="70000"/>
            </a:srgbClr>
          </a:solidFill>
          <a:ln w="12700">
            <a:solidFill>
              <a:srgbClr val="2E3250"/>
            </a:solidFill>
            <a:prstDash val="solid"/>
          </a:ln>
        </p:spPr>
        <p:txBody>
          <a:bodyPr/>
          <a:lstStyle/>
          <a:p>
            <a:endParaRPr lang="hu-HU"/>
          </a:p>
        </p:txBody>
      </p:sp>
      <p:sp>
        <p:nvSpPr>
          <p:cNvPr id="37" name="Text 35"/>
          <p:cNvSpPr/>
          <p:nvPr/>
        </p:nvSpPr>
        <p:spPr>
          <a:xfrm>
            <a:off x="6281928" y="2615184"/>
            <a:ext cx="2523744" cy="512064"/>
          </a:xfrm>
          <a:prstGeom prst="rect">
            <a:avLst/>
          </a:prstGeom>
          <a:noFill/>
          <a:ln/>
        </p:spPr>
        <p:txBody>
          <a:bodyPr wrap="square" rtlCol="0" anchor="ctr"/>
          <a:lstStyle/>
          <a:p>
            <a:pPr marL="0" indent="0" algn="ctr">
              <a:buNone/>
            </a:pPr>
            <a:r>
              <a:rPr lang="en-US" sz="1300" dirty="0">
                <a:solidFill>
                  <a:srgbClr val="FFFFFF"/>
                </a:solidFill>
              </a:rPr>
              <a:t>5 tables</a:t>
            </a:r>
            <a:endParaRPr lang="en-US" sz="1300" dirty="0"/>
          </a:p>
        </p:txBody>
      </p:sp>
      <p:sp>
        <p:nvSpPr>
          <p:cNvPr id="38" name="Shape 36"/>
          <p:cNvSpPr/>
          <p:nvPr/>
        </p:nvSpPr>
        <p:spPr>
          <a:xfrm>
            <a:off x="6281928" y="3236976"/>
            <a:ext cx="2523744" cy="512064"/>
          </a:xfrm>
          <a:prstGeom prst="rect">
            <a:avLst/>
          </a:prstGeom>
          <a:solidFill>
            <a:srgbClr val="0F1117">
              <a:alpha val="70000"/>
            </a:srgbClr>
          </a:solidFill>
          <a:ln w="12700">
            <a:solidFill>
              <a:srgbClr val="2E3250"/>
            </a:solidFill>
            <a:prstDash val="solid"/>
          </a:ln>
        </p:spPr>
        <p:txBody>
          <a:bodyPr/>
          <a:lstStyle/>
          <a:p>
            <a:endParaRPr lang="hu-HU"/>
          </a:p>
        </p:txBody>
      </p:sp>
      <p:sp>
        <p:nvSpPr>
          <p:cNvPr id="39" name="Text 37"/>
          <p:cNvSpPr/>
          <p:nvPr/>
        </p:nvSpPr>
        <p:spPr>
          <a:xfrm>
            <a:off x="6281928" y="3236976"/>
            <a:ext cx="2523744" cy="512064"/>
          </a:xfrm>
          <a:prstGeom prst="rect">
            <a:avLst/>
          </a:prstGeom>
          <a:noFill/>
          <a:ln/>
        </p:spPr>
        <p:txBody>
          <a:bodyPr wrap="square" rtlCol="0" anchor="ctr"/>
          <a:lstStyle/>
          <a:p>
            <a:pPr marL="0" indent="0" algn="ctr">
              <a:buNone/>
            </a:pPr>
            <a:r>
              <a:rPr lang="en-US" sz="1300" dirty="0">
                <a:solidFill>
                  <a:srgbClr val="FFFFFF"/>
                </a:solidFill>
              </a:rPr>
              <a:t>Relational</a:t>
            </a:r>
            <a:endParaRPr lang="en-US" sz="1300" dirty="0"/>
          </a:p>
        </p:txBody>
      </p:sp>
      <p:sp>
        <p:nvSpPr>
          <p:cNvPr id="40" name="Shape 38"/>
          <p:cNvSpPr/>
          <p:nvPr/>
        </p:nvSpPr>
        <p:spPr>
          <a:xfrm>
            <a:off x="6281928" y="3858768"/>
            <a:ext cx="2523744" cy="512064"/>
          </a:xfrm>
          <a:prstGeom prst="rect">
            <a:avLst/>
          </a:prstGeom>
          <a:solidFill>
            <a:srgbClr val="0F1117">
              <a:alpha val="70000"/>
            </a:srgbClr>
          </a:solidFill>
          <a:ln w="12700">
            <a:solidFill>
              <a:srgbClr val="2E3250"/>
            </a:solidFill>
            <a:prstDash val="solid"/>
          </a:ln>
        </p:spPr>
        <p:txBody>
          <a:bodyPr/>
          <a:lstStyle/>
          <a:p>
            <a:endParaRPr lang="hu-HU"/>
          </a:p>
        </p:txBody>
      </p:sp>
      <p:sp>
        <p:nvSpPr>
          <p:cNvPr id="41" name="Text 39"/>
          <p:cNvSpPr/>
          <p:nvPr/>
        </p:nvSpPr>
        <p:spPr>
          <a:xfrm>
            <a:off x="6281928" y="3858768"/>
            <a:ext cx="2523744" cy="512064"/>
          </a:xfrm>
          <a:prstGeom prst="rect">
            <a:avLst/>
          </a:prstGeom>
          <a:noFill/>
          <a:ln/>
        </p:spPr>
        <p:txBody>
          <a:bodyPr wrap="square" rtlCol="0" anchor="ctr"/>
          <a:lstStyle/>
          <a:p>
            <a:pPr marL="0" indent="0" algn="ctr">
              <a:buNone/>
            </a:pPr>
            <a:r>
              <a:rPr lang="en-US" sz="1300" dirty="0">
                <a:solidFill>
                  <a:srgbClr val="FFFFFF"/>
                </a:solidFill>
              </a:rPr>
              <a:t>bcrypt hashed</a:t>
            </a:r>
            <a:endParaRPr lang="en-US" sz="1300" dirty="0"/>
          </a:p>
        </p:txBody>
      </p:sp>
      <p:sp>
        <p:nvSpPr>
          <p:cNvPr id="42" name="Shape 40"/>
          <p:cNvSpPr/>
          <p:nvPr/>
        </p:nvSpPr>
        <p:spPr>
          <a:xfrm>
            <a:off x="2862072" y="2834640"/>
            <a:ext cx="365760" cy="109728"/>
          </a:xfrm>
          <a:prstGeom prst="rect">
            <a:avLst/>
          </a:prstGeom>
          <a:solidFill>
            <a:srgbClr val="8892A4"/>
          </a:solidFill>
          <a:ln w="12700">
            <a:solidFill>
              <a:srgbClr val="8892A4"/>
            </a:solidFill>
            <a:prstDash val="solid"/>
          </a:ln>
        </p:spPr>
        <p:txBody>
          <a:bodyPr/>
          <a:lstStyle/>
          <a:p>
            <a:endParaRPr lang="hu-HU"/>
          </a:p>
        </p:txBody>
      </p:sp>
      <p:sp>
        <p:nvSpPr>
          <p:cNvPr id="43" name="Text 41"/>
          <p:cNvSpPr/>
          <p:nvPr/>
        </p:nvSpPr>
        <p:spPr>
          <a:xfrm>
            <a:off x="2734056" y="2592391"/>
            <a:ext cx="640080" cy="228600"/>
          </a:xfrm>
          <a:prstGeom prst="rect">
            <a:avLst/>
          </a:prstGeom>
          <a:noFill/>
          <a:ln/>
        </p:spPr>
        <p:txBody>
          <a:bodyPr wrap="square" rtlCol="0" anchor="ctr"/>
          <a:lstStyle/>
          <a:p>
            <a:pPr marL="0" indent="0" algn="ctr">
              <a:buNone/>
            </a:pPr>
            <a:r>
              <a:rPr lang="en-US" sz="800" i="1" dirty="0">
                <a:solidFill>
                  <a:srgbClr val="8892A4"/>
                </a:solidFill>
              </a:rPr>
              <a:t>JSON / HTTP</a:t>
            </a:r>
            <a:endParaRPr lang="en-US" sz="800" dirty="0"/>
          </a:p>
        </p:txBody>
      </p:sp>
      <p:sp>
        <p:nvSpPr>
          <p:cNvPr id="44" name="Shape 42"/>
          <p:cNvSpPr/>
          <p:nvPr/>
        </p:nvSpPr>
        <p:spPr>
          <a:xfrm>
            <a:off x="5781324" y="2834640"/>
            <a:ext cx="372588" cy="109728"/>
          </a:xfrm>
          <a:prstGeom prst="rect">
            <a:avLst/>
          </a:prstGeom>
          <a:solidFill>
            <a:srgbClr val="8892A4"/>
          </a:solidFill>
          <a:ln w="12700">
            <a:solidFill>
              <a:srgbClr val="8892A4"/>
            </a:solidFill>
            <a:prstDash val="solid"/>
          </a:ln>
        </p:spPr>
        <p:txBody>
          <a:bodyPr/>
          <a:lstStyle/>
          <a:p>
            <a:endParaRPr lang="hu-HU"/>
          </a:p>
        </p:txBody>
      </p:sp>
      <p:sp>
        <p:nvSpPr>
          <p:cNvPr id="45" name="Text 43"/>
          <p:cNvSpPr/>
          <p:nvPr/>
        </p:nvSpPr>
        <p:spPr>
          <a:xfrm>
            <a:off x="5755667" y="2883030"/>
            <a:ext cx="359179" cy="228600"/>
          </a:xfrm>
          <a:prstGeom prst="rect">
            <a:avLst/>
          </a:prstGeom>
          <a:noFill/>
          <a:ln/>
        </p:spPr>
        <p:txBody>
          <a:bodyPr wrap="square" rtlCol="0" anchor="ctr"/>
          <a:lstStyle/>
          <a:p>
            <a:pPr marL="0" indent="0" algn="ctr">
              <a:buNone/>
            </a:pPr>
            <a:r>
              <a:rPr lang="en-US" sz="800" i="1" dirty="0">
                <a:solidFill>
                  <a:srgbClr val="8892A4"/>
                </a:solidFill>
              </a:rPr>
              <a:t>SQL</a:t>
            </a:r>
            <a:endParaRPr lang="en-US" sz="800" dirty="0"/>
          </a:p>
        </p:txBody>
      </p:sp>
      <p:sp>
        <p:nvSpPr>
          <p:cNvPr id="46" name="Shape 44"/>
          <p:cNvSpPr/>
          <p:nvPr/>
        </p:nvSpPr>
        <p:spPr>
          <a:xfrm>
            <a:off x="320040" y="4663440"/>
            <a:ext cx="8503920" cy="347472"/>
          </a:xfrm>
          <a:prstGeom prst="rect">
            <a:avLst/>
          </a:prstGeom>
          <a:solidFill>
            <a:srgbClr val="1A1D2E"/>
          </a:solidFill>
          <a:ln w="12700">
            <a:solidFill>
              <a:srgbClr val="2E3250"/>
            </a:solidFill>
            <a:prstDash val="solid"/>
          </a:ln>
        </p:spPr>
        <p:txBody>
          <a:bodyPr/>
          <a:lstStyle/>
          <a:p>
            <a:endParaRPr lang="hu-HU"/>
          </a:p>
        </p:txBody>
      </p:sp>
      <p:sp>
        <p:nvSpPr>
          <p:cNvPr id="47" name="Text 45"/>
          <p:cNvSpPr/>
          <p:nvPr/>
        </p:nvSpPr>
        <p:spPr>
          <a:xfrm>
            <a:off x="411480" y="4663440"/>
            <a:ext cx="8321040" cy="347472"/>
          </a:xfrm>
          <a:prstGeom prst="rect">
            <a:avLst/>
          </a:prstGeom>
          <a:noFill/>
          <a:ln/>
        </p:spPr>
        <p:txBody>
          <a:bodyPr wrap="square" rtlCol="0" anchor="ctr"/>
          <a:lstStyle/>
          <a:p>
            <a:pPr marL="0" indent="0" algn="ctr">
              <a:buNone/>
            </a:pPr>
            <a:r>
              <a:rPr lang="en-US" sz="1050" dirty="0">
                <a:solidFill>
                  <a:srgbClr val="8892A4"/>
                </a:solidFill>
              </a:rPr>
              <a:t>Frontend → REST API calls with Bearer token  ·  Backend → MySQL queries  ·  JSON responses throughout</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117"/>
        </a:solidFill>
        <a:effectLst/>
      </p:bgPr>
    </p:bg>
    <p:spTree>
      <p:nvGrpSpPr>
        <p:cNvPr id="1" name=""/>
        <p:cNvGrpSpPr/>
        <p:nvPr/>
      </p:nvGrpSpPr>
      <p:grpSpPr>
        <a:xfrm>
          <a:off x="0" y="0"/>
          <a:ext cx="0" cy="0"/>
          <a:chOff x="0" y="0"/>
          <a:chExt cx="0" cy="0"/>
        </a:xfrm>
      </p:grpSpPr>
      <p:sp>
        <p:nvSpPr>
          <p:cNvPr id="2" name="Shape 0"/>
          <p:cNvSpPr/>
          <p:nvPr/>
        </p:nvSpPr>
        <p:spPr>
          <a:xfrm>
            <a:off x="0" y="0"/>
            <a:ext cx="4114800" cy="5143500"/>
          </a:xfrm>
          <a:prstGeom prst="rect">
            <a:avLst/>
          </a:prstGeom>
          <a:solidFill>
            <a:srgbClr val="67E8F9">
              <a:alpha val="90000"/>
            </a:srgbClr>
          </a:solidFill>
          <a:ln w="12700">
            <a:solidFill>
              <a:srgbClr val="67E8F9">
                <a:alpha val="90000"/>
              </a:srgbClr>
            </a:solidFill>
            <a:prstDash val="solid"/>
          </a:ln>
        </p:spPr>
        <p:txBody>
          <a:bodyPr/>
          <a:lstStyle/>
          <a:p>
            <a:endParaRPr lang="hu-HU"/>
          </a:p>
        </p:txBody>
      </p:sp>
      <p:sp>
        <p:nvSpPr>
          <p:cNvPr id="3" name="Shape 1"/>
          <p:cNvSpPr/>
          <p:nvPr/>
        </p:nvSpPr>
        <p:spPr>
          <a:xfrm>
            <a:off x="4114800" y="0"/>
            <a:ext cx="54864" cy="5143500"/>
          </a:xfrm>
          <a:prstGeom prst="rect">
            <a:avLst/>
          </a:prstGeom>
          <a:solidFill>
            <a:srgbClr val="67E8F9"/>
          </a:solidFill>
          <a:ln w="12700">
            <a:solidFill>
              <a:srgbClr val="67E8F9"/>
            </a:solidFill>
            <a:prstDash val="solid"/>
          </a:ln>
        </p:spPr>
        <p:txBody>
          <a:bodyPr/>
          <a:lstStyle/>
          <a:p>
            <a:endParaRPr lang="hu-HU"/>
          </a:p>
        </p:txBody>
      </p:sp>
      <p:sp>
        <p:nvSpPr>
          <p:cNvPr id="4" name="Shape 2"/>
          <p:cNvSpPr/>
          <p:nvPr/>
        </p:nvSpPr>
        <p:spPr>
          <a:xfrm>
            <a:off x="640080" y="548640"/>
            <a:ext cx="2834640" cy="2834640"/>
          </a:xfrm>
          <a:prstGeom prst="ellipse">
            <a:avLst/>
          </a:prstGeom>
          <a:solidFill>
            <a:srgbClr val="0F1117"/>
          </a:solidFill>
          <a:ln w="19050">
            <a:solidFill>
              <a:srgbClr val="67E8F9">
                <a:alpha val="50000"/>
              </a:srgbClr>
            </a:solidFill>
            <a:prstDash val="solid"/>
          </a:ln>
        </p:spPr>
        <p:txBody>
          <a:bodyPr/>
          <a:lstStyle/>
          <a:p>
            <a:endParaRPr lang="hu-HU"/>
          </a:p>
        </p:txBody>
      </p:sp>
      <p:sp>
        <p:nvSpPr>
          <p:cNvPr id="5" name="Shape 3"/>
          <p:cNvSpPr/>
          <p:nvPr/>
        </p:nvSpPr>
        <p:spPr>
          <a:xfrm>
            <a:off x="640080" y="548640"/>
            <a:ext cx="2834640" cy="2834640"/>
          </a:xfrm>
          <a:prstGeom prst="ellipse">
            <a:avLst/>
          </a:prstGeom>
          <a:solidFill>
            <a:srgbClr val="0F1117">
              <a:alpha val="60000"/>
            </a:srgbClr>
          </a:solidFill>
          <a:ln w="12700">
            <a:solidFill>
              <a:srgbClr val="67E8F9"/>
            </a:solidFill>
            <a:prstDash val="solid"/>
          </a:ln>
        </p:spPr>
        <p:txBody>
          <a:bodyPr/>
          <a:lstStyle/>
          <a:p>
            <a:endParaRPr lang="hu-HU"/>
          </a:p>
        </p:txBody>
      </p:sp>
      <p:sp>
        <p:nvSpPr>
          <p:cNvPr id="6" name="Shape 4"/>
          <p:cNvSpPr/>
          <p:nvPr/>
        </p:nvSpPr>
        <p:spPr>
          <a:xfrm>
            <a:off x="1417320" y="1325880"/>
            <a:ext cx="1280160" cy="1280160"/>
          </a:xfrm>
          <a:prstGeom prst="ellipse">
            <a:avLst/>
          </a:prstGeom>
          <a:solidFill>
            <a:srgbClr val="67E8F9">
              <a:alpha val="85000"/>
            </a:srgbClr>
          </a:solidFill>
          <a:ln w="12700">
            <a:solidFill>
              <a:srgbClr val="67E8F9"/>
            </a:solidFill>
            <a:prstDash val="solid"/>
          </a:ln>
        </p:spPr>
        <p:txBody>
          <a:bodyPr/>
          <a:lstStyle/>
          <a:p>
            <a:endParaRPr lang="hu-HU"/>
          </a:p>
        </p:txBody>
      </p:sp>
      <p:sp>
        <p:nvSpPr>
          <p:cNvPr id="7" name="Text 5"/>
          <p:cNvSpPr/>
          <p:nvPr/>
        </p:nvSpPr>
        <p:spPr>
          <a:xfrm>
            <a:off x="640080" y="548640"/>
            <a:ext cx="2834640" cy="2834640"/>
          </a:xfrm>
          <a:prstGeom prst="rect">
            <a:avLst/>
          </a:prstGeom>
          <a:noFill/>
          <a:ln/>
        </p:spPr>
        <p:txBody>
          <a:bodyPr wrap="square" rtlCol="0" anchor="ctr"/>
          <a:lstStyle/>
          <a:p>
            <a:pPr marL="0" indent="0" algn="ctr">
              <a:buNone/>
            </a:pPr>
            <a:r>
              <a:rPr lang="en-US" sz="7200" dirty="0">
                <a:solidFill>
                  <a:srgbClr val="67E8F9"/>
                </a:solidFill>
              </a:rPr>
              <a:t>⚛</a:t>
            </a:r>
            <a:endParaRPr lang="en-US" sz="7200" dirty="0"/>
          </a:p>
        </p:txBody>
      </p:sp>
      <p:sp>
        <p:nvSpPr>
          <p:cNvPr id="8" name="Shape 6"/>
          <p:cNvSpPr/>
          <p:nvPr/>
        </p:nvSpPr>
        <p:spPr>
          <a:xfrm>
            <a:off x="4389120" y="1371600"/>
            <a:ext cx="2377440" cy="365760"/>
          </a:xfrm>
          <a:prstGeom prst="rect">
            <a:avLst/>
          </a:prstGeom>
          <a:solidFill>
            <a:srgbClr val="67E8F9"/>
          </a:solidFill>
          <a:ln w="12700">
            <a:solidFill>
              <a:srgbClr val="67E8F9"/>
            </a:solidFill>
            <a:prstDash val="solid"/>
          </a:ln>
        </p:spPr>
        <p:txBody>
          <a:bodyPr/>
          <a:lstStyle/>
          <a:p>
            <a:endParaRPr lang="hu-HU"/>
          </a:p>
        </p:txBody>
      </p:sp>
      <p:sp>
        <p:nvSpPr>
          <p:cNvPr id="9" name="Text 7"/>
          <p:cNvSpPr/>
          <p:nvPr/>
        </p:nvSpPr>
        <p:spPr>
          <a:xfrm>
            <a:off x="4389120" y="1371600"/>
            <a:ext cx="2377440" cy="365760"/>
          </a:xfrm>
          <a:prstGeom prst="rect">
            <a:avLst/>
          </a:prstGeom>
          <a:noFill/>
          <a:ln/>
        </p:spPr>
        <p:txBody>
          <a:bodyPr wrap="square" lIns="0" tIns="0" rIns="0" bIns="0" rtlCol="0" anchor="ctr"/>
          <a:lstStyle/>
          <a:p>
            <a:pPr marL="0" indent="0" algn="ctr">
              <a:buNone/>
            </a:pPr>
            <a:r>
              <a:rPr lang="en-US" sz="1100" b="1" kern="0" spc="400" dirty="0">
                <a:solidFill>
                  <a:srgbClr val="0F1117"/>
                </a:solidFill>
              </a:rPr>
              <a:t>SECTION  01</a:t>
            </a:r>
            <a:endParaRPr lang="en-US" sz="1100" dirty="0"/>
          </a:p>
        </p:txBody>
      </p:sp>
      <p:sp>
        <p:nvSpPr>
          <p:cNvPr id="10" name="Text 8"/>
          <p:cNvSpPr/>
          <p:nvPr/>
        </p:nvSpPr>
        <p:spPr>
          <a:xfrm>
            <a:off x="4297680" y="1874520"/>
            <a:ext cx="4572000" cy="1188720"/>
          </a:xfrm>
          <a:prstGeom prst="rect">
            <a:avLst/>
          </a:prstGeom>
          <a:noFill/>
          <a:ln/>
        </p:spPr>
        <p:txBody>
          <a:bodyPr wrap="square" rtlCol="0" anchor="ctr"/>
          <a:lstStyle/>
          <a:p>
            <a:pPr marL="0" indent="0">
              <a:buNone/>
            </a:pPr>
            <a:r>
              <a:rPr lang="en-US" sz="5800" b="1" dirty="0">
                <a:solidFill>
                  <a:srgbClr val="FFFFFF"/>
                </a:solidFill>
                <a:latin typeface="Georgia" pitchFamily="34" charset="0"/>
                <a:ea typeface="Georgia" pitchFamily="34" charset="-122"/>
                <a:cs typeface="Georgia" pitchFamily="34" charset="-120"/>
              </a:rPr>
              <a:t>Frontend</a:t>
            </a:r>
            <a:endParaRPr lang="en-US" sz="5800" dirty="0"/>
          </a:p>
        </p:txBody>
      </p:sp>
      <p:sp>
        <p:nvSpPr>
          <p:cNvPr id="11" name="Text 9"/>
          <p:cNvSpPr/>
          <p:nvPr/>
        </p:nvSpPr>
        <p:spPr>
          <a:xfrm>
            <a:off x="4343400" y="3154680"/>
            <a:ext cx="4572000" cy="411480"/>
          </a:xfrm>
          <a:prstGeom prst="rect">
            <a:avLst/>
          </a:prstGeom>
          <a:noFill/>
          <a:ln/>
        </p:spPr>
        <p:txBody>
          <a:bodyPr wrap="square" rtlCol="0" anchor="ctr"/>
          <a:lstStyle/>
          <a:p>
            <a:pPr marL="0" indent="0">
              <a:buNone/>
            </a:pPr>
            <a:r>
              <a:rPr lang="en-US" sz="1200" dirty="0">
                <a:solidFill>
                  <a:srgbClr val="67E8F9"/>
                </a:solidFill>
              </a:rPr>
              <a:t>React 19  ·  Vite  ·  Context API  ·  React Router v7</a:t>
            </a:r>
            <a:endParaRPr lang="en-US" sz="1200" dirty="0"/>
          </a:p>
        </p:txBody>
      </p:sp>
      <p:sp>
        <p:nvSpPr>
          <p:cNvPr id="12" name="Shape 10"/>
          <p:cNvSpPr/>
          <p:nvPr/>
        </p:nvSpPr>
        <p:spPr>
          <a:xfrm>
            <a:off x="4343400" y="4023360"/>
            <a:ext cx="1417320" cy="868680"/>
          </a:xfrm>
          <a:prstGeom prst="rect">
            <a:avLst/>
          </a:prstGeom>
          <a:solidFill>
            <a:srgbClr val="1A1D2E"/>
          </a:solidFill>
          <a:ln w="12700">
            <a:solidFill>
              <a:srgbClr val="2E3250"/>
            </a:solidFill>
            <a:prstDash val="solid"/>
          </a:ln>
        </p:spPr>
        <p:txBody>
          <a:bodyPr/>
          <a:lstStyle/>
          <a:p>
            <a:endParaRPr lang="hu-HU"/>
          </a:p>
        </p:txBody>
      </p:sp>
      <p:sp>
        <p:nvSpPr>
          <p:cNvPr id="13" name="Text 11"/>
          <p:cNvSpPr/>
          <p:nvPr/>
        </p:nvSpPr>
        <p:spPr>
          <a:xfrm>
            <a:off x="4343400" y="4041648"/>
            <a:ext cx="1417320" cy="475488"/>
          </a:xfrm>
          <a:prstGeom prst="rect">
            <a:avLst/>
          </a:prstGeom>
          <a:noFill/>
          <a:ln/>
        </p:spPr>
        <p:txBody>
          <a:bodyPr wrap="square" rtlCol="0" anchor="ctr"/>
          <a:lstStyle/>
          <a:p>
            <a:pPr marL="0" indent="0" algn="ctr">
              <a:buNone/>
            </a:pPr>
            <a:r>
              <a:rPr lang="en-US" sz="2800" b="1" dirty="0">
                <a:solidFill>
                  <a:srgbClr val="67E8F9"/>
                </a:solidFill>
                <a:latin typeface="Georgia" pitchFamily="34" charset="0"/>
                <a:ea typeface="Georgia" pitchFamily="34" charset="-122"/>
                <a:cs typeface="Georgia" pitchFamily="34" charset="-120"/>
              </a:rPr>
              <a:t>14</a:t>
            </a:r>
            <a:endParaRPr lang="en-US" sz="2800" dirty="0"/>
          </a:p>
        </p:txBody>
      </p:sp>
      <p:sp>
        <p:nvSpPr>
          <p:cNvPr id="14" name="Text 12"/>
          <p:cNvSpPr/>
          <p:nvPr/>
        </p:nvSpPr>
        <p:spPr>
          <a:xfrm>
            <a:off x="4343400" y="4517136"/>
            <a:ext cx="1417320" cy="320040"/>
          </a:xfrm>
          <a:prstGeom prst="rect">
            <a:avLst/>
          </a:prstGeom>
          <a:noFill/>
          <a:ln/>
        </p:spPr>
        <p:txBody>
          <a:bodyPr wrap="square" rtlCol="0" anchor="ctr"/>
          <a:lstStyle/>
          <a:p>
            <a:pPr marL="0" indent="0" algn="ctr">
              <a:buNone/>
            </a:pPr>
            <a:r>
              <a:rPr lang="en-US" sz="900" dirty="0">
                <a:solidFill>
                  <a:srgbClr val="8892A4"/>
                </a:solidFill>
              </a:rPr>
              <a:t>Pages &amp; Routes</a:t>
            </a:r>
            <a:endParaRPr lang="en-US" sz="900" dirty="0"/>
          </a:p>
        </p:txBody>
      </p:sp>
      <p:sp>
        <p:nvSpPr>
          <p:cNvPr id="15" name="Shape 13"/>
          <p:cNvSpPr/>
          <p:nvPr/>
        </p:nvSpPr>
        <p:spPr>
          <a:xfrm>
            <a:off x="5897880" y="4023360"/>
            <a:ext cx="1417320" cy="868680"/>
          </a:xfrm>
          <a:prstGeom prst="rect">
            <a:avLst/>
          </a:prstGeom>
          <a:solidFill>
            <a:srgbClr val="1A1D2E"/>
          </a:solidFill>
          <a:ln w="12700">
            <a:solidFill>
              <a:srgbClr val="2E3250"/>
            </a:solidFill>
            <a:prstDash val="solid"/>
          </a:ln>
        </p:spPr>
        <p:txBody>
          <a:bodyPr/>
          <a:lstStyle/>
          <a:p>
            <a:endParaRPr lang="hu-HU"/>
          </a:p>
        </p:txBody>
      </p:sp>
      <p:sp>
        <p:nvSpPr>
          <p:cNvPr id="16" name="Text 14"/>
          <p:cNvSpPr/>
          <p:nvPr/>
        </p:nvSpPr>
        <p:spPr>
          <a:xfrm>
            <a:off x="5897880" y="4041648"/>
            <a:ext cx="1417320" cy="475488"/>
          </a:xfrm>
          <a:prstGeom prst="rect">
            <a:avLst/>
          </a:prstGeom>
          <a:noFill/>
          <a:ln/>
        </p:spPr>
        <p:txBody>
          <a:bodyPr wrap="square" rtlCol="0" anchor="ctr"/>
          <a:lstStyle/>
          <a:p>
            <a:pPr marL="0" indent="0" algn="ctr">
              <a:buNone/>
            </a:pPr>
            <a:r>
              <a:rPr lang="en-US" sz="2800" b="1" dirty="0">
                <a:solidFill>
                  <a:srgbClr val="67E8F9"/>
                </a:solidFill>
                <a:latin typeface="Georgia" pitchFamily="34" charset="0"/>
                <a:ea typeface="Georgia" pitchFamily="34" charset="-122"/>
                <a:cs typeface="Georgia" pitchFamily="34" charset="-120"/>
              </a:rPr>
              <a:t>5</a:t>
            </a:r>
            <a:endParaRPr lang="en-US" sz="2800" dirty="0"/>
          </a:p>
        </p:txBody>
      </p:sp>
      <p:sp>
        <p:nvSpPr>
          <p:cNvPr id="17" name="Text 15"/>
          <p:cNvSpPr/>
          <p:nvPr/>
        </p:nvSpPr>
        <p:spPr>
          <a:xfrm>
            <a:off x="5897880" y="4517136"/>
            <a:ext cx="1417320" cy="320040"/>
          </a:xfrm>
          <a:prstGeom prst="rect">
            <a:avLst/>
          </a:prstGeom>
          <a:noFill/>
          <a:ln/>
        </p:spPr>
        <p:txBody>
          <a:bodyPr wrap="square" rtlCol="0" anchor="ctr"/>
          <a:lstStyle/>
          <a:p>
            <a:pPr marL="0" indent="0" algn="ctr">
              <a:buNone/>
            </a:pPr>
            <a:r>
              <a:rPr lang="en-US" sz="900" dirty="0">
                <a:solidFill>
                  <a:srgbClr val="8892A4"/>
                </a:solidFill>
              </a:rPr>
              <a:t>API Modules</a:t>
            </a:r>
            <a:endParaRPr lang="en-US" sz="900" dirty="0"/>
          </a:p>
        </p:txBody>
      </p:sp>
      <p:sp>
        <p:nvSpPr>
          <p:cNvPr id="18" name="Shape 16"/>
          <p:cNvSpPr/>
          <p:nvPr/>
        </p:nvSpPr>
        <p:spPr>
          <a:xfrm>
            <a:off x="7452360" y="4023360"/>
            <a:ext cx="1417320" cy="868680"/>
          </a:xfrm>
          <a:prstGeom prst="rect">
            <a:avLst/>
          </a:prstGeom>
          <a:solidFill>
            <a:srgbClr val="1A1D2E"/>
          </a:solidFill>
          <a:ln w="12700">
            <a:solidFill>
              <a:srgbClr val="2E3250"/>
            </a:solidFill>
            <a:prstDash val="solid"/>
          </a:ln>
        </p:spPr>
        <p:txBody>
          <a:bodyPr/>
          <a:lstStyle/>
          <a:p>
            <a:endParaRPr lang="hu-HU"/>
          </a:p>
        </p:txBody>
      </p:sp>
      <p:sp>
        <p:nvSpPr>
          <p:cNvPr id="19" name="Text 17"/>
          <p:cNvSpPr/>
          <p:nvPr/>
        </p:nvSpPr>
        <p:spPr>
          <a:xfrm>
            <a:off x="7452360" y="4041648"/>
            <a:ext cx="1417320" cy="475488"/>
          </a:xfrm>
          <a:prstGeom prst="rect">
            <a:avLst/>
          </a:prstGeom>
          <a:noFill/>
          <a:ln/>
        </p:spPr>
        <p:txBody>
          <a:bodyPr wrap="square" rtlCol="0" anchor="ctr"/>
          <a:lstStyle/>
          <a:p>
            <a:pPr marL="0" indent="0" algn="ctr">
              <a:buNone/>
            </a:pPr>
            <a:r>
              <a:rPr lang="en-US" sz="2800" b="1" dirty="0">
                <a:solidFill>
                  <a:srgbClr val="67E8F9"/>
                </a:solidFill>
                <a:latin typeface="Georgia" pitchFamily="34" charset="0"/>
                <a:ea typeface="Georgia" pitchFamily="34" charset="-122"/>
                <a:cs typeface="Georgia" pitchFamily="34" charset="-120"/>
              </a:rPr>
              <a:t>2</a:t>
            </a:r>
            <a:endParaRPr lang="en-US" sz="2800" dirty="0"/>
          </a:p>
        </p:txBody>
      </p:sp>
      <p:sp>
        <p:nvSpPr>
          <p:cNvPr id="20" name="Text 18"/>
          <p:cNvSpPr/>
          <p:nvPr/>
        </p:nvSpPr>
        <p:spPr>
          <a:xfrm>
            <a:off x="7452360" y="4517136"/>
            <a:ext cx="1417320" cy="320040"/>
          </a:xfrm>
          <a:prstGeom prst="rect">
            <a:avLst/>
          </a:prstGeom>
          <a:noFill/>
          <a:ln/>
        </p:spPr>
        <p:txBody>
          <a:bodyPr wrap="square" rtlCol="0" anchor="ctr"/>
          <a:lstStyle/>
          <a:p>
            <a:pPr marL="0" indent="0" algn="ctr">
              <a:buNone/>
            </a:pPr>
            <a:r>
              <a:rPr lang="en-US" sz="900" dirty="0">
                <a:solidFill>
                  <a:srgbClr val="8892A4"/>
                </a:solidFill>
              </a:rPr>
              <a:t>Context Providers</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117"/>
        </a:solidFill>
        <a:effectLst/>
      </p:bgPr>
    </p:bg>
    <p:spTree>
      <p:nvGrpSpPr>
        <p:cNvPr id="1" name=""/>
        <p:cNvGrpSpPr/>
        <p:nvPr/>
      </p:nvGrpSpPr>
      <p:grpSpPr>
        <a:xfrm>
          <a:off x="0" y="0"/>
          <a:ext cx="0" cy="0"/>
          <a:chOff x="0" y="0"/>
          <a:chExt cx="0" cy="0"/>
        </a:xfrm>
      </p:grpSpPr>
      <p:sp>
        <p:nvSpPr>
          <p:cNvPr id="2" name="Shape 0"/>
          <p:cNvSpPr/>
          <p:nvPr/>
        </p:nvSpPr>
        <p:spPr>
          <a:xfrm>
            <a:off x="0" y="0"/>
            <a:ext cx="9144000" cy="1078992"/>
          </a:xfrm>
          <a:prstGeom prst="rect">
            <a:avLst/>
          </a:prstGeom>
          <a:solidFill>
            <a:srgbClr val="1A1D2E"/>
          </a:solidFill>
          <a:ln w="12700">
            <a:solidFill>
              <a:srgbClr val="1A1D2E"/>
            </a:solidFill>
            <a:prstDash val="solid"/>
          </a:ln>
        </p:spPr>
        <p:txBody>
          <a:bodyPr/>
          <a:lstStyle/>
          <a:p>
            <a:endParaRPr lang="hu-HU"/>
          </a:p>
        </p:txBody>
      </p:sp>
      <p:sp>
        <p:nvSpPr>
          <p:cNvPr id="3" name="Shape 1"/>
          <p:cNvSpPr/>
          <p:nvPr/>
        </p:nvSpPr>
        <p:spPr>
          <a:xfrm>
            <a:off x="0" y="1078992"/>
            <a:ext cx="9144000" cy="36576"/>
          </a:xfrm>
          <a:prstGeom prst="rect">
            <a:avLst/>
          </a:prstGeom>
          <a:solidFill>
            <a:srgbClr val="E07B54"/>
          </a:solidFill>
          <a:ln w="12700">
            <a:solidFill>
              <a:srgbClr val="E07B54"/>
            </a:solidFill>
            <a:prstDash val="solid"/>
          </a:ln>
        </p:spPr>
        <p:txBody>
          <a:bodyPr/>
          <a:lstStyle/>
          <a:p>
            <a:endParaRPr lang="hu-HU"/>
          </a:p>
        </p:txBody>
      </p:sp>
      <p:sp>
        <p:nvSpPr>
          <p:cNvPr id="4" name="Text 2"/>
          <p:cNvSpPr/>
          <p:nvPr/>
        </p:nvSpPr>
        <p:spPr>
          <a:xfrm>
            <a:off x="502920" y="73152"/>
            <a:ext cx="6400800" cy="640080"/>
          </a:xfrm>
          <a:prstGeom prst="rect">
            <a:avLst/>
          </a:prstGeom>
          <a:noFill/>
          <a:ln/>
        </p:spPr>
        <p:txBody>
          <a:bodyPr wrap="square" rtlCol="0" anchor="ctr"/>
          <a:lstStyle/>
          <a:p>
            <a:pPr marL="0" indent="0">
              <a:buNone/>
            </a:pPr>
            <a:r>
              <a:rPr lang="en-US" sz="3200" b="1" dirty="0">
                <a:solidFill>
                  <a:srgbClr val="FFFFFF"/>
                </a:solidFill>
                <a:latin typeface="Georgia" pitchFamily="34" charset="0"/>
                <a:ea typeface="Georgia" pitchFamily="34" charset="-122"/>
                <a:cs typeface="Georgia" pitchFamily="34" charset="-120"/>
              </a:rPr>
              <a:t>Frontend Structure</a:t>
            </a:r>
            <a:endParaRPr lang="en-US" sz="3200" dirty="0"/>
          </a:p>
        </p:txBody>
      </p:sp>
      <p:sp>
        <p:nvSpPr>
          <p:cNvPr id="5" name="Text 3"/>
          <p:cNvSpPr/>
          <p:nvPr/>
        </p:nvSpPr>
        <p:spPr>
          <a:xfrm>
            <a:off x="502920" y="713232"/>
            <a:ext cx="7772400" cy="329184"/>
          </a:xfrm>
          <a:prstGeom prst="rect">
            <a:avLst/>
          </a:prstGeom>
          <a:noFill/>
          <a:ln/>
        </p:spPr>
        <p:txBody>
          <a:bodyPr wrap="square" rtlCol="0" anchor="ctr"/>
          <a:lstStyle/>
          <a:p>
            <a:pPr marL="0" indent="0">
              <a:buNone/>
            </a:pPr>
            <a:r>
              <a:rPr lang="en-US" sz="1300" dirty="0">
                <a:solidFill>
                  <a:srgbClr val="8892A4"/>
                </a:solidFill>
              </a:rPr>
              <a:t>File organization &amp; routing</a:t>
            </a:r>
            <a:endParaRPr lang="en-US" sz="1300" dirty="0"/>
          </a:p>
        </p:txBody>
      </p:sp>
      <p:sp>
        <p:nvSpPr>
          <p:cNvPr id="6" name="Shape 4"/>
          <p:cNvSpPr/>
          <p:nvPr/>
        </p:nvSpPr>
        <p:spPr>
          <a:xfrm>
            <a:off x="5406" y="1133856"/>
            <a:ext cx="3474720" cy="3657600"/>
          </a:xfrm>
          <a:prstGeom prst="rect">
            <a:avLst/>
          </a:prstGeom>
          <a:solidFill>
            <a:srgbClr val="1A1D2E"/>
          </a:solidFill>
          <a:ln w="15240">
            <a:solidFill>
              <a:srgbClr val="67E8F9"/>
            </a:solidFill>
            <a:prstDash val="solid"/>
          </a:ln>
          <a:effectLst>
            <a:outerShdw blurRad="127000" dist="50800" dir="8100000" algn="bl" rotWithShape="0">
              <a:srgbClr val="000000">
                <a:alpha val="35000"/>
              </a:srgbClr>
            </a:outerShdw>
          </a:effectLst>
        </p:spPr>
        <p:txBody>
          <a:bodyPr/>
          <a:lstStyle/>
          <a:p>
            <a:endParaRPr lang="hu-HU"/>
          </a:p>
        </p:txBody>
      </p:sp>
      <p:sp>
        <p:nvSpPr>
          <p:cNvPr id="7" name="Shape 5"/>
          <p:cNvSpPr/>
          <p:nvPr/>
        </p:nvSpPr>
        <p:spPr>
          <a:xfrm>
            <a:off x="5406" y="1133856"/>
            <a:ext cx="3474720" cy="438912"/>
          </a:xfrm>
          <a:prstGeom prst="rect">
            <a:avLst/>
          </a:prstGeom>
          <a:solidFill>
            <a:srgbClr val="67E8F9">
              <a:alpha val="80000"/>
            </a:srgbClr>
          </a:solidFill>
          <a:ln w="12700">
            <a:solidFill>
              <a:srgbClr val="67E8F9"/>
            </a:solidFill>
            <a:prstDash val="solid"/>
          </a:ln>
        </p:spPr>
        <p:txBody>
          <a:bodyPr/>
          <a:lstStyle/>
          <a:p>
            <a:endParaRPr lang="hu-HU"/>
          </a:p>
        </p:txBody>
      </p:sp>
      <p:sp>
        <p:nvSpPr>
          <p:cNvPr id="8" name="Text 6"/>
          <p:cNvSpPr/>
          <p:nvPr/>
        </p:nvSpPr>
        <p:spPr>
          <a:xfrm>
            <a:off x="169998" y="1133856"/>
            <a:ext cx="3200400" cy="438912"/>
          </a:xfrm>
          <a:prstGeom prst="rect">
            <a:avLst/>
          </a:prstGeom>
          <a:noFill/>
          <a:ln/>
        </p:spPr>
        <p:txBody>
          <a:bodyPr wrap="square" rtlCol="0" anchor="ctr"/>
          <a:lstStyle/>
          <a:p>
            <a:pPr marL="0" indent="0">
              <a:buNone/>
            </a:pPr>
            <a:r>
              <a:rPr lang="en-US" sz="1200" b="1" dirty="0">
                <a:solidFill>
                  <a:srgbClr val="67E8F9"/>
                </a:solidFill>
              </a:rPr>
              <a:t>📁  src/</a:t>
            </a:r>
            <a:endParaRPr lang="en-US" sz="1200" dirty="0"/>
          </a:p>
        </p:txBody>
      </p:sp>
      <p:sp>
        <p:nvSpPr>
          <p:cNvPr id="9" name="Text 7"/>
          <p:cNvSpPr/>
          <p:nvPr/>
        </p:nvSpPr>
        <p:spPr>
          <a:xfrm>
            <a:off x="169998" y="1664208"/>
            <a:ext cx="3108960" cy="228600"/>
          </a:xfrm>
          <a:prstGeom prst="rect">
            <a:avLst/>
          </a:prstGeom>
          <a:noFill/>
          <a:ln/>
        </p:spPr>
        <p:txBody>
          <a:bodyPr wrap="square" rtlCol="0" anchor="ctr"/>
          <a:lstStyle/>
          <a:p>
            <a:pPr marL="0" indent="0">
              <a:buNone/>
            </a:pPr>
            <a:r>
              <a:rPr lang="en-US" sz="1000" b="1" dirty="0">
                <a:solidFill>
                  <a:srgbClr val="F5C842"/>
                </a:solidFill>
                <a:latin typeface="Calibri" pitchFamily="34" charset="0"/>
                <a:ea typeface="Calibri" pitchFamily="34" charset="-122"/>
                <a:cs typeface="Calibri" pitchFamily="34" charset="-120"/>
              </a:rPr>
              <a:t>📁  api/</a:t>
            </a:r>
            <a:endParaRPr lang="en-US" sz="1000" dirty="0"/>
          </a:p>
        </p:txBody>
      </p:sp>
      <p:sp>
        <p:nvSpPr>
          <p:cNvPr id="10" name="Text 8"/>
          <p:cNvSpPr/>
          <p:nvPr/>
        </p:nvSpPr>
        <p:spPr>
          <a:xfrm>
            <a:off x="398598" y="1901952"/>
            <a:ext cx="3108960" cy="228600"/>
          </a:xfrm>
          <a:prstGeom prst="rect">
            <a:avLst/>
          </a:prstGeom>
          <a:noFill/>
          <a:ln/>
        </p:spPr>
        <p:txBody>
          <a:bodyPr wrap="square" rtlCol="0" anchor="ctr"/>
          <a:lstStyle/>
          <a:p>
            <a:pPr marL="0" indent="0">
              <a:buNone/>
            </a:pPr>
            <a:r>
              <a:rPr lang="en-US" sz="1000" dirty="0">
                <a:solidFill>
                  <a:srgbClr val="8892A4"/>
                </a:solidFill>
                <a:latin typeface="Consolas" pitchFamily="34" charset="0"/>
                <a:ea typeface="Consolas" pitchFamily="34" charset="-122"/>
                <a:cs typeface="Consolas" pitchFamily="34" charset="-120"/>
              </a:rPr>
              <a:t>client.js  ·  authApi  ·  cartApi</a:t>
            </a:r>
            <a:endParaRPr lang="en-US" sz="1000" dirty="0"/>
          </a:p>
        </p:txBody>
      </p:sp>
      <p:sp>
        <p:nvSpPr>
          <p:cNvPr id="11" name="Text 9"/>
          <p:cNvSpPr/>
          <p:nvPr/>
        </p:nvSpPr>
        <p:spPr>
          <a:xfrm>
            <a:off x="398598" y="2139696"/>
            <a:ext cx="3108960" cy="228600"/>
          </a:xfrm>
          <a:prstGeom prst="rect">
            <a:avLst/>
          </a:prstGeom>
          <a:noFill/>
          <a:ln/>
        </p:spPr>
        <p:txBody>
          <a:bodyPr wrap="square" rtlCol="0" anchor="ctr"/>
          <a:lstStyle/>
          <a:p>
            <a:pPr marL="0" indent="0">
              <a:buNone/>
            </a:pPr>
            <a:r>
              <a:rPr lang="en-US" sz="1000" dirty="0">
                <a:solidFill>
                  <a:srgbClr val="8892A4"/>
                </a:solidFill>
                <a:latin typeface="Consolas" pitchFamily="34" charset="0"/>
                <a:ea typeface="Consolas" pitchFamily="34" charset="-122"/>
                <a:cs typeface="Consolas" pitchFamily="34" charset="-120"/>
              </a:rPr>
              <a:t>productApi  ·  orderApi  ·  adminApi</a:t>
            </a:r>
            <a:endParaRPr lang="en-US" sz="1000" dirty="0"/>
          </a:p>
        </p:txBody>
      </p:sp>
      <p:sp>
        <p:nvSpPr>
          <p:cNvPr id="12" name="Text 10"/>
          <p:cNvSpPr/>
          <p:nvPr/>
        </p:nvSpPr>
        <p:spPr>
          <a:xfrm>
            <a:off x="169998" y="2377440"/>
            <a:ext cx="3108960" cy="228600"/>
          </a:xfrm>
          <a:prstGeom prst="rect">
            <a:avLst/>
          </a:prstGeom>
          <a:noFill/>
          <a:ln/>
        </p:spPr>
        <p:txBody>
          <a:bodyPr wrap="square" rtlCol="0" anchor="ctr"/>
          <a:lstStyle/>
          <a:p>
            <a:pPr marL="0" indent="0">
              <a:buNone/>
            </a:pPr>
            <a:r>
              <a:rPr lang="en-US" sz="1000" b="1" dirty="0">
                <a:solidFill>
                  <a:srgbClr val="F5C842"/>
                </a:solidFill>
                <a:latin typeface="Calibri" pitchFamily="34" charset="0"/>
                <a:ea typeface="Calibri" pitchFamily="34" charset="-122"/>
                <a:cs typeface="Calibri" pitchFamily="34" charset="-120"/>
              </a:rPr>
              <a:t>📁  pages/</a:t>
            </a:r>
            <a:endParaRPr lang="en-US" sz="1000" dirty="0"/>
          </a:p>
        </p:txBody>
      </p:sp>
      <p:sp>
        <p:nvSpPr>
          <p:cNvPr id="13" name="Text 11"/>
          <p:cNvSpPr/>
          <p:nvPr/>
        </p:nvSpPr>
        <p:spPr>
          <a:xfrm>
            <a:off x="398598" y="2615184"/>
            <a:ext cx="3108960" cy="228600"/>
          </a:xfrm>
          <a:prstGeom prst="rect">
            <a:avLst/>
          </a:prstGeom>
          <a:noFill/>
          <a:ln/>
        </p:spPr>
        <p:txBody>
          <a:bodyPr wrap="square" rtlCol="0" anchor="ctr"/>
          <a:lstStyle/>
          <a:p>
            <a:pPr marL="0" indent="0">
              <a:buNone/>
            </a:pPr>
            <a:r>
              <a:rPr lang="en-US" sz="1000" dirty="0">
                <a:solidFill>
                  <a:srgbClr val="8892A4"/>
                </a:solidFill>
                <a:latin typeface="Consolas" pitchFamily="34" charset="0"/>
                <a:ea typeface="Consolas" pitchFamily="34" charset="-122"/>
                <a:cs typeface="Consolas" pitchFamily="34" charset="-120"/>
              </a:rPr>
              <a:t>HomePage  ·  ProductsPage  ·  CartPage</a:t>
            </a:r>
            <a:endParaRPr lang="en-US" sz="1000" dirty="0"/>
          </a:p>
        </p:txBody>
      </p:sp>
      <p:sp>
        <p:nvSpPr>
          <p:cNvPr id="14" name="Text 12"/>
          <p:cNvSpPr/>
          <p:nvPr/>
        </p:nvSpPr>
        <p:spPr>
          <a:xfrm>
            <a:off x="398598" y="2852928"/>
            <a:ext cx="3108960" cy="228600"/>
          </a:xfrm>
          <a:prstGeom prst="rect">
            <a:avLst/>
          </a:prstGeom>
          <a:noFill/>
          <a:ln/>
        </p:spPr>
        <p:txBody>
          <a:bodyPr wrap="square" rtlCol="0" anchor="ctr"/>
          <a:lstStyle/>
          <a:p>
            <a:pPr marL="0" indent="0">
              <a:buNone/>
            </a:pPr>
            <a:r>
              <a:rPr lang="en-US" sz="1000" dirty="0">
                <a:solidFill>
                  <a:srgbClr val="8892A4"/>
                </a:solidFill>
                <a:latin typeface="Consolas" pitchFamily="34" charset="0"/>
                <a:ea typeface="Consolas" pitchFamily="34" charset="-122"/>
                <a:cs typeface="Consolas" pitchFamily="34" charset="-120"/>
              </a:rPr>
              <a:t>CheckoutPage  ·  AdminPage  ·  LoginPage</a:t>
            </a:r>
            <a:endParaRPr lang="en-US" sz="1000" dirty="0"/>
          </a:p>
        </p:txBody>
      </p:sp>
      <p:sp>
        <p:nvSpPr>
          <p:cNvPr id="15" name="Text 13"/>
          <p:cNvSpPr/>
          <p:nvPr/>
        </p:nvSpPr>
        <p:spPr>
          <a:xfrm>
            <a:off x="169998" y="3090672"/>
            <a:ext cx="3108960" cy="228600"/>
          </a:xfrm>
          <a:prstGeom prst="rect">
            <a:avLst/>
          </a:prstGeom>
          <a:noFill/>
          <a:ln/>
        </p:spPr>
        <p:txBody>
          <a:bodyPr wrap="square" rtlCol="0" anchor="ctr"/>
          <a:lstStyle/>
          <a:p>
            <a:pPr marL="0" indent="0">
              <a:buNone/>
            </a:pPr>
            <a:r>
              <a:rPr lang="en-US" sz="1000" b="1" dirty="0">
                <a:solidFill>
                  <a:srgbClr val="F5C842"/>
                </a:solidFill>
                <a:latin typeface="Calibri" pitchFamily="34" charset="0"/>
                <a:ea typeface="Calibri" pitchFamily="34" charset="-122"/>
                <a:cs typeface="Calibri" pitchFamily="34" charset="-120"/>
              </a:rPr>
              <a:t>📁  context/</a:t>
            </a:r>
            <a:endParaRPr lang="en-US" sz="1000" dirty="0"/>
          </a:p>
        </p:txBody>
      </p:sp>
      <p:sp>
        <p:nvSpPr>
          <p:cNvPr id="16" name="Text 14"/>
          <p:cNvSpPr/>
          <p:nvPr/>
        </p:nvSpPr>
        <p:spPr>
          <a:xfrm>
            <a:off x="398598" y="3328416"/>
            <a:ext cx="3108960" cy="228600"/>
          </a:xfrm>
          <a:prstGeom prst="rect">
            <a:avLst/>
          </a:prstGeom>
          <a:noFill/>
          <a:ln/>
        </p:spPr>
        <p:txBody>
          <a:bodyPr wrap="square" rtlCol="0" anchor="ctr"/>
          <a:lstStyle/>
          <a:p>
            <a:pPr marL="0" indent="0">
              <a:buNone/>
            </a:pPr>
            <a:r>
              <a:rPr lang="en-US" sz="1000" dirty="0">
                <a:solidFill>
                  <a:srgbClr val="8892A4"/>
                </a:solidFill>
                <a:latin typeface="Consolas" pitchFamily="34" charset="0"/>
                <a:ea typeface="Consolas" pitchFamily="34" charset="-122"/>
                <a:cs typeface="Consolas" pitchFamily="34" charset="-120"/>
              </a:rPr>
              <a:t>AuthContext.jsx  ·  CartContext.jsx</a:t>
            </a:r>
            <a:endParaRPr lang="en-US" sz="1000" dirty="0"/>
          </a:p>
        </p:txBody>
      </p:sp>
      <p:sp>
        <p:nvSpPr>
          <p:cNvPr id="17" name="Text 15"/>
          <p:cNvSpPr/>
          <p:nvPr/>
        </p:nvSpPr>
        <p:spPr>
          <a:xfrm>
            <a:off x="169998" y="3566160"/>
            <a:ext cx="3108960" cy="228600"/>
          </a:xfrm>
          <a:prstGeom prst="rect">
            <a:avLst/>
          </a:prstGeom>
          <a:noFill/>
          <a:ln/>
        </p:spPr>
        <p:txBody>
          <a:bodyPr wrap="square" rtlCol="0" anchor="ctr"/>
          <a:lstStyle/>
          <a:p>
            <a:pPr marL="0" indent="0">
              <a:buNone/>
            </a:pPr>
            <a:r>
              <a:rPr lang="en-US" sz="1000" b="1" dirty="0">
                <a:solidFill>
                  <a:srgbClr val="F5C842"/>
                </a:solidFill>
                <a:latin typeface="Calibri" pitchFamily="34" charset="0"/>
                <a:ea typeface="Calibri" pitchFamily="34" charset="-122"/>
                <a:cs typeface="Calibri" pitchFamily="34" charset="-120"/>
              </a:rPr>
              <a:t>📁  components/</a:t>
            </a:r>
            <a:endParaRPr lang="en-US" sz="1000" dirty="0"/>
          </a:p>
        </p:txBody>
      </p:sp>
      <p:sp>
        <p:nvSpPr>
          <p:cNvPr id="18" name="Text 16"/>
          <p:cNvSpPr/>
          <p:nvPr/>
        </p:nvSpPr>
        <p:spPr>
          <a:xfrm>
            <a:off x="398598" y="3803904"/>
            <a:ext cx="3108960" cy="228600"/>
          </a:xfrm>
          <a:prstGeom prst="rect">
            <a:avLst/>
          </a:prstGeom>
          <a:noFill/>
          <a:ln/>
        </p:spPr>
        <p:txBody>
          <a:bodyPr wrap="square" rtlCol="0" anchor="ctr"/>
          <a:lstStyle/>
          <a:p>
            <a:pPr marL="0" indent="0">
              <a:buNone/>
            </a:pPr>
            <a:r>
              <a:rPr lang="en-US" sz="1000" dirty="0">
                <a:solidFill>
                  <a:srgbClr val="8892A4"/>
                </a:solidFill>
                <a:latin typeface="Consolas" pitchFamily="34" charset="0"/>
                <a:ea typeface="Consolas" pitchFamily="34" charset="-122"/>
                <a:cs typeface="Consolas" pitchFamily="34" charset="-120"/>
              </a:rPr>
              <a:t>Header  ·  Footer  ·  ProductCard</a:t>
            </a:r>
            <a:endParaRPr lang="en-US" sz="1000" dirty="0"/>
          </a:p>
        </p:txBody>
      </p:sp>
      <p:sp>
        <p:nvSpPr>
          <p:cNvPr id="19" name="Text 17"/>
          <p:cNvSpPr/>
          <p:nvPr/>
        </p:nvSpPr>
        <p:spPr>
          <a:xfrm>
            <a:off x="169998" y="4041648"/>
            <a:ext cx="3108960" cy="228600"/>
          </a:xfrm>
          <a:prstGeom prst="rect">
            <a:avLst/>
          </a:prstGeom>
          <a:noFill/>
          <a:ln/>
        </p:spPr>
        <p:txBody>
          <a:bodyPr wrap="square" rtlCol="0" anchor="ctr"/>
          <a:lstStyle/>
          <a:p>
            <a:pPr marL="0" indent="0">
              <a:buNone/>
            </a:pPr>
            <a:r>
              <a:rPr lang="en-US" sz="1000" b="1" dirty="0">
                <a:solidFill>
                  <a:srgbClr val="F5C842"/>
                </a:solidFill>
                <a:latin typeface="Calibri" pitchFamily="34" charset="0"/>
                <a:ea typeface="Calibri" pitchFamily="34" charset="-122"/>
                <a:cs typeface="Calibri" pitchFamily="34" charset="-120"/>
              </a:rPr>
              <a:t>📁  styles/</a:t>
            </a:r>
            <a:endParaRPr lang="en-US" sz="1000" dirty="0"/>
          </a:p>
        </p:txBody>
      </p:sp>
      <p:sp>
        <p:nvSpPr>
          <p:cNvPr id="20" name="Text 18"/>
          <p:cNvSpPr/>
          <p:nvPr/>
        </p:nvSpPr>
        <p:spPr>
          <a:xfrm>
            <a:off x="398598" y="4279392"/>
            <a:ext cx="3108960" cy="228600"/>
          </a:xfrm>
          <a:prstGeom prst="rect">
            <a:avLst/>
          </a:prstGeom>
          <a:noFill/>
          <a:ln/>
        </p:spPr>
        <p:txBody>
          <a:bodyPr wrap="square" rtlCol="0" anchor="ctr"/>
          <a:lstStyle/>
          <a:p>
            <a:pPr marL="0" indent="0">
              <a:buNone/>
            </a:pPr>
            <a:r>
              <a:rPr lang="en-US" sz="1000" dirty="0">
                <a:solidFill>
                  <a:srgbClr val="8892A4"/>
                </a:solidFill>
                <a:latin typeface="Consolas" pitchFamily="34" charset="0"/>
                <a:ea typeface="Consolas" pitchFamily="34" charset="-122"/>
                <a:cs typeface="Consolas" pitchFamily="34" charset="-120"/>
              </a:rPr>
              <a:t>base  ·  auth  ·  cart  ·  admin  ·  …</a:t>
            </a:r>
            <a:endParaRPr lang="en-US" sz="1000" dirty="0"/>
          </a:p>
        </p:txBody>
      </p:sp>
      <p:sp>
        <p:nvSpPr>
          <p:cNvPr id="21" name="Shape 19"/>
          <p:cNvSpPr/>
          <p:nvPr/>
        </p:nvSpPr>
        <p:spPr>
          <a:xfrm>
            <a:off x="4237410" y="1152145"/>
            <a:ext cx="4901184" cy="3680694"/>
          </a:xfrm>
          <a:prstGeom prst="rect">
            <a:avLst/>
          </a:prstGeom>
          <a:solidFill>
            <a:srgbClr val="1A1D2E"/>
          </a:solidFill>
          <a:ln w="15240">
            <a:solidFill>
              <a:srgbClr val="A78BFA"/>
            </a:solidFill>
            <a:prstDash val="solid"/>
          </a:ln>
          <a:effectLst>
            <a:outerShdw blurRad="127000" dist="50800" dir="8100000" algn="bl" rotWithShape="0">
              <a:srgbClr val="000000">
                <a:alpha val="35000"/>
              </a:srgbClr>
            </a:outerShdw>
          </a:effectLst>
        </p:spPr>
        <p:txBody>
          <a:bodyPr/>
          <a:lstStyle/>
          <a:p>
            <a:endParaRPr lang="hu-HU"/>
          </a:p>
        </p:txBody>
      </p:sp>
      <p:sp>
        <p:nvSpPr>
          <p:cNvPr id="22" name="Shape 20"/>
          <p:cNvSpPr/>
          <p:nvPr/>
        </p:nvSpPr>
        <p:spPr>
          <a:xfrm>
            <a:off x="4237410" y="1152144"/>
            <a:ext cx="4901184" cy="441683"/>
          </a:xfrm>
          <a:prstGeom prst="rect">
            <a:avLst/>
          </a:prstGeom>
          <a:solidFill>
            <a:srgbClr val="A78BFA">
              <a:alpha val="80000"/>
            </a:srgbClr>
          </a:solidFill>
          <a:ln w="12700">
            <a:solidFill>
              <a:srgbClr val="A78BFA"/>
            </a:solidFill>
            <a:prstDash val="solid"/>
          </a:ln>
        </p:spPr>
        <p:txBody>
          <a:bodyPr/>
          <a:lstStyle/>
          <a:p>
            <a:endParaRPr lang="hu-HU"/>
          </a:p>
        </p:txBody>
      </p:sp>
      <p:sp>
        <p:nvSpPr>
          <p:cNvPr id="23" name="Text 21"/>
          <p:cNvSpPr/>
          <p:nvPr/>
        </p:nvSpPr>
        <p:spPr>
          <a:xfrm>
            <a:off x="4402002" y="1152144"/>
            <a:ext cx="4572000" cy="441683"/>
          </a:xfrm>
          <a:prstGeom prst="rect">
            <a:avLst/>
          </a:prstGeom>
          <a:noFill/>
          <a:ln/>
        </p:spPr>
        <p:txBody>
          <a:bodyPr wrap="square" rtlCol="0" anchor="ctr"/>
          <a:lstStyle/>
          <a:p>
            <a:pPr marL="0" indent="0">
              <a:buNone/>
            </a:pPr>
            <a:r>
              <a:rPr lang="en-US" sz="1200" b="1" dirty="0">
                <a:solidFill>
                  <a:srgbClr val="A78BFA"/>
                </a:solidFill>
              </a:rPr>
              <a:t>🗺️  Route Map</a:t>
            </a:r>
            <a:endParaRPr lang="en-US" sz="1200" dirty="0"/>
          </a:p>
        </p:txBody>
      </p:sp>
      <p:sp>
        <p:nvSpPr>
          <p:cNvPr id="24" name="Shape 22"/>
          <p:cNvSpPr/>
          <p:nvPr/>
        </p:nvSpPr>
        <p:spPr>
          <a:xfrm>
            <a:off x="4328850" y="1700785"/>
            <a:ext cx="4718304" cy="331262"/>
          </a:xfrm>
          <a:prstGeom prst="rect">
            <a:avLst/>
          </a:prstGeom>
          <a:solidFill>
            <a:srgbClr val="0F1117">
              <a:alpha val="80000"/>
            </a:srgbClr>
          </a:solidFill>
          <a:ln w="12700">
            <a:solidFill>
              <a:srgbClr val="2E3250"/>
            </a:solidFill>
            <a:prstDash val="solid"/>
          </a:ln>
        </p:spPr>
        <p:txBody>
          <a:bodyPr/>
          <a:lstStyle/>
          <a:p>
            <a:endParaRPr lang="hu-HU"/>
          </a:p>
        </p:txBody>
      </p:sp>
      <p:sp>
        <p:nvSpPr>
          <p:cNvPr id="25" name="Shape 23"/>
          <p:cNvSpPr/>
          <p:nvPr/>
        </p:nvSpPr>
        <p:spPr>
          <a:xfrm>
            <a:off x="4328850" y="1700785"/>
            <a:ext cx="64008" cy="331262"/>
          </a:xfrm>
          <a:prstGeom prst="rect">
            <a:avLst/>
          </a:prstGeom>
          <a:solidFill>
            <a:srgbClr val="4ECDC4"/>
          </a:solidFill>
          <a:ln w="12700">
            <a:solidFill>
              <a:srgbClr val="4ECDC4"/>
            </a:solidFill>
            <a:prstDash val="solid"/>
          </a:ln>
        </p:spPr>
        <p:txBody>
          <a:bodyPr/>
          <a:lstStyle/>
          <a:p>
            <a:endParaRPr lang="hu-HU"/>
          </a:p>
        </p:txBody>
      </p:sp>
      <p:sp>
        <p:nvSpPr>
          <p:cNvPr id="26" name="Text 24"/>
          <p:cNvSpPr/>
          <p:nvPr/>
        </p:nvSpPr>
        <p:spPr>
          <a:xfrm>
            <a:off x="4493442" y="1700785"/>
            <a:ext cx="2743200" cy="331262"/>
          </a:xfrm>
          <a:prstGeom prst="rect">
            <a:avLst/>
          </a:prstGeom>
          <a:noFill/>
          <a:ln/>
        </p:spPr>
        <p:txBody>
          <a:bodyPr wrap="square" rtlCol="0" anchor="ctr"/>
          <a:lstStyle/>
          <a:p>
            <a:pPr marL="0" indent="0">
              <a:buNone/>
            </a:pPr>
            <a:r>
              <a:rPr lang="en-US" sz="1000" dirty="0">
                <a:solidFill>
                  <a:srgbClr val="67E8F9"/>
                </a:solidFill>
                <a:latin typeface="Consolas" pitchFamily="34" charset="0"/>
                <a:ea typeface="Consolas" pitchFamily="34" charset="-122"/>
                <a:cs typeface="Consolas" pitchFamily="34" charset="-120"/>
              </a:rPr>
              <a:t>/</a:t>
            </a:r>
            <a:endParaRPr lang="en-US" sz="1000" dirty="0"/>
          </a:p>
        </p:txBody>
      </p:sp>
      <p:sp>
        <p:nvSpPr>
          <p:cNvPr id="27" name="Text 25"/>
          <p:cNvSpPr/>
          <p:nvPr/>
        </p:nvSpPr>
        <p:spPr>
          <a:xfrm>
            <a:off x="7282362" y="1700785"/>
            <a:ext cx="1645920" cy="331262"/>
          </a:xfrm>
          <a:prstGeom prst="rect">
            <a:avLst/>
          </a:prstGeom>
          <a:noFill/>
          <a:ln/>
        </p:spPr>
        <p:txBody>
          <a:bodyPr wrap="square" rtlCol="0" anchor="ctr"/>
          <a:lstStyle/>
          <a:p>
            <a:pPr marL="0" indent="0">
              <a:buNone/>
            </a:pPr>
            <a:r>
              <a:rPr lang="en-US" sz="950" dirty="0">
                <a:solidFill>
                  <a:srgbClr val="8892A4"/>
                </a:solidFill>
              </a:rPr>
              <a:t>Home Page</a:t>
            </a:r>
            <a:endParaRPr lang="en-US" sz="950" dirty="0"/>
          </a:p>
        </p:txBody>
      </p:sp>
      <p:sp>
        <p:nvSpPr>
          <p:cNvPr id="28" name="Shape 26"/>
          <p:cNvSpPr/>
          <p:nvPr/>
        </p:nvSpPr>
        <p:spPr>
          <a:xfrm>
            <a:off x="4328850" y="2084833"/>
            <a:ext cx="4718304" cy="331262"/>
          </a:xfrm>
          <a:prstGeom prst="rect">
            <a:avLst/>
          </a:prstGeom>
          <a:solidFill>
            <a:srgbClr val="0F1117">
              <a:alpha val="80000"/>
            </a:srgbClr>
          </a:solidFill>
          <a:ln w="12700">
            <a:solidFill>
              <a:srgbClr val="2E3250"/>
            </a:solidFill>
            <a:prstDash val="solid"/>
          </a:ln>
        </p:spPr>
        <p:txBody>
          <a:bodyPr/>
          <a:lstStyle/>
          <a:p>
            <a:endParaRPr lang="hu-HU"/>
          </a:p>
        </p:txBody>
      </p:sp>
      <p:sp>
        <p:nvSpPr>
          <p:cNvPr id="29" name="Shape 27"/>
          <p:cNvSpPr/>
          <p:nvPr/>
        </p:nvSpPr>
        <p:spPr>
          <a:xfrm>
            <a:off x="4328850" y="2084833"/>
            <a:ext cx="64008" cy="331262"/>
          </a:xfrm>
          <a:prstGeom prst="rect">
            <a:avLst/>
          </a:prstGeom>
          <a:solidFill>
            <a:srgbClr val="4ECDC4"/>
          </a:solidFill>
          <a:ln w="12700">
            <a:solidFill>
              <a:srgbClr val="4ECDC4"/>
            </a:solidFill>
            <a:prstDash val="solid"/>
          </a:ln>
        </p:spPr>
        <p:txBody>
          <a:bodyPr/>
          <a:lstStyle/>
          <a:p>
            <a:endParaRPr lang="hu-HU"/>
          </a:p>
        </p:txBody>
      </p:sp>
      <p:sp>
        <p:nvSpPr>
          <p:cNvPr id="30" name="Text 28"/>
          <p:cNvSpPr/>
          <p:nvPr/>
        </p:nvSpPr>
        <p:spPr>
          <a:xfrm>
            <a:off x="4493442" y="2084833"/>
            <a:ext cx="2743200" cy="331262"/>
          </a:xfrm>
          <a:prstGeom prst="rect">
            <a:avLst/>
          </a:prstGeom>
          <a:noFill/>
          <a:ln/>
        </p:spPr>
        <p:txBody>
          <a:bodyPr wrap="square" rtlCol="0" anchor="ctr"/>
          <a:lstStyle/>
          <a:p>
            <a:pPr marL="0" indent="0">
              <a:buNone/>
            </a:pPr>
            <a:r>
              <a:rPr lang="en-US" sz="1000" dirty="0">
                <a:solidFill>
                  <a:srgbClr val="67E8F9"/>
                </a:solidFill>
                <a:latin typeface="Consolas" pitchFamily="34" charset="0"/>
                <a:ea typeface="Consolas" pitchFamily="34" charset="-122"/>
                <a:cs typeface="Consolas" pitchFamily="34" charset="-120"/>
              </a:rPr>
              <a:t>/products</a:t>
            </a:r>
            <a:endParaRPr lang="en-US" sz="1000" dirty="0"/>
          </a:p>
        </p:txBody>
      </p:sp>
      <p:sp>
        <p:nvSpPr>
          <p:cNvPr id="31" name="Text 29"/>
          <p:cNvSpPr/>
          <p:nvPr/>
        </p:nvSpPr>
        <p:spPr>
          <a:xfrm>
            <a:off x="7282362" y="2084833"/>
            <a:ext cx="1645920" cy="331262"/>
          </a:xfrm>
          <a:prstGeom prst="rect">
            <a:avLst/>
          </a:prstGeom>
          <a:noFill/>
          <a:ln/>
        </p:spPr>
        <p:txBody>
          <a:bodyPr wrap="square" rtlCol="0" anchor="ctr"/>
          <a:lstStyle/>
          <a:p>
            <a:pPr marL="0" indent="0">
              <a:buNone/>
            </a:pPr>
            <a:r>
              <a:rPr lang="en-US" sz="950" dirty="0">
                <a:solidFill>
                  <a:srgbClr val="8892A4"/>
                </a:solidFill>
              </a:rPr>
              <a:t>Product Listing</a:t>
            </a:r>
            <a:endParaRPr lang="en-US" sz="950" dirty="0"/>
          </a:p>
        </p:txBody>
      </p:sp>
      <p:sp>
        <p:nvSpPr>
          <p:cNvPr id="32" name="Shape 30"/>
          <p:cNvSpPr/>
          <p:nvPr/>
        </p:nvSpPr>
        <p:spPr>
          <a:xfrm>
            <a:off x="4328850" y="2468881"/>
            <a:ext cx="4718304" cy="331262"/>
          </a:xfrm>
          <a:prstGeom prst="rect">
            <a:avLst/>
          </a:prstGeom>
          <a:solidFill>
            <a:srgbClr val="0F1117">
              <a:alpha val="80000"/>
            </a:srgbClr>
          </a:solidFill>
          <a:ln w="12700">
            <a:solidFill>
              <a:srgbClr val="2E3250"/>
            </a:solidFill>
            <a:prstDash val="solid"/>
          </a:ln>
        </p:spPr>
        <p:txBody>
          <a:bodyPr/>
          <a:lstStyle/>
          <a:p>
            <a:endParaRPr lang="hu-HU"/>
          </a:p>
        </p:txBody>
      </p:sp>
      <p:sp>
        <p:nvSpPr>
          <p:cNvPr id="33" name="Shape 31"/>
          <p:cNvSpPr/>
          <p:nvPr/>
        </p:nvSpPr>
        <p:spPr>
          <a:xfrm>
            <a:off x="4328850" y="2468881"/>
            <a:ext cx="64008" cy="331262"/>
          </a:xfrm>
          <a:prstGeom prst="rect">
            <a:avLst/>
          </a:prstGeom>
          <a:solidFill>
            <a:srgbClr val="4ECDC4"/>
          </a:solidFill>
          <a:ln w="12700">
            <a:solidFill>
              <a:srgbClr val="4ECDC4"/>
            </a:solidFill>
            <a:prstDash val="solid"/>
          </a:ln>
        </p:spPr>
        <p:txBody>
          <a:bodyPr/>
          <a:lstStyle/>
          <a:p>
            <a:endParaRPr lang="hu-HU"/>
          </a:p>
        </p:txBody>
      </p:sp>
      <p:sp>
        <p:nvSpPr>
          <p:cNvPr id="34" name="Text 32"/>
          <p:cNvSpPr/>
          <p:nvPr/>
        </p:nvSpPr>
        <p:spPr>
          <a:xfrm>
            <a:off x="4493442" y="2468881"/>
            <a:ext cx="2743200" cy="331262"/>
          </a:xfrm>
          <a:prstGeom prst="rect">
            <a:avLst/>
          </a:prstGeom>
          <a:noFill/>
          <a:ln/>
        </p:spPr>
        <p:txBody>
          <a:bodyPr wrap="square" rtlCol="0" anchor="ctr"/>
          <a:lstStyle/>
          <a:p>
            <a:pPr marL="0" indent="0">
              <a:buNone/>
            </a:pPr>
            <a:r>
              <a:rPr lang="en-US" sz="1000" dirty="0">
                <a:solidFill>
                  <a:srgbClr val="67E8F9"/>
                </a:solidFill>
                <a:latin typeface="Consolas" pitchFamily="34" charset="0"/>
                <a:ea typeface="Consolas" pitchFamily="34" charset="-122"/>
                <a:cs typeface="Consolas" pitchFamily="34" charset="-120"/>
              </a:rPr>
              <a:t>/products/:id</a:t>
            </a:r>
            <a:endParaRPr lang="en-US" sz="1000" dirty="0"/>
          </a:p>
        </p:txBody>
      </p:sp>
      <p:sp>
        <p:nvSpPr>
          <p:cNvPr id="35" name="Text 33"/>
          <p:cNvSpPr/>
          <p:nvPr/>
        </p:nvSpPr>
        <p:spPr>
          <a:xfrm>
            <a:off x="7282362" y="2468881"/>
            <a:ext cx="1645920" cy="331262"/>
          </a:xfrm>
          <a:prstGeom prst="rect">
            <a:avLst/>
          </a:prstGeom>
          <a:noFill/>
          <a:ln/>
        </p:spPr>
        <p:txBody>
          <a:bodyPr wrap="square" rtlCol="0" anchor="ctr"/>
          <a:lstStyle/>
          <a:p>
            <a:pPr marL="0" indent="0">
              <a:buNone/>
            </a:pPr>
            <a:r>
              <a:rPr lang="en-US" sz="950" dirty="0">
                <a:solidFill>
                  <a:srgbClr val="8892A4"/>
                </a:solidFill>
              </a:rPr>
              <a:t>Product Detail</a:t>
            </a:r>
            <a:endParaRPr lang="en-US" sz="950" dirty="0"/>
          </a:p>
        </p:txBody>
      </p:sp>
      <p:sp>
        <p:nvSpPr>
          <p:cNvPr id="36" name="Shape 34"/>
          <p:cNvSpPr/>
          <p:nvPr/>
        </p:nvSpPr>
        <p:spPr>
          <a:xfrm>
            <a:off x="4328850" y="2852929"/>
            <a:ext cx="4718304" cy="331262"/>
          </a:xfrm>
          <a:prstGeom prst="rect">
            <a:avLst/>
          </a:prstGeom>
          <a:solidFill>
            <a:srgbClr val="0F1117">
              <a:alpha val="80000"/>
            </a:srgbClr>
          </a:solidFill>
          <a:ln w="12700">
            <a:solidFill>
              <a:srgbClr val="2E3250"/>
            </a:solidFill>
            <a:prstDash val="solid"/>
          </a:ln>
        </p:spPr>
        <p:txBody>
          <a:bodyPr/>
          <a:lstStyle/>
          <a:p>
            <a:endParaRPr lang="hu-HU"/>
          </a:p>
        </p:txBody>
      </p:sp>
      <p:sp>
        <p:nvSpPr>
          <p:cNvPr id="37" name="Shape 35"/>
          <p:cNvSpPr/>
          <p:nvPr/>
        </p:nvSpPr>
        <p:spPr>
          <a:xfrm>
            <a:off x="4328850" y="2852929"/>
            <a:ext cx="64008" cy="331262"/>
          </a:xfrm>
          <a:prstGeom prst="rect">
            <a:avLst/>
          </a:prstGeom>
          <a:solidFill>
            <a:srgbClr val="4ECDC4"/>
          </a:solidFill>
          <a:ln w="12700">
            <a:solidFill>
              <a:srgbClr val="4ECDC4"/>
            </a:solidFill>
            <a:prstDash val="solid"/>
          </a:ln>
        </p:spPr>
        <p:txBody>
          <a:bodyPr/>
          <a:lstStyle/>
          <a:p>
            <a:endParaRPr lang="hu-HU"/>
          </a:p>
        </p:txBody>
      </p:sp>
      <p:sp>
        <p:nvSpPr>
          <p:cNvPr id="38" name="Text 36"/>
          <p:cNvSpPr/>
          <p:nvPr/>
        </p:nvSpPr>
        <p:spPr>
          <a:xfrm>
            <a:off x="4493442" y="2852929"/>
            <a:ext cx="2743200" cy="331262"/>
          </a:xfrm>
          <a:prstGeom prst="rect">
            <a:avLst/>
          </a:prstGeom>
          <a:noFill/>
          <a:ln/>
        </p:spPr>
        <p:txBody>
          <a:bodyPr wrap="square" rtlCol="0" anchor="ctr"/>
          <a:lstStyle/>
          <a:p>
            <a:pPr marL="0" indent="0">
              <a:buNone/>
            </a:pPr>
            <a:r>
              <a:rPr lang="en-US" sz="1000" dirty="0">
                <a:solidFill>
                  <a:srgbClr val="67E8F9"/>
                </a:solidFill>
                <a:latin typeface="Consolas" pitchFamily="34" charset="0"/>
                <a:ea typeface="Consolas" pitchFamily="34" charset="-122"/>
                <a:cs typeface="Consolas" pitchFamily="34" charset="-120"/>
              </a:rPr>
              <a:t>/cart</a:t>
            </a:r>
            <a:endParaRPr lang="en-US" sz="1000" dirty="0"/>
          </a:p>
        </p:txBody>
      </p:sp>
      <p:sp>
        <p:nvSpPr>
          <p:cNvPr id="39" name="Text 37"/>
          <p:cNvSpPr/>
          <p:nvPr/>
        </p:nvSpPr>
        <p:spPr>
          <a:xfrm>
            <a:off x="7282362" y="2852929"/>
            <a:ext cx="1645920" cy="331262"/>
          </a:xfrm>
          <a:prstGeom prst="rect">
            <a:avLst/>
          </a:prstGeom>
          <a:noFill/>
          <a:ln/>
        </p:spPr>
        <p:txBody>
          <a:bodyPr wrap="square" rtlCol="0" anchor="ctr"/>
          <a:lstStyle/>
          <a:p>
            <a:pPr marL="0" indent="0">
              <a:buNone/>
            </a:pPr>
            <a:r>
              <a:rPr lang="en-US" sz="950" dirty="0">
                <a:solidFill>
                  <a:srgbClr val="8892A4"/>
                </a:solidFill>
              </a:rPr>
              <a:t>Shopping Cart</a:t>
            </a:r>
            <a:endParaRPr lang="en-US" sz="950" dirty="0"/>
          </a:p>
        </p:txBody>
      </p:sp>
      <p:sp>
        <p:nvSpPr>
          <p:cNvPr id="40" name="Shape 38"/>
          <p:cNvSpPr/>
          <p:nvPr/>
        </p:nvSpPr>
        <p:spPr>
          <a:xfrm>
            <a:off x="4328850" y="3236977"/>
            <a:ext cx="4718304" cy="331262"/>
          </a:xfrm>
          <a:prstGeom prst="rect">
            <a:avLst/>
          </a:prstGeom>
          <a:solidFill>
            <a:srgbClr val="0F1117">
              <a:alpha val="80000"/>
            </a:srgbClr>
          </a:solidFill>
          <a:ln w="12700">
            <a:solidFill>
              <a:srgbClr val="2E3250"/>
            </a:solidFill>
            <a:prstDash val="solid"/>
          </a:ln>
        </p:spPr>
        <p:txBody>
          <a:bodyPr/>
          <a:lstStyle/>
          <a:p>
            <a:endParaRPr lang="hu-HU"/>
          </a:p>
        </p:txBody>
      </p:sp>
      <p:sp>
        <p:nvSpPr>
          <p:cNvPr id="41" name="Shape 39"/>
          <p:cNvSpPr/>
          <p:nvPr/>
        </p:nvSpPr>
        <p:spPr>
          <a:xfrm>
            <a:off x="4328850" y="3236977"/>
            <a:ext cx="64008" cy="331262"/>
          </a:xfrm>
          <a:prstGeom prst="rect">
            <a:avLst/>
          </a:prstGeom>
          <a:solidFill>
            <a:srgbClr val="F5C842"/>
          </a:solidFill>
          <a:ln w="12700">
            <a:solidFill>
              <a:srgbClr val="F5C842"/>
            </a:solidFill>
            <a:prstDash val="solid"/>
          </a:ln>
        </p:spPr>
        <p:txBody>
          <a:bodyPr/>
          <a:lstStyle/>
          <a:p>
            <a:endParaRPr lang="hu-HU"/>
          </a:p>
        </p:txBody>
      </p:sp>
      <p:sp>
        <p:nvSpPr>
          <p:cNvPr id="42" name="Text 40"/>
          <p:cNvSpPr/>
          <p:nvPr/>
        </p:nvSpPr>
        <p:spPr>
          <a:xfrm>
            <a:off x="4493442" y="3236977"/>
            <a:ext cx="2743200" cy="331262"/>
          </a:xfrm>
          <a:prstGeom prst="rect">
            <a:avLst/>
          </a:prstGeom>
          <a:noFill/>
          <a:ln/>
        </p:spPr>
        <p:txBody>
          <a:bodyPr wrap="square" rtlCol="0" anchor="ctr"/>
          <a:lstStyle/>
          <a:p>
            <a:pPr marL="0" indent="0">
              <a:buNone/>
            </a:pPr>
            <a:r>
              <a:rPr lang="en-US" sz="1000" dirty="0">
                <a:solidFill>
                  <a:srgbClr val="67E8F9"/>
                </a:solidFill>
                <a:latin typeface="Consolas" pitchFamily="34" charset="0"/>
                <a:ea typeface="Consolas" pitchFamily="34" charset="-122"/>
                <a:cs typeface="Consolas" pitchFamily="34" charset="-120"/>
              </a:rPr>
              <a:t>/checkout</a:t>
            </a:r>
            <a:endParaRPr lang="en-US" sz="1000" dirty="0"/>
          </a:p>
        </p:txBody>
      </p:sp>
      <p:sp>
        <p:nvSpPr>
          <p:cNvPr id="43" name="Text 41"/>
          <p:cNvSpPr/>
          <p:nvPr/>
        </p:nvSpPr>
        <p:spPr>
          <a:xfrm>
            <a:off x="7282362" y="3236977"/>
            <a:ext cx="1645920" cy="331262"/>
          </a:xfrm>
          <a:prstGeom prst="rect">
            <a:avLst/>
          </a:prstGeom>
          <a:noFill/>
          <a:ln/>
        </p:spPr>
        <p:txBody>
          <a:bodyPr wrap="square" rtlCol="0" anchor="ctr"/>
          <a:lstStyle/>
          <a:p>
            <a:pPr marL="0" indent="0">
              <a:buNone/>
            </a:pPr>
            <a:r>
              <a:rPr lang="en-US" sz="950" dirty="0">
                <a:solidFill>
                  <a:srgbClr val="8892A4"/>
                </a:solidFill>
              </a:rPr>
              <a:t>Checkout</a:t>
            </a:r>
            <a:endParaRPr lang="en-US" sz="950" dirty="0"/>
          </a:p>
        </p:txBody>
      </p:sp>
      <p:sp>
        <p:nvSpPr>
          <p:cNvPr id="44" name="Shape 42"/>
          <p:cNvSpPr/>
          <p:nvPr/>
        </p:nvSpPr>
        <p:spPr>
          <a:xfrm>
            <a:off x="4328850" y="3621025"/>
            <a:ext cx="4718304" cy="331262"/>
          </a:xfrm>
          <a:prstGeom prst="rect">
            <a:avLst/>
          </a:prstGeom>
          <a:solidFill>
            <a:srgbClr val="0F1117">
              <a:alpha val="80000"/>
            </a:srgbClr>
          </a:solidFill>
          <a:ln w="12700">
            <a:solidFill>
              <a:srgbClr val="2E3250"/>
            </a:solidFill>
            <a:prstDash val="solid"/>
          </a:ln>
        </p:spPr>
        <p:txBody>
          <a:bodyPr/>
          <a:lstStyle/>
          <a:p>
            <a:endParaRPr lang="hu-HU"/>
          </a:p>
        </p:txBody>
      </p:sp>
      <p:sp>
        <p:nvSpPr>
          <p:cNvPr id="45" name="Shape 43"/>
          <p:cNvSpPr/>
          <p:nvPr/>
        </p:nvSpPr>
        <p:spPr>
          <a:xfrm>
            <a:off x="4328850" y="3621025"/>
            <a:ext cx="64008" cy="331262"/>
          </a:xfrm>
          <a:prstGeom prst="rect">
            <a:avLst/>
          </a:prstGeom>
          <a:solidFill>
            <a:srgbClr val="4ECDC4"/>
          </a:solidFill>
          <a:ln w="12700">
            <a:solidFill>
              <a:srgbClr val="4ECDC4"/>
            </a:solidFill>
            <a:prstDash val="solid"/>
          </a:ln>
        </p:spPr>
        <p:txBody>
          <a:bodyPr/>
          <a:lstStyle/>
          <a:p>
            <a:endParaRPr lang="hu-HU"/>
          </a:p>
        </p:txBody>
      </p:sp>
      <p:sp>
        <p:nvSpPr>
          <p:cNvPr id="46" name="Text 44"/>
          <p:cNvSpPr/>
          <p:nvPr/>
        </p:nvSpPr>
        <p:spPr>
          <a:xfrm>
            <a:off x="4493442" y="3621025"/>
            <a:ext cx="2743200" cy="331262"/>
          </a:xfrm>
          <a:prstGeom prst="rect">
            <a:avLst/>
          </a:prstGeom>
          <a:noFill/>
          <a:ln/>
        </p:spPr>
        <p:txBody>
          <a:bodyPr wrap="square" rtlCol="0" anchor="ctr"/>
          <a:lstStyle/>
          <a:p>
            <a:pPr marL="0" indent="0">
              <a:buNone/>
            </a:pPr>
            <a:r>
              <a:rPr lang="en-US" sz="1000" dirty="0">
                <a:solidFill>
                  <a:srgbClr val="67E8F9"/>
                </a:solidFill>
                <a:latin typeface="Consolas" pitchFamily="34" charset="0"/>
                <a:ea typeface="Consolas" pitchFamily="34" charset="-122"/>
                <a:cs typeface="Consolas" pitchFamily="34" charset="-120"/>
              </a:rPr>
              <a:t>/login  /register</a:t>
            </a:r>
            <a:endParaRPr lang="en-US" sz="1000" dirty="0"/>
          </a:p>
        </p:txBody>
      </p:sp>
      <p:sp>
        <p:nvSpPr>
          <p:cNvPr id="47" name="Text 45"/>
          <p:cNvSpPr/>
          <p:nvPr/>
        </p:nvSpPr>
        <p:spPr>
          <a:xfrm>
            <a:off x="7282362" y="3621025"/>
            <a:ext cx="1645920" cy="331262"/>
          </a:xfrm>
          <a:prstGeom prst="rect">
            <a:avLst/>
          </a:prstGeom>
          <a:noFill/>
          <a:ln/>
        </p:spPr>
        <p:txBody>
          <a:bodyPr wrap="square" rtlCol="0" anchor="ctr"/>
          <a:lstStyle/>
          <a:p>
            <a:pPr marL="0" indent="0">
              <a:buNone/>
            </a:pPr>
            <a:r>
              <a:rPr lang="en-US" sz="950" dirty="0">
                <a:solidFill>
                  <a:srgbClr val="8892A4"/>
                </a:solidFill>
              </a:rPr>
              <a:t>Auth Pages</a:t>
            </a:r>
            <a:endParaRPr lang="en-US" sz="950" dirty="0"/>
          </a:p>
        </p:txBody>
      </p:sp>
      <p:sp>
        <p:nvSpPr>
          <p:cNvPr id="48" name="Shape 46"/>
          <p:cNvSpPr/>
          <p:nvPr/>
        </p:nvSpPr>
        <p:spPr>
          <a:xfrm>
            <a:off x="4328850" y="4005073"/>
            <a:ext cx="4718304" cy="331262"/>
          </a:xfrm>
          <a:prstGeom prst="rect">
            <a:avLst/>
          </a:prstGeom>
          <a:solidFill>
            <a:srgbClr val="0F1117">
              <a:alpha val="80000"/>
            </a:srgbClr>
          </a:solidFill>
          <a:ln w="12700">
            <a:solidFill>
              <a:srgbClr val="2E3250"/>
            </a:solidFill>
            <a:prstDash val="solid"/>
          </a:ln>
        </p:spPr>
        <p:txBody>
          <a:bodyPr/>
          <a:lstStyle/>
          <a:p>
            <a:endParaRPr lang="hu-HU"/>
          </a:p>
        </p:txBody>
      </p:sp>
      <p:sp>
        <p:nvSpPr>
          <p:cNvPr id="49" name="Shape 47"/>
          <p:cNvSpPr/>
          <p:nvPr/>
        </p:nvSpPr>
        <p:spPr>
          <a:xfrm>
            <a:off x="4328850" y="4005073"/>
            <a:ext cx="64008" cy="331262"/>
          </a:xfrm>
          <a:prstGeom prst="rect">
            <a:avLst/>
          </a:prstGeom>
          <a:solidFill>
            <a:srgbClr val="E07B54"/>
          </a:solidFill>
          <a:ln w="12700">
            <a:solidFill>
              <a:srgbClr val="E07B54"/>
            </a:solidFill>
            <a:prstDash val="solid"/>
          </a:ln>
        </p:spPr>
        <p:txBody>
          <a:bodyPr/>
          <a:lstStyle/>
          <a:p>
            <a:endParaRPr lang="hu-HU"/>
          </a:p>
        </p:txBody>
      </p:sp>
      <p:sp>
        <p:nvSpPr>
          <p:cNvPr id="50" name="Text 48"/>
          <p:cNvSpPr/>
          <p:nvPr/>
        </p:nvSpPr>
        <p:spPr>
          <a:xfrm>
            <a:off x="4493442" y="4005073"/>
            <a:ext cx="2743200" cy="331262"/>
          </a:xfrm>
          <a:prstGeom prst="rect">
            <a:avLst/>
          </a:prstGeom>
          <a:noFill/>
          <a:ln/>
        </p:spPr>
        <p:txBody>
          <a:bodyPr wrap="square" rtlCol="0" anchor="ctr"/>
          <a:lstStyle/>
          <a:p>
            <a:pPr marL="0" indent="0">
              <a:buNone/>
            </a:pPr>
            <a:r>
              <a:rPr lang="en-US" sz="1000" dirty="0">
                <a:solidFill>
                  <a:srgbClr val="67E8F9"/>
                </a:solidFill>
                <a:latin typeface="Consolas" pitchFamily="34" charset="0"/>
                <a:ea typeface="Consolas" pitchFamily="34" charset="-122"/>
                <a:cs typeface="Consolas" pitchFamily="34" charset="-120"/>
              </a:rPr>
              <a:t>/admin</a:t>
            </a:r>
            <a:endParaRPr lang="en-US" sz="1000" dirty="0"/>
          </a:p>
        </p:txBody>
      </p:sp>
      <p:sp>
        <p:nvSpPr>
          <p:cNvPr id="51" name="Text 49"/>
          <p:cNvSpPr/>
          <p:nvPr/>
        </p:nvSpPr>
        <p:spPr>
          <a:xfrm>
            <a:off x="7282362" y="4005073"/>
            <a:ext cx="1645920" cy="331262"/>
          </a:xfrm>
          <a:prstGeom prst="rect">
            <a:avLst/>
          </a:prstGeom>
          <a:noFill/>
          <a:ln/>
        </p:spPr>
        <p:txBody>
          <a:bodyPr wrap="square" rtlCol="0" anchor="ctr"/>
          <a:lstStyle/>
          <a:p>
            <a:pPr marL="0" indent="0">
              <a:buNone/>
            </a:pPr>
            <a:r>
              <a:rPr lang="en-US" sz="950" dirty="0">
                <a:solidFill>
                  <a:srgbClr val="8892A4"/>
                </a:solidFill>
              </a:rPr>
              <a:t>Admin Dashboard</a:t>
            </a:r>
            <a:endParaRPr lang="en-US" sz="950" dirty="0"/>
          </a:p>
        </p:txBody>
      </p:sp>
      <p:sp>
        <p:nvSpPr>
          <p:cNvPr id="52" name="Shape 50"/>
          <p:cNvSpPr/>
          <p:nvPr/>
        </p:nvSpPr>
        <p:spPr>
          <a:xfrm>
            <a:off x="4328850" y="4389121"/>
            <a:ext cx="4718304" cy="331262"/>
          </a:xfrm>
          <a:prstGeom prst="rect">
            <a:avLst/>
          </a:prstGeom>
          <a:solidFill>
            <a:srgbClr val="0F1117">
              <a:alpha val="80000"/>
            </a:srgbClr>
          </a:solidFill>
          <a:ln w="12700">
            <a:solidFill>
              <a:srgbClr val="2E3250"/>
            </a:solidFill>
            <a:prstDash val="solid"/>
          </a:ln>
        </p:spPr>
        <p:txBody>
          <a:bodyPr/>
          <a:lstStyle/>
          <a:p>
            <a:endParaRPr lang="hu-HU"/>
          </a:p>
        </p:txBody>
      </p:sp>
      <p:sp>
        <p:nvSpPr>
          <p:cNvPr id="53" name="Shape 51"/>
          <p:cNvSpPr/>
          <p:nvPr/>
        </p:nvSpPr>
        <p:spPr>
          <a:xfrm>
            <a:off x="4328850" y="4389121"/>
            <a:ext cx="64008" cy="331262"/>
          </a:xfrm>
          <a:prstGeom prst="rect">
            <a:avLst/>
          </a:prstGeom>
          <a:solidFill>
            <a:srgbClr val="4ECDC4"/>
          </a:solidFill>
          <a:ln w="12700">
            <a:solidFill>
              <a:srgbClr val="4ECDC4"/>
            </a:solidFill>
            <a:prstDash val="solid"/>
          </a:ln>
        </p:spPr>
        <p:txBody>
          <a:bodyPr/>
          <a:lstStyle/>
          <a:p>
            <a:endParaRPr lang="hu-HU"/>
          </a:p>
        </p:txBody>
      </p:sp>
      <p:sp>
        <p:nvSpPr>
          <p:cNvPr id="54" name="Text 52"/>
          <p:cNvSpPr/>
          <p:nvPr/>
        </p:nvSpPr>
        <p:spPr>
          <a:xfrm>
            <a:off x="4493442" y="4389121"/>
            <a:ext cx="2743200" cy="331262"/>
          </a:xfrm>
          <a:prstGeom prst="rect">
            <a:avLst/>
          </a:prstGeom>
          <a:noFill/>
          <a:ln/>
        </p:spPr>
        <p:txBody>
          <a:bodyPr wrap="square" rtlCol="0" anchor="ctr"/>
          <a:lstStyle/>
          <a:p>
            <a:pPr marL="0" indent="0">
              <a:buNone/>
            </a:pPr>
            <a:r>
              <a:rPr lang="en-US" sz="1000" dirty="0">
                <a:solidFill>
                  <a:srgbClr val="67E8F9"/>
                </a:solidFill>
                <a:latin typeface="Consolas" pitchFamily="34" charset="0"/>
                <a:ea typeface="Consolas" pitchFamily="34" charset="-122"/>
                <a:cs typeface="Consolas" pitchFamily="34" charset="-120"/>
              </a:rPr>
              <a:t>/rolunk  /kapcsolat /…</a:t>
            </a:r>
            <a:endParaRPr lang="en-US" sz="1000" dirty="0"/>
          </a:p>
        </p:txBody>
      </p:sp>
      <p:sp>
        <p:nvSpPr>
          <p:cNvPr id="55" name="Text 53"/>
          <p:cNvSpPr/>
          <p:nvPr/>
        </p:nvSpPr>
        <p:spPr>
          <a:xfrm>
            <a:off x="7282362" y="4389121"/>
            <a:ext cx="1645920" cy="331262"/>
          </a:xfrm>
          <a:prstGeom prst="rect">
            <a:avLst/>
          </a:prstGeom>
          <a:noFill/>
          <a:ln/>
        </p:spPr>
        <p:txBody>
          <a:bodyPr wrap="square" rtlCol="0" anchor="ctr"/>
          <a:lstStyle/>
          <a:p>
            <a:pPr marL="0" indent="0">
              <a:buNone/>
            </a:pPr>
            <a:r>
              <a:rPr lang="en-US" sz="950" dirty="0">
                <a:solidFill>
                  <a:srgbClr val="8892A4"/>
                </a:solidFill>
              </a:rPr>
              <a:t>Info pages</a:t>
            </a:r>
            <a:endParaRPr lang="en-US" sz="950" dirty="0"/>
          </a:p>
        </p:txBody>
      </p:sp>
      <p:sp>
        <p:nvSpPr>
          <p:cNvPr id="56" name="Shape 54"/>
          <p:cNvSpPr/>
          <p:nvPr/>
        </p:nvSpPr>
        <p:spPr>
          <a:xfrm>
            <a:off x="2316102" y="4906758"/>
            <a:ext cx="164592" cy="164592"/>
          </a:xfrm>
          <a:prstGeom prst="rect">
            <a:avLst/>
          </a:prstGeom>
          <a:solidFill>
            <a:srgbClr val="4ECDC4"/>
          </a:solidFill>
          <a:ln w="12700">
            <a:solidFill>
              <a:srgbClr val="4ECDC4"/>
            </a:solidFill>
            <a:prstDash val="solid"/>
          </a:ln>
        </p:spPr>
        <p:txBody>
          <a:bodyPr/>
          <a:lstStyle/>
          <a:p>
            <a:endParaRPr lang="hu-HU"/>
          </a:p>
        </p:txBody>
      </p:sp>
      <p:sp>
        <p:nvSpPr>
          <p:cNvPr id="57" name="Text 55"/>
          <p:cNvSpPr/>
          <p:nvPr/>
        </p:nvSpPr>
        <p:spPr>
          <a:xfrm>
            <a:off x="2480694" y="4867646"/>
            <a:ext cx="1280160" cy="219456"/>
          </a:xfrm>
          <a:prstGeom prst="rect">
            <a:avLst/>
          </a:prstGeom>
          <a:noFill/>
          <a:ln/>
        </p:spPr>
        <p:txBody>
          <a:bodyPr wrap="square" rtlCol="0" anchor="ctr"/>
          <a:lstStyle/>
          <a:p>
            <a:pPr marL="0" indent="0">
              <a:buNone/>
            </a:pPr>
            <a:r>
              <a:rPr lang="en-US" sz="900" dirty="0">
                <a:solidFill>
                  <a:srgbClr val="8892A4"/>
                </a:solidFill>
              </a:rPr>
              <a:t>Public</a:t>
            </a:r>
            <a:endParaRPr lang="en-US" sz="900" dirty="0"/>
          </a:p>
        </p:txBody>
      </p:sp>
      <p:sp>
        <p:nvSpPr>
          <p:cNvPr id="58" name="Shape 56"/>
          <p:cNvSpPr/>
          <p:nvPr/>
        </p:nvSpPr>
        <p:spPr>
          <a:xfrm>
            <a:off x="3916302" y="4906758"/>
            <a:ext cx="164592" cy="164592"/>
          </a:xfrm>
          <a:prstGeom prst="rect">
            <a:avLst/>
          </a:prstGeom>
          <a:solidFill>
            <a:srgbClr val="F5C842"/>
          </a:solidFill>
          <a:ln w="12700">
            <a:solidFill>
              <a:srgbClr val="F5C842"/>
            </a:solidFill>
            <a:prstDash val="solid"/>
          </a:ln>
        </p:spPr>
        <p:txBody>
          <a:bodyPr/>
          <a:lstStyle/>
          <a:p>
            <a:endParaRPr lang="hu-HU"/>
          </a:p>
        </p:txBody>
      </p:sp>
      <p:sp>
        <p:nvSpPr>
          <p:cNvPr id="59" name="Text 57"/>
          <p:cNvSpPr/>
          <p:nvPr/>
        </p:nvSpPr>
        <p:spPr>
          <a:xfrm>
            <a:off x="4124078" y="4867646"/>
            <a:ext cx="1280160" cy="219456"/>
          </a:xfrm>
          <a:prstGeom prst="rect">
            <a:avLst/>
          </a:prstGeom>
          <a:noFill/>
          <a:ln/>
        </p:spPr>
        <p:txBody>
          <a:bodyPr wrap="square" rtlCol="0" anchor="ctr"/>
          <a:lstStyle/>
          <a:p>
            <a:pPr marL="0" indent="0">
              <a:buNone/>
            </a:pPr>
            <a:r>
              <a:rPr lang="en-US" sz="900" dirty="0">
                <a:solidFill>
                  <a:srgbClr val="8892A4"/>
                </a:solidFill>
              </a:rPr>
              <a:t>Auth required</a:t>
            </a:r>
            <a:endParaRPr lang="en-US" sz="900" dirty="0"/>
          </a:p>
        </p:txBody>
      </p:sp>
      <p:sp>
        <p:nvSpPr>
          <p:cNvPr id="60" name="Shape 58"/>
          <p:cNvSpPr/>
          <p:nvPr/>
        </p:nvSpPr>
        <p:spPr>
          <a:xfrm>
            <a:off x="5516502" y="4906758"/>
            <a:ext cx="164592" cy="164592"/>
          </a:xfrm>
          <a:prstGeom prst="rect">
            <a:avLst/>
          </a:prstGeom>
          <a:solidFill>
            <a:srgbClr val="E07B54"/>
          </a:solidFill>
          <a:ln w="12700">
            <a:solidFill>
              <a:srgbClr val="E07B54"/>
            </a:solidFill>
            <a:prstDash val="solid"/>
          </a:ln>
        </p:spPr>
        <p:txBody>
          <a:bodyPr/>
          <a:lstStyle/>
          <a:p>
            <a:endParaRPr lang="hu-HU"/>
          </a:p>
        </p:txBody>
      </p:sp>
      <p:sp>
        <p:nvSpPr>
          <p:cNvPr id="61" name="Text 59"/>
          <p:cNvSpPr/>
          <p:nvPr/>
        </p:nvSpPr>
        <p:spPr>
          <a:xfrm>
            <a:off x="5767462" y="4863507"/>
            <a:ext cx="1280160" cy="219456"/>
          </a:xfrm>
          <a:prstGeom prst="rect">
            <a:avLst/>
          </a:prstGeom>
          <a:noFill/>
          <a:ln/>
        </p:spPr>
        <p:txBody>
          <a:bodyPr wrap="square" rtlCol="0" anchor="ctr"/>
          <a:lstStyle/>
          <a:p>
            <a:pPr marL="0" indent="0">
              <a:buNone/>
            </a:pPr>
            <a:r>
              <a:rPr lang="en-US" sz="900" dirty="0">
                <a:solidFill>
                  <a:srgbClr val="8892A4"/>
                </a:solidFill>
              </a:rPr>
              <a:t>Admin only</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1117"/>
        </a:solidFill>
        <a:effectLst/>
      </p:bgPr>
    </p:bg>
    <p:spTree>
      <p:nvGrpSpPr>
        <p:cNvPr id="1" name=""/>
        <p:cNvGrpSpPr/>
        <p:nvPr/>
      </p:nvGrpSpPr>
      <p:grpSpPr>
        <a:xfrm>
          <a:off x="0" y="0"/>
          <a:ext cx="0" cy="0"/>
          <a:chOff x="0" y="0"/>
          <a:chExt cx="0" cy="0"/>
        </a:xfrm>
      </p:grpSpPr>
      <p:sp>
        <p:nvSpPr>
          <p:cNvPr id="2" name="Shape 0"/>
          <p:cNvSpPr/>
          <p:nvPr/>
        </p:nvSpPr>
        <p:spPr>
          <a:xfrm>
            <a:off x="0" y="0"/>
            <a:ext cx="9144000" cy="1078992"/>
          </a:xfrm>
          <a:prstGeom prst="rect">
            <a:avLst/>
          </a:prstGeom>
          <a:solidFill>
            <a:srgbClr val="1A1D2E"/>
          </a:solidFill>
          <a:ln w="12700">
            <a:solidFill>
              <a:srgbClr val="1A1D2E"/>
            </a:solidFill>
            <a:prstDash val="solid"/>
          </a:ln>
        </p:spPr>
        <p:txBody>
          <a:bodyPr/>
          <a:lstStyle/>
          <a:p>
            <a:endParaRPr lang="hu-HU"/>
          </a:p>
        </p:txBody>
      </p:sp>
      <p:sp>
        <p:nvSpPr>
          <p:cNvPr id="3" name="Shape 1"/>
          <p:cNvSpPr/>
          <p:nvPr/>
        </p:nvSpPr>
        <p:spPr>
          <a:xfrm>
            <a:off x="0" y="1078992"/>
            <a:ext cx="9144000" cy="36576"/>
          </a:xfrm>
          <a:prstGeom prst="rect">
            <a:avLst/>
          </a:prstGeom>
          <a:solidFill>
            <a:srgbClr val="E07B54"/>
          </a:solidFill>
          <a:ln w="12700">
            <a:solidFill>
              <a:srgbClr val="E07B54"/>
            </a:solidFill>
            <a:prstDash val="solid"/>
          </a:ln>
        </p:spPr>
        <p:txBody>
          <a:bodyPr/>
          <a:lstStyle/>
          <a:p>
            <a:endParaRPr lang="hu-HU"/>
          </a:p>
        </p:txBody>
      </p:sp>
      <p:sp>
        <p:nvSpPr>
          <p:cNvPr id="4" name="Text 2"/>
          <p:cNvSpPr/>
          <p:nvPr/>
        </p:nvSpPr>
        <p:spPr>
          <a:xfrm>
            <a:off x="502920" y="73152"/>
            <a:ext cx="6400800" cy="640080"/>
          </a:xfrm>
          <a:prstGeom prst="rect">
            <a:avLst/>
          </a:prstGeom>
          <a:noFill/>
          <a:ln/>
        </p:spPr>
        <p:txBody>
          <a:bodyPr wrap="square" rtlCol="0" anchor="ctr"/>
          <a:lstStyle/>
          <a:p>
            <a:pPr marL="0" indent="0">
              <a:buNone/>
            </a:pPr>
            <a:r>
              <a:rPr lang="en-US" sz="3200" b="1" dirty="0">
                <a:solidFill>
                  <a:srgbClr val="FFFFFF"/>
                </a:solidFill>
                <a:latin typeface="Georgia" pitchFamily="34" charset="0"/>
                <a:ea typeface="Georgia" pitchFamily="34" charset="-122"/>
                <a:cs typeface="Georgia" pitchFamily="34" charset="-120"/>
              </a:rPr>
              <a:t>Authentication Flow</a:t>
            </a:r>
            <a:endParaRPr lang="en-US" sz="3200" dirty="0"/>
          </a:p>
        </p:txBody>
      </p:sp>
      <p:sp>
        <p:nvSpPr>
          <p:cNvPr id="5" name="Text 3"/>
          <p:cNvSpPr/>
          <p:nvPr/>
        </p:nvSpPr>
        <p:spPr>
          <a:xfrm>
            <a:off x="502920" y="713232"/>
            <a:ext cx="7772400" cy="329184"/>
          </a:xfrm>
          <a:prstGeom prst="rect">
            <a:avLst/>
          </a:prstGeom>
          <a:noFill/>
          <a:ln/>
        </p:spPr>
        <p:txBody>
          <a:bodyPr wrap="square" rtlCol="0" anchor="ctr"/>
          <a:lstStyle/>
          <a:p>
            <a:pPr marL="0" indent="0">
              <a:buNone/>
            </a:pPr>
            <a:r>
              <a:rPr lang="en-US" sz="1300" dirty="0">
                <a:solidFill>
                  <a:srgbClr val="8892A4"/>
                </a:solidFill>
              </a:rPr>
              <a:t>JWT token lifecycle on the frontend</a:t>
            </a:r>
            <a:endParaRPr lang="en-US" sz="1300" dirty="0"/>
          </a:p>
        </p:txBody>
      </p:sp>
      <p:sp>
        <p:nvSpPr>
          <p:cNvPr id="6" name="Shape 4"/>
          <p:cNvSpPr/>
          <p:nvPr/>
        </p:nvSpPr>
        <p:spPr>
          <a:xfrm>
            <a:off x="292608" y="1371600"/>
            <a:ext cx="1417320" cy="1417320"/>
          </a:xfrm>
          <a:prstGeom prst="ellipse">
            <a:avLst/>
          </a:prstGeom>
          <a:solidFill>
            <a:srgbClr val="67E8F9">
              <a:alpha val="80000"/>
            </a:srgbClr>
          </a:solidFill>
          <a:ln w="25400">
            <a:solidFill>
              <a:srgbClr val="67E8F9"/>
            </a:solidFill>
            <a:prstDash val="solid"/>
          </a:ln>
          <a:effectLst>
            <a:outerShdw blurRad="127000" dist="50800" dir="8100000" algn="bl" rotWithShape="0">
              <a:srgbClr val="000000">
                <a:alpha val="35000"/>
              </a:srgbClr>
            </a:outerShdw>
          </a:effectLst>
        </p:spPr>
        <p:txBody>
          <a:bodyPr/>
          <a:lstStyle/>
          <a:p>
            <a:endParaRPr lang="hu-HU"/>
          </a:p>
        </p:txBody>
      </p:sp>
      <p:sp>
        <p:nvSpPr>
          <p:cNvPr id="7" name="Text 5"/>
          <p:cNvSpPr/>
          <p:nvPr/>
        </p:nvSpPr>
        <p:spPr>
          <a:xfrm>
            <a:off x="292608" y="1371600"/>
            <a:ext cx="1417320" cy="685800"/>
          </a:xfrm>
          <a:prstGeom prst="rect">
            <a:avLst/>
          </a:prstGeom>
          <a:noFill/>
          <a:ln/>
        </p:spPr>
        <p:txBody>
          <a:bodyPr wrap="square" rtlCol="0" anchor="ctr"/>
          <a:lstStyle/>
          <a:p>
            <a:pPr marL="0" indent="0" algn="ctr">
              <a:buNone/>
            </a:pPr>
            <a:r>
              <a:rPr lang="en-US" sz="2600" dirty="0">
                <a:solidFill>
                  <a:srgbClr val="000000"/>
                </a:solidFill>
              </a:rPr>
              <a:t>📝</a:t>
            </a:r>
            <a:endParaRPr lang="en-US" sz="2600" dirty="0"/>
          </a:p>
        </p:txBody>
      </p:sp>
      <p:sp>
        <p:nvSpPr>
          <p:cNvPr id="8" name="Text 6"/>
          <p:cNvSpPr/>
          <p:nvPr/>
        </p:nvSpPr>
        <p:spPr>
          <a:xfrm>
            <a:off x="201168" y="2029968"/>
            <a:ext cx="1600200" cy="594360"/>
          </a:xfrm>
          <a:prstGeom prst="rect">
            <a:avLst/>
          </a:prstGeom>
          <a:noFill/>
          <a:ln/>
        </p:spPr>
        <p:txBody>
          <a:bodyPr wrap="square" rtlCol="0" anchor="ctr"/>
          <a:lstStyle/>
          <a:p>
            <a:pPr marL="0" indent="0" algn="ctr">
              <a:buNone/>
            </a:pPr>
            <a:r>
              <a:rPr lang="en-US" sz="1000" dirty="0">
                <a:solidFill>
                  <a:srgbClr val="FFFFFF"/>
                </a:solidFill>
              </a:rPr>
              <a:t>User</a:t>
            </a:r>
            <a:endParaRPr lang="en-US" sz="1000" dirty="0"/>
          </a:p>
          <a:p>
            <a:pPr marL="0" indent="0" algn="ctr">
              <a:buNone/>
            </a:pPr>
            <a:r>
              <a:rPr lang="en-US" sz="1000" dirty="0">
                <a:solidFill>
                  <a:srgbClr val="FFFFFF"/>
                </a:solidFill>
              </a:rPr>
              <a:t>Logins</a:t>
            </a:r>
            <a:endParaRPr lang="en-US" sz="1000" dirty="0"/>
          </a:p>
        </p:txBody>
      </p:sp>
      <p:sp>
        <p:nvSpPr>
          <p:cNvPr id="9" name="Shape 7"/>
          <p:cNvSpPr/>
          <p:nvPr/>
        </p:nvSpPr>
        <p:spPr>
          <a:xfrm>
            <a:off x="1728216" y="2048256"/>
            <a:ext cx="274320" cy="54864"/>
          </a:xfrm>
          <a:prstGeom prst="rect">
            <a:avLst/>
          </a:prstGeom>
          <a:solidFill>
            <a:srgbClr val="8892A4"/>
          </a:solidFill>
          <a:ln w="12700">
            <a:solidFill>
              <a:srgbClr val="8892A4"/>
            </a:solidFill>
            <a:prstDash val="solid"/>
          </a:ln>
        </p:spPr>
        <p:txBody>
          <a:bodyPr/>
          <a:lstStyle/>
          <a:p>
            <a:endParaRPr lang="hu-HU"/>
          </a:p>
        </p:txBody>
      </p:sp>
      <p:sp>
        <p:nvSpPr>
          <p:cNvPr id="10" name="Text 8"/>
          <p:cNvSpPr/>
          <p:nvPr/>
        </p:nvSpPr>
        <p:spPr>
          <a:xfrm>
            <a:off x="1742933" y="1947672"/>
            <a:ext cx="256032" cy="256032"/>
          </a:xfrm>
          <a:prstGeom prst="rect">
            <a:avLst/>
          </a:prstGeom>
          <a:noFill/>
          <a:ln/>
        </p:spPr>
        <p:txBody>
          <a:bodyPr wrap="square" rtlCol="0" anchor="ctr"/>
          <a:lstStyle/>
          <a:p>
            <a:pPr marL="0" indent="0" algn="ctr">
              <a:buNone/>
            </a:pPr>
            <a:endParaRPr lang="en-US" sz="1300" dirty="0">
              <a:solidFill>
                <a:schemeClr val="bg1"/>
              </a:solidFill>
            </a:endParaRPr>
          </a:p>
        </p:txBody>
      </p:sp>
      <p:sp>
        <p:nvSpPr>
          <p:cNvPr id="11" name="Shape 9"/>
          <p:cNvSpPr/>
          <p:nvPr/>
        </p:nvSpPr>
        <p:spPr>
          <a:xfrm>
            <a:off x="2029968" y="1371600"/>
            <a:ext cx="1417320" cy="1417320"/>
          </a:xfrm>
          <a:prstGeom prst="ellipse">
            <a:avLst/>
          </a:prstGeom>
          <a:solidFill>
            <a:srgbClr val="E07B54">
              <a:alpha val="80000"/>
            </a:srgbClr>
          </a:solidFill>
          <a:ln w="25400">
            <a:solidFill>
              <a:srgbClr val="E07B54"/>
            </a:solidFill>
            <a:prstDash val="solid"/>
          </a:ln>
          <a:effectLst>
            <a:outerShdw blurRad="127000" dist="50800" dir="8100000" algn="bl" rotWithShape="0">
              <a:srgbClr val="000000">
                <a:alpha val="35000"/>
              </a:srgbClr>
            </a:outerShdw>
          </a:effectLst>
        </p:spPr>
        <p:txBody>
          <a:bodyPr/>
          <a:lstStyle/>
          <a:p>
            <a:endParaRPr lang="hu-HU"/>
          </a:p>
        </p:txBody>
      </p:sp>
      <p:sp>
        <p:nvSpPr>
          <p:cNvPr id="12" name="Text 10"/>
          <p:cNvSpPr/>
          <p:nvPr/>
        </p:nvSpPr>
        <p:spPr>
          <a:xfrm>
            <a:off x="2029968" y="1371600"/>
            <a:ext cx="1417320" cy="685800"/>
          </a:xfrm>
          <a:prstGeom prst="rect">
            <a:avLst/>
          </a:prstGeom>
          <a:noFill/>
          <a:ln/>
        </p:spPr>
        <p:txBody>
          <a:bodyPr wrap="square" rtlCol="0" anchor="ctr"/>
          <a:lstStyle/>
          <a:p>
            <a:pPr marL="0" indent="0" algn="ctr">
              <a:buNone/>
            </a:pPr>
            <a:r>
              <a:rPr lang="en-US" sz="2600" dirty="0">
                <a:solidFill>
                  <a:srgbClr val="000000"/>
                </a:solidFill>
              </a:rPr>
              <a:t>📡</a:t>
            </a:r>
            <a:endParaRPr lang="en-US" sz="2600" dirty="0"/>
          </a:p>
        </p:txBody>
      </p:sp>
      <p:sp>
        <p:nvSpPr>
          <p:cNvPr id="13" name="Text 11"/>
          <p:cNvSpPr/>
          <p:nvPr/>
        </p:nvSpPr>
        <p:spPr>
          <a:xfrm>
            <a:off x="1938528" y="2029968"/>
            <a:ext cx="1600200" cy="594360"/>
          </a:xfrm>
          <a:prstGeom prst="rect">
            <a:avLst/>
          </a:prstGeom>
          <a:noFill/>
          <a:ln/>
        </p:spPr>
        <p:txBody>
          <a:bodyPr wrap="square" rtlCol="0" anchor="ctr"/>
          <a:lstStyle/>
          <a:p>
            <a:pPr marL="0" indent="0" algn="ctr">
              <a:buNone/>
            </a:pPr>
            <a:r>
              <a:rPr lang="en-US" sz="1000" dirty="0">
                <a:solidFill>
                  <a:srgbClr val="FFFFFF"/>
                </a:solidFill>
              </a:rPr>
              <a:t>POST</a:t>
            </a:r>
            <a:endParaRPr lang="en-US" sz="1000" dirty="0"/>
          </a:p>
          <a:p>
            <a:pPr marL="0" indent="0" algn="ctr">
              <a:buNone/>
            </a:pPr>
            <a:r>
              <a:rPr lang="en-US" sz="1000" dirty="0">
                <a:solidFill>
                  <a:srgbClr val="FFFFFF"/>
                </a:solidFill>
              </a:rPr>
              <a:t>/api/auth/login</a:t>
            </a:r>
            <a:endParaRPr lang="en-US" sz="1000" dirty="0"/>
          </a:p>
        </p:txBody>
      </p:sp>
      <p:sp>
        <p:nvSpPr>
          <p:cNvPr id="14" name="Shape 12"/>
          <p:cNvSpPr/>
          <p:nvPr/>
        </p:nvSpPr>
        <p:spPr>
          <a:xfrm>
            <a:off x="3465576" y="2048256"/>
            <a:ext cx="274320" cy="54864"/>
          </a:xfrm>
          <a:prstGeom prst="rect">
            <a:avLst/>
          </a:prstGeom>
          <a:solidFill>
            <a:srgbClr val="8892A4"/>
          </a:solidFill>
          <a:ln w="12700">
            <a:solidFill>
              <a:srgbClr val="8892A4"/>
            </a:solidFill>
            <a:prstDash val="solid"/>
          </a:ln>
        </p:spPr>
        <p:txBody>
          <a:bodyPr/>
          <a:lstStyle/>
          <a:p>
            <a:endParaRPr lang="hu-HU"/>
          </a:p>
        </p:txBody>
      </p:sp>
      <p:sp>
        <p:nvSpPr>
          <p:cNvPr id="15" name="Text 13"/>
          <p:cNvSpPr/>
          <p:nvPr/>
        </p:nvSpPr>
        <p:spPr>
          <a:xfrm>
            <a:off x="3466844" y="1947672"/>
            <a:ext cx="256032" cy="256032"/>
          </a:xfrm>
          <a:prstGeom prst="rect">
            <a:avLst/>
          </a:prstGeom>
          <a:noFill/>
          <a:ln/>
        </p:spPr>
        <p:txBody>
          <a:bodyPr wrap="square" rtlCol="0" anchor="ctr"/>
          <a:lstStyle/>
          <a:p>
            <a:pPr marL="0" indent="0" algn="ctr">
              <a:buNone/>
            </a:pPr>
            <a:endParaRPr lang="en-US" sz="1300" dirty="0">
              <a:solidFill>
                <a:schemeClr val="bg1"/>
              </a:solidFill>
            </a:endParaRPr>
          </a:p>
        </p:txBody>
      </p:sp>
      <p:sp>
        <p:nvSpPr>
          <p:cNvPr id="16" name="Shape 14"/>
          <p:cNvSpPr/>
          <p:nvPr/>
        </p:nvSpPr>
        <p:spPr>
          <a:xfrm>
            <a:off x="3767328" y="1371600"/>
            <a:ext cx="1417320" cy="1417320"/>
          </a:xfrm>
          <a:prstGeom prst="ellipse">
            <a:avLst/>
          </a:prstGeom>
          <a:solidFill>
            <a:srgbClr val="F5C842">
              <a:alpha val="80000"/>
            </a:srgbClr>
          </a:solidFill>
          <a:ln w="25400">
            <a:solidFill>
              <a:srgbClr val="F5C842"/>
            </a:solidFill>
            <a:prstDash val="solid"/>
          </a:ln>
          <a:effectLst>
            <a:outerShdw blurRad="127000" dist="50800" dir="8100000" algn="bl" rotWithShape="0">
              <a:srgbClr val="000000">
                <a:alpha val="35000"/>
              </a:srgbClr>
            </a:outerShdw>
          </a:effectLst>
        </p:spPr>
        <p:txBody>
          <a:bodyPr/>
          <a:lstStyle/>
          <a:p>
            <a:endParaRPr lang="hu-HU"/>
          </a:p>
        </p:txBody>
      </p:sp>
      <p:sp>
        <p:nvSpPr>
          <p:cNvPr id="17" name="Text 15"/>
          <p:cNvSpPr/>
          <p:nvPr/>
        </p:nvSpPr>
        <p:spPr>
          <a:xfrm>
            <a:off x="3767328" y="1371600"/>
            <a:ext cx="1417320" cy="685800"/>
          </a:xfrm>
          <a:prstGeom prst="rect">
            <a:avLst/>
          </a:prstGeom>
          <a:noFill/>
          <a:ln/>
        </p:spPr>
        <p:txBody>
          <a:bodyPr wrap="square" rtlCol="0" anchor="ctr"/>
          <a:lstStyle/>
          <a:p>
            <a:pPr marL="0" indent="0" algn="ctr">
              <a:buNone/>
            </a:pPr>
            <a:r>
              <a:rPr lang="en-US" sz="2600" dirty="0">
                <a:solidFill>
                  <a:srgbClr val="000000"/>
                </a:solidFill>
              </a:rPr>
              <a:t>🔑</a:t>
            </a:r>
            <a:endParaRPr lang="en-US" sz="2600" dirty="0"/>
          </a:p>
        </p:txBody>
      </p:sp>
      <p:sp>
        <p:nvSpPr>
          <p:cNvPr id="18" name="Text 16"/>
          <p:cNvSpPr/>
          <p:nvPr/>
        </p:nvSpPr>
        <p:spPr>
          <a:xfrm>
            <a:off x="3675888" y="2029968"/>
            <a:ext cx="1600200" cy="594360"/>
          </a:xfrm>
          <a:prstGeom prst="rect">
            <a:avLst/>
          </a:prstGeom>
          <a:noFill/>
          <a:ln/>
        </p:spPr>
        <p:txBody>
          <a:bodyPr wrap="square" rtlCol="0" anchor="ctr"/>
          <a:lstStyle/>
          <a:p>
            <a:pPr marL="0" indent="0" algn="ctr">
              <a:buNone/>
            </a:pPr>
            <a:r>
              <a:rPr lang="en-US" sz="1000" dirty="0">
                <a:solidFill>
                  <a:srgbClr val="FFFFFF"/>
                </a:solidFill>
              </a:rPr>
              <a:t>JWT Token</a:t>
            </a:r>
            <a:endParaRPr lang="en-US" sz="1000" dirty="0"/>
          </a:p>
          <a:p>
            <a:pPr marL="0" indent="0" algn="ctr">
              <a:buNone/>
            </a:pPr>
            <a:r>
              <a:rPr lang="en-US" sz="1000" dirty="0">
                <a:solidFill>
                  <a:srgbClr val="FFFFFF"/>
                </a:solidFill>
              </a:rPr>
              <a:t>Received</a:t>
            </a:r>
            <a:endParaRPr lang="en-US" sz="1000" dirty="0"/>
          </a:p>
        </p:txBody>
      </p:sp>
      <p:sp>
        <p:nvSpPr>
          <p:cNvPr id="19" name="Shape 17"/>
          <p:cNvSpPr/>
          <p:nvPr/>
        </p:nvSpPr>
        <p:spPr>
          <a:xfrm>
            <a:off x="5202936" y="2048256"/>
            <a:ext cx="274320" cy="54864"/>
          </a:xfrm>
          <a:prstGeom prst="rect">
            <a:avLst/>
          </a:prstGeom>
          <a:solidFill>
            <a:srgbClr val="8892A4"/>
          </a:solidFill>
          <a:ln w="12700">
            <a:solidFill>
              <a:srgbClr val="8892A4"/>
            </a:solidFill>
            <a:prstDash val="solid"/>
          </a:ln>
        </p:spPr>
        <p:txBody>
          <a:bodyPr/>
          <a:lstStyle/>
          <a:p>
            <a:endParaRPr lang="hu-HU"/>
          </a:p>
        </p:txBody>
      </p:sp>
      <p:sp>
        <p:nvSpPr>
          <p:cNvPr id="20" name="Text 18"/>
          <p:cNvSpPr/>
          <p:nvPr/>
        </p:nvSpPr>
        <p:spPr>
          <a:xfrm>
            <a:off x="5254396" y="1947672"/>
            <a:ext cx="256032" cy="256032"/>
          </a:xfrm>
          <a:prstGeom prst="rect">
            <a:avLst/>
          </a:prstGeom>
          <a:noFill/>
          <a:ln/>
        </p:spPr>
        <p:txBody>
          <a:bodyPr wrap="square" rtlCol="0" anchor="ctr"/>
          <a:lstStyle/>
          <a:p>
            <a:pPr marL="0" indent="0" algn="ctr">
              <a:buNone/>
            </a:pPr>
            <a:endParaRPr lang="en-US" sz="1300" dirty="0">
              <a:solidFill>
                <a:schemeClr val="bg1"/>
              </a:solidFill>
            </a:endParaRPr>
          </a:p>
        </p:txBody>
      </p:sp>
      <p:sp>
        <p:nvSpPr>
          <p:cNvPr id="21" name="Shape 19"/>
          <p:cNvSpPr/>
          <p:nvPr/>
        </p:nvSpPr>
        <p:spPr>
          <a:xfrm>
            <a:off x="5504688" y="1371600"/>
            <a:ext cx="1417320" cy="1417320"/>
          </a:xfrm>
          <a:prstGeom prst="ellipse">
            <a:avLst/>
          </a:prstGeom>
          <a:solidFill>
            <a:srgbClr val="A78BFA">
              <a:alpha val="80000"/>
            </a:srgbClr>
          </a:solidFill>
          <a:ln w="25400">
            <a:solidFill>
              <a:srgbClr val="A78BFA"/>
            </a:solidFill>
            <a:prstDash val="solid"/>
          </a:ln>
          <a:effectLst>
            <a:outerShdw blurRad="127000" dist="50800" dir="8100000" algn="bl" rotWithShape="0">
              <a:srgbClr val="000000">
                <a:alpha val="35000"/>
              </a:srgbClr>
            </a:outerShdw>
          </a:effectLst>
        </p:spPr>
        <p:txBody>
          <a:bodyPr/>
          <a:lstStyle/>
          <a:p>
            <a:endParaRPr lang="hu-HU"/>
          </a:p>
        </p:txBody>
      </p:sp>
      <p:sp>
        <p:nvSpPr>
          <p:cNvPr id="22" name="Text 20"/>
          <p:cNvSpPr/>
          <p:nvPr/>
        </p:nvSpPr>
        <p:spPr>
          <a:xfrm>
            <a:off x="5504688" y="1371600"/>
            <a:ext cx="1417320" cy="685800"/>
          </a:xfrm>
          <a:prstGeom prst="rect">
            <a:avLst/>
          </a:prstGeom>
          <a:noFill/>
          <a:ln/>
        </p:spPr>
        <p:txBody>
          <a:bodyPr wrap="square" rtlCol="0" anchor="ctr"/>
          <a:lstStyle/>
          <a:p>
            <a:pPr marL="0" indent="0" algn="ctr">
              <a:buNone/>
            </a:pPr>
            <a:r>
              <a:rPr lang="en-US" sz="2600" dirty="0">
                <a:solidFill>
                  <a:srgbClr val="000000"/>
                </a:solidFill>
              </a:rPr>
              <a:t>💾</a:t>
            </a:r>
            <a:endParaRPr lang="en-US" sz="2600" dirty="0"/>
          </a:p>
        </p:txBody>
      </p:sp>
      <p:sp>
        <p:nvSpPr>
          <p:cNvPr id="23" name="Text 21"/>
          <p:cNvSpPr/>
          <p:nvPr/>
        </p:nvSpPr>
        <p:spPr>
          <a:xfrm>
            <a:off x="5413248" y="2029968"/>
            <a:ext cx="1600200" cy="594360"/>
          </a:xfrm>
          <a:prstGeom prst="rect">
            <a:avLst/>
          </a:prstGeom>
          <a:noFill/>
          <a:ln/>
        </p:spPr>
        <p:txBody>
          <a:bodyPr wrap="square" rtlCol="0" anchor="ctr"/>
          <a:lstStyle/>
          <a:p>
            <a:pPr marL="0" indent="0" algn="ctr">
              <a:buNone/>
            </a:pPr>
            <a:r>
              <a:rPr lang="en-US" sz="1000" dirty="0">
                <a:solidFill>
                  <a:srgbClr val="FFFFFF"/>
                </a:solidFill>
              </a:rPr>
              <a:t>Stored in</a:t>
            </a:r>
            <a:endParaRPr lang="en-US" sz="1000" dirty="0"/>
          </a:p>
          <a:p>
            <a:pPr marL="0" indent="0" algn="ctr">
              <a:buNone/>
            </a:pPr>
            <a:r>
              <a:rPr lang="en-US" sz="1000" dirty="0">
                <a:solidFill>
                  <a:srgbClr val="FFFFFF"/>
                </a:solidFill>
              </a:rPr>
              <a:t>localStorage</a:t>
            </a:r>
            <a:endParaRPr lang="en-US" sz="1000" dirty="0"/>
          </a:p>
        </p:txBody>
      </p:sp>
      <p:sp>
        <p:nvSpPr>
          <p:cNvPr id="24" name="Shape 22"/>
          <p:cNvSpPr/>
          <p:nvPr/>
        </p:nvSpPr>
        <p:spPr>
          <a:xfrm>
            <a:off x="6940296" y="2048256"/>
            <a:ext cx="274320" cy="54864"/>
          </a:xfrm>
          <a:prstGeom prst="rect">
            <a:avLst/>
          </a:prstGeom>
          <a:solidFill>
            <a:srgbClr val="8892A4"/>
          </a:solidFill>
          <a:ln w="12700">
            <a:solidFill>
              <a:srgbClr val="8892A4"/>
            </a:solidFill>
            <a:prstDash val="solid"/>
          </a:ln>
        </p:spPr>
        <p:txBody>
          <a:bodyPr/>
          <a:lstStyle/>
          <a:p>
            <a:endParaRPr lang="hu-HU"/>
          </a:p>
        </p:txBody>
      </p:sp>
      <p:sp>
        <p:nvSpPr>
          <p:cNvPr id="25" name="Text 23"/>
          <p:cNvSpPr/>
          <p:nvPr/>
        </p:nvSpPr>
        <p:spPr>
          <a:xfrm>
            <a:off x="6940296" y="1947405"/>
            <a:ext cx="256032" cy="256032"/>
          </a:xfrm>
          <a:prstGeom prst="rect">
            <a:avLst/>
          </a:prstGeom>
          <a:noFill/>
          <a:ln/>
        </p:spPr>
        <p:txBody>
          <a:bodyPr wrap="square" rtlCol="0" anchor="ctr"/>
          <a:lstStyle/>
          <a:p>
            <a:pPr marL="0" indent="0" algn="ctr">
              <a:buNone/>
            </a:pPr>
            <a:endParaRPr lang="en-US" sz="1300" dirty="0">
              <a:solidFill>
                <a:schemeClr val="bg1"/>
              </a:solidFill>
            </a:endParaRPr>
          </a:p>
        </p:txBody>
      </p:sp>
      <p:sp>
        <p:nvSpPr>
          <p:cNvPr id="26" name="Shape 24"/>
          <p:cNvSpPr/>
          <p:nvPr/>
        </p:nvSpPr>
        <p:spPr>
          <a:xfrm>
            <a:off x="7242048" y="1371600"/>
            <a:ext cx="1417320" cy="1417320"/>
          </a:xfrm>
          <a:prstGeom prst="ellipse">
            <a:avLst/>
          </a:prstGeom>
          <a:solidFill>
            <a:srgbClr val="34D399">
              <a:alpha val="80000"/>
            </a:srgbClr>
          </a:solidFill>
          <a:ln w="25400">
            <a:solidFill>
              <a:srgbClr val="34D399"/>
            </a:solidFill>
            <a:prstDash val="solid"/>
          </a:ln>
          <a:effectLst>
            <a:outerShdw blurRad="127000" dist="50800" dir="8100000" algn="bl" rotWithShape="0">
              <a:srgbClr val="000000">
                <a:alpha val="35000"/>
              </a:srgbClr>
            </a:outerShdw>
          </a:effectLst>
        </p:spPr>
        <p:txBody>
          <a:bodyPr/>
          <a:lstStyle/>
          <a:p>
            <a:endParaRPr lang="hu-HU"/>
          </a:p>
        </p:txBody>
      </p:sp>
      <p:sp>
        <p:nvSpPr>
          <p:cNvPr id="27" name="Text 25"/>
          <p:cNvSpPr/>
          <p:nvPr/>
        </p:nvSpPr>
        <p:spPr>
          <a:xfrm>
            <a:off x="7242048" y="1371600"/>
            <a:ext cx="1417320" cy="685800"/>
          </a:xfrm>
          <a:prstGeom prst="rect">
            <a:avLst/>
          </a:prstGeom>
          <a:noFill/>
          <a:ln/>
        </p:spPr>
        <p:txBody>
          <a:bodyPr wrap="square" rtlCol="0" anchor="ctr"/>
          <a:lstStyle/>
          <a:p>
            <a:pPr marL="0" indent="0" algn="ctr">
              <a:buNone/>
            </a:pPr>
            <a:r>
              <a:rPr lang="en-US" sz="2600" dirty="0">
                <a:solidFill>
                  <a:srgbClr val="000000"/>
                </a:solidFill>
              </a:rPr>
              <a:t>🔒</a:t>
            </a:r>
            <a:endParaRPr lang="en-US" sz="2600" dirty="0"/>
          </a:p>
        </p:txBody>
      </p:sp>
      <p:sp>
        <p:nvSpPr>
          <p:cNvPr id="28" name="Text 26"/>
          <p:cNvSpPr/>
          <p:nvPr/>
        </p:nvSpPr>
        <p:spPr>
          <a:xfrm>
            <a:off x="7150608" y="2029968"/>
            <a:ext cx="1600200" cy="594360"/>
          </a:xfrm>
          <a:prstGeom prst="rect">
            <a:avLst/>
          </a:prstGeom>
          <a:noFill/>
          <a:ln/>
        </p:spPr>
        <p:txBody>
          <a:bodyPr wrap="square" rtlCol="0" anchor="ctr"/>
          <a:lstStyle/>
          <a:p>
            <a:pPr marL="0" indent="0" algn="ctr">
              <a:buNone/>
            </a:pPr>
            <a:r>
              <a:rPr lang="en-US" sz="1000" dirty="0">
                <a:solidFill>
                  <a:srgbClr val="FFFFFF"/>
                </a:solidFill>
              </a:rPr>
              <a:t>Sent with</a:t>
            </a:r>
            <a:endParaRPr lang="en-US" sz="1000" dirty="0"/>
          </a:p>
          <a:p>
            <a:pPr marL="0" indent="0" algn="ctr">
              <a:buNone/>
            </a:pPr>
            <a:r>
              <a:rPr lang="en-US" sz="1000" dirty="0">
                <a:solidFill>
                  <a:srgbClr val="FFFFFF"/>
                </a:solidFill>
              </a:rPr>
              <a:t>every request</a:t>
            </a:r>
            <a:endParaRPr lang="en-US" sz="1000" dirty="0"/>
          </a:p>
        </p:txBody>
      </p:sp>
      <p:sp>
        <p:nvSpPr>
          <p:cNvPr id="29" name="Shape 27"/>
          <p:cNvSpPr/>
          <p:nvPr/>
        </p:nvSpPr>
        <p:spPr>
          <a:xfrm>
            <a:off x="292608" y="2926080"/>
            <a:ext cx="8549640" cy="2011680"/>
          </a:xfrm>
          <a:prstGeom prst="rect">
            <a:avLst/>
          </a:prstGeom>
          <a:solidFill>
            <a:srgbClr val="141824"/>
          </a:solidFill>
          <a:ln w="12700">
            <a:solidFill>
              <a:srgbClr val="2E3250"/>
            </a:solidFill>
            <a:prstDash val="solid"/>
          </a:ln>
          <a:effectLst>
            <a:outerShdw blurRad="127000" dist="50800" dir="8100000" algn="bl" rotWithShape="0">
              <a:srgbClr val="000000">
                <a:alpha val="35000"/>
              </a:srgbClr>
            </a:outerShdw>
          </a:effectLst>
        </p:spPr>
        <p:txBody>
          <a:bodyPr/>
          <a:lstStyle/>
          <a:p>
            <a:endParaRPr lang="hu-HU"/>
          </a:p>
        </p:txBody>
      </p:sp>
      <p:sp>
        <p:nvSpPr>
          <p:cNvPr id="30" name="Text 28"/>
          <p:cNvSpPr/>
          <p:nvPr/>
        </p:nvSpPr>
        <p:spPr>
          <a:xfrm>
            <a:off x="475488" y="2999232"/>
            <a:ext cx="8229600" cy="256032"/>
          </a:xfrm>
          <a:prstGeom prst="rect">
            <a:avLst/>
          </a:prstGeom>
          <a:noFill/>
          <a:ln/>
        </p:spPr>
        <p:txBody>
          <a:bodyPr wrap="square" rtlCol="0" anchor="ctr"/>
          <a:lstStyle/>
          <a:p>
            <a:pPr marL="0" indent="0">
              <a:buNone/>
            </a:pPr>
            <a:r>
              <a:rPr lang="en-US" sz="1000" dirty="0">
                <a:solidFill>
                  <a:srgbClr val="4B5563"/>
                </a:solidFill>
                <a:latin typeface="Consolas" pitchFamily="34" charset="0"/>
                <a:ea typeface="Consolas" pitchFamily="34" charset="-122"/>
                <a:cs typeface="Consolas" pitchFamily="34" charset="-120"/>
              </a:rPr>
              <a:t>// client.js — automatic token injection on every request</a:t>
            </a:r>
            <a:endParaRPr lang="en-US" sz="1000" dirty="0"/>
          </a:p>
        </p:txBody>
      </p:sp>
      <p:sp>
        <p:nvSpPr>
          <p:cNvPr id="31" name="Text 29"/>
          <p:cNvSpPr/>
          <p:nvPr/>
        </p:nvSpPr>
        <p:spPr>
          <a:xfrm>
            <a:off x="475488" y="3291840"/>
            <a:ext cx="8229600" cy="1508760"/>
          </a:xfrm>
          <a:prstGeom prst="rect">
            <a:avLst/>
          </a:prstGeom>
          <a:noFill/>
          <a:ln/>
        </p:spPr>
        <p:txBody>
          <a:bodyPr wrap="square" rtlCol="0" anchor="t"/>
          <a:lstStyle/>
          <a:p>
            <a:pPr marL="0" indent="0">
              <a:buNone/>
            </a:pPr>
            <a:r>
              <a:rPr lang="en-US" sz="1100" dirty="0">
                <a:solidFill>
                  <a:srgbClr val="A78BFA"/>
                </a:solidFill>
                <a:latin typeface="Consolas" pitchFamily="34" charset="0"/>
                <a:ea typeface="Consolas" pitchFamily="34" charset="-122"/>
                <a:cs typeface="Consolas" pitchFamily="34" charset="-120"/>
              </a:rPr>
              <a:t>export async function </a:t>
            </a:r>
            <a:r>
              <a:rPr lang="en-US" sz="1100" dirty="0">
                <a:solidFill>
                  <a:srgbClr val="F5C842"/>
                </a:solidFill>
                <a:latin typeface="Consolas" pitchFamily="34" charset="0"/>
                <a:ea typeface="Consolas" pitchFamily="34" charset="-122"/>
                <a:cs typeface="Consolas" pitchFamily="34" charset="-120"/>
              </a:rPr>
              <a:t>request</a:t>
            </a:r>
            <a:r>
              <a:rPr lang="en-US" sz="1100" dirty="0">
                <a:solidFill>
                  <a:srgbClr val="FFFFFF"/>
                </a:solidFill>
                <a:latin typeface="Consolas" pitchFamily="34" charset="0"/>
                <a:ea typeface="Consolas" pitchFamily="34" charset="-122"/>
                <a:cs typeface="Consolas" pitchFamily="34" charset="-120"/>
              </a:rPr>
              <a:t>(url, options = {}) {
  const token = </a:t>
            </a:r>
            <a:r>
              <a:rPr lang="en-US" sz="1100" dirty="0">
                <a:solidFill>
                  <a:srgbClr val="67E8F9"/>
                </a:solidFill>
                <a:latin typeface="Consolas" pitchFamily="34" charset="0"/>
                <a:ea typeface="Consolas" pitchFamily="34" charset="-122"/>
                <a:cs typeface="Consolas" pitchFamily="34" charset="-120"/>
              </a:rPr>
              <a:t>localStorage</a:t>
            </a:r>
            <a:r>
              <a:rPr lang="en-US" sz="1100" dirty="0">
                <a:solidFill>
                  <a:srgbClr val="FFFFFF"/>
                </a:solidFill>
                <a:latin typeface="Consolas" pitchFamily="34" charset="0"/>
                <a:ea typeface="Consolas" pitchFamily="34" charset="-122"/>
                <a:cs typeface="Consolas" pitchFamily="34" charset="-120"/>
              </a:rPr>
              <a:t>.getItem("token");
  headers: { </a:t>
            </a:r>
            <a:r>
              <a:rPr lang="en-US" sz="1100" dirty="0">
                <a:solidFill>
                  <a:srgbClr val="F5C842"/>
                </a:solidFill>
                <a:latin typeface="Consolas" pitchFamily="34" charset="0"/>
                <a:ea typeface="Consolas" pitchFamily="34" charset="-122"/>
                <a:cs typeface="Consolas" pitchFamily="34" charset="-120"/>
              </a:rPr>
              <a:t>"Authorization"</a:t>
            </a:r>
            <a:r>
              <a:rPr lang="en-US" sz="1100" dirty="0">
                <a:solidFill>
                  <a:srgbClr val="FFFFFF"/>
                </a:solidFill>
                <a:latin typeface="Consolas" pitchFamily="34" charset="0"/>
                <a:ea typeface="Consolas" pitchFamily="34" charset="-122"/>
                <a:cs typeface="Consolas" pitchFamily="34" charset="-120"/>
              </a:rPr>
              <a:t>: `Bearer ${token}` }</a:t>
            </a:r>
            <a:r>
              <a:rPr lang="en-US" sz="1100" dirty="0">
                <a:solidFill>
                  <a:srgbClr val="4B5563"/>
                </a:solidFill>
                <a:latin typeface="Consolas" pitchFamily="34" charset="0"/>
                <a:ea typeface="Consolas" pitchFamily="34" charset="-122"/>
                <a:cs typeface="Consolas" pitchFamily="34" charset="-120"/>
              </a:rPr>
              <a:t>   // Auto-attached if token exists</a:t>
            </a:r>
            <a:endParaRPr lang="en-US" sz="1100" dirty="0"/>
          </a:p>
          <a:p>
            <a:pPr marL="0" indent="0">
              <a:buNone/>
            </a:pPr>
            <a:r>
              <a:rPr lang="en-US" sz="1100" dirty="0">
                <a:solidFill>
                  <a:srgbClr val="4B5563"/>
                </a:solidFill>
                <a:latin typeface="Consolas" pitchFamily="34" charset="0"/>
                <a:ea typeface="Consolas" pitchFamily="34" charset="-122"/>
                <a:cs typeface="Consolas" pitchFamily="34" charset="-120"/>
              </a:rPr>
              <a:t>}</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1117"/>
        </a:solidFill>
        <a:effectLst/>
      </p:bgPr>
    </p:bg>
    <p:spTree>
      <p:nvGrpSpPr>
        <p:cNvPr id="1" name=""/>
        <p:cNvGrpSpPr/>
        <p:nvPr/>
      </p:nvGrpSpPr>
      <p:grpSpPr>
        <a:xfrm>
          <a:off x="0" y="0"/>
          <a:ext cx="0" cy="0"/>
          <a:chOff x="0" y="0"/>
          <a:chExt cx="0" cy="0"/>
        </a:xfrm>
      </p:grpSpPr>
      <p:sp>
        <p:nvSpPr>
          <p:cNvPr id="2" name="Shape 0"/>
          <p:cNvSpPr/>
          <p:nvPr/>
        </p:nvSpPr>
        <p:spPr>
          <a:xfrm>
            <a:off x="0" y="0"/>
            <a:ext cx="9144000" cy="1078992"/>
          </a:xfrm>
          <a:prstGeom prst="rect">
            <a:avLst/>
          </a:prstGeom>
          <a:solidFill>
            <a:srgbClr val="1A1D2E"/>
          </a:solidFill>
          <a:ln w="12700">
            <a:solidFill>
              <a:srgbClr val="1A1D2E"/>
            </a:solidFill>
            <a:prstDash val="solid"/>
          </a:ln>
        </p:spPr>
        <p:txBody>
          <a:bodyPr/>
          <a:lstStyle/>
          <a:p>
            <a:endParaRPr lang="hu-HU"/>
          </a:p>
        </p:txBody>
      </p:sp>
      <p:sp>
        <p:nvSpPr>
          <p:cNvPr id="3" name="Shape 1"/>
          <p:cNvSpPr/>
          <p:nvPr/>
        </p:nvSpPr>
        <p:spPr>
          <a:xfrm>
            <a:off x="0" y="1078992"/>
            <a:ext cx="9144000" cy="36576"/>
          </a:xfrm>
          <a:prstGeom prst="rect">
            <a:avLst/>
          </a:prstGeom>
          <a:solidFill>
            <a:srgbClr val="E07B54"/>
          </a:solidFill>
          <a:ln w="12700">
            <a:solidFill>
              <a:srgbClr val="E07B54"/>
            </a:solidFill>
            <a:prstDash val="solid"/>
          </a:ln>
        </p:spPr>
        <p:txBody>
          <a:bodyPr/>
          <a:lstStyle/>
          <a:p>
            <a:endParaRPr lang="hu-HU"/>
          </a:p>
        </p:txBody>
      </p:sp>
      <p:sp>
        <p:nvSpPr>
          <p:cNvPr id="4" name="Text 2"/>
          <p:cNvSpPr/>
          <p:nvPr/>
        </p:nvSpPr>
        <p:spPr>
          <a:xfrm>
            <a:off x="502920" y="73152"/>
            <a:ext cx="6400800" cy="640080"/>
          </a:xfrm>
          <a:prstGeom prst="rect">
            <a:avLst/>
          </a:prstGeom>
          <a:noFill/>
          <a:ln/>
        </p:spPr>
        <p:txBody>
          <a:bodyPr wrap="square" rtlCol="0" anchor="ctr"/>
          <a:lstStyle/>
          <a:p>
            <a:pPr marL="0" indent="0">
              <a:buNone/>
            </a:pPr>
            <a:r>
              <a:rPr lang="en-US" sz="3200" b="1" dirty="0">
                <a:solidFill>
                  <a:srgbClr val="FFFFFF"/>
                </a:solidFill>
                <a:latin typeface="Georgia" pitchFamily="34" charset="0"/>
                <a:ea typeface="Georgia" pitchFamily="34" charset="-122"/>
                <a:cs typeface="Georgia" pitchFamily="34" charset="-120"/>
              </a:rPr>
              <a:t>Cart System</a:t>
            </a:r>
            <a:endParaRPr lang="en-US" sz="3200" dirty="0"/>
          </a:p>
        </p:txBody>
      </p:sp>
      <p:sp>
        <p:nvSpPr>
          <p:cNvPr id="5" name="Text 3"/>
          <p:cNvSpPr/>
          <p:nvPr/>
        </p:nvSpPr>
        <p:spPr>
          <a:xfrm>
            <a:off x="502920" y="713232"/>
            <a:ext cx="7772400" cy="329184"/>
          </a:xfrm>
          <a:prstGeom prst="rect">
            <a:avLst/>
          </a:prstGeom>
          <a:noFill/>
          <a:ln/>
        </p:spPr>
        <p:txBody>
          <a:bodyPr wrap="square" rtlCol="0" anchor="ctr"/>
          <a:lstStyle/>
          <a:p>
            <a:pPr marL="0" indent="0">
              <a:buNone/>
            </a:pPr>
            <a:r>
              <a:rPr lang="en-US" sz="1300" dirty="0">
                <a:solidFill>
                  <a:srgbClr val="8892A4"/>
                </a:solidFill>
              </a:rPr>
              <a:t>Database-backed cart via CartContext</a:t>
            </a:r>
            <a:endParaRPr lang="en-US" sz="1300" dirty="0"/>
          </a:p>
        </p:txBody>
      </p:sp>
      <p:sp>
        <p:nvSpPr>
          <p:cNvPr id="6" name="Shape 4"/>
          <p:cNvSpPr/>
          <p:nvPr/>
        </p:nvSpPr>
        <p:spPr>
          <a:xfrm>
            <a:off x="292608" y="1143000"/>
            <a:ext cx="3657600" cy="658368"/>
          </a:xfrm>
          <a:prstGeom prst="rect">
            <a:avLst/>
          </a:prstGeom>
          <a:solidFill>
            <a:srgbClr val="1A1D2E"/>
          </a:solidFill>
          <a:ln w="15240">
            <a:solidFill>
              <a:srgbClr val="67E8F9"/>
            </a:solidFill>
            <a:prstDash val="solid"/>
          </a:ln>
          <a:effectLst>
            <a:outerShdw blurRad="127000" dist="50800" dir="8100000" algn="bl" rotWithShape="0">
              <a:srgbClr val="000000">
                <a:alpha val="35000"/>
              </a:srgbClr>
            </a:outerShdw>
          </a:effectLst>
        </p:spPr>
        <p:txBody>
          <a:bodyPr/>
          <a:lstStyle/>
          <a:p>
            <a:endParaRPr lang="hu-HU"/>
          </a:p>
        </p:txBody>
      </p:sp>
      <p:sp>
        <p:nvSpPr>
          <p:cNvPr id="7" name="Text 5"/>
          <p:cNvSpPr/>
          <p:nvPr/>
        </p:nvSpPr>
        <p:spPr>
          <a:xfrm>
            <a:off x="384048" y="1143000"/>
            <a:ext cx="594360" cy="658368"/>
          </a:xfrm>
          <a:prstGeom prst="rect">
            <a:avLst/>
          </a:prstGeom>
          <a:noFill/>
          <a:ln/>
        </p:spPr>
        <p:txBody>
          <a:bodyPr wrap="square" rtlCol="0" anchor="ctr"/>
          <a:lstStyle/>
          <a:p>
            <a:pPr marL="0" indent="0" algn="ctr">
              <a:buNone/>
            </a:pPr>
            <a:r>
              <a:rPr lang="en-US" sz="2200" dirty="0">
                <a:solidFill>
                  <a:schemeClr val="bg1"/>
                </a:solidFill>
              </a:rPr>
              <a:t>🛍️</a:t>
            </a:r>
          </a:p>
        </p:txBody>
      </p:sp>
      <p:sp>
        <p:nvSpPr>
          <p:cNvPr id="8" name="Text 6"/>
          <p:cNvSpPr/>
          <p:nvPr/>
        </p:nvSpPr>
        <p:spPr>
          <a:xfrm>
            <a:off x="1024128" y="1179576"/>
            <a:ext cx="1645920" cy="274320"/>
          </a:xfrm>
          <a:prstGeom prst="rect">
            <a:avLst/>
          </a:prstGeom>
          <a:noFill/>
          <a:ln/>
        </p:spPr>
        <p:txBody>
          <a:bodyPr wrap="square" rtlCol="0" anchor="ctr"/>
          <a:lstStyle/>
          <a:p>
            <a:pPr marL="0" indent="0">
              <a:buNone/>
            </a:pPr>
            <a:r>
              <a:rPr lang="en-US" sz="1200" b="1" dirty="0">
                <a:solidFill>
                  <a:srgbClr val="FFFFFF"/>
                </a:solidFill>
              </a:rPr>
              <a:t>Add to cart</a:t>
            </a:r>
            <a:endParaRPr lang="en-US" sz="1200" dirty="0"/>
          </a:p>
        </p:txBody>
      </p:sp>
      <p:sp>
        <p:nvSpPr>
          <p:cNvPr id="9" name="Text 7"/>
          <p:cNvSpPr/>
          <p:nvPr/>
        </p:nvSpPr>
        <p:spPr>
          <a:xfrm>
            <a:off x="1024128" y="1444752"/>
            <a:ext cx="2560320" cy="256032"/>
          </a:xfrm>
          <a:prstGeom prst="rect">
            <a:avLst/>
          </a:prstGeom>
          <a:noFill/>
          <a:ln/>
        </p:spPr>
        <p:txBody>
          <a:bodyPr wrap="square" rtlCol="0" anchor="ctr"/>
          <a:lstStyle/>
          <a:p>
            <a:pPr marL="0" indent="0">
              <a:buNone/>
            </a:pPr>
            <a:r>
              <a:rPr lang="en-US" sz="950" dirty="0">
                <a:solidFill>
                  <a:srgbClr val="8892A4"/>
                </a:solidFill>
                <a:latin typeface="Consolas" pitchFamily="34" charset="0"/>
                <a:ea typeface="Consolas" pitchFamily="34" charset="-122"/>
                <a:cs typeface="Consolas" pitchFamily="34" charset="-120"/>
              </a:rPr>
              <a:t>addToCart(productId)</a:t>
            </a:r>
            <a:endParaRPr lang="en-US" sz="950" dirty="0"/>
          </a:p>
        </p:txBody>
      </p:sp>
      <p:sp>
        <p:nvSpPr>
          <p:cNvPr id="10" name="Text 8"/>
          <p:cNvSpPr/>
          <p:nvPr/>
        </p:nvSpPr>
        <p:spPr>
          <a:xfrm>
            <a:off x="498348" y="1805940"/>
            <a:ext cx="365760" cy="123444"/>
          </a:xfrm>
          <a:prstGeom prst="rect">
            <a:avLst/>
          </a:prstGeom>
          <a:noFill/>
          <a:ln/>
        </p:spPr>
        <p:txBody>
          <a:bodyPr wrap="square" rtlCol="0" anchor="ctr"/>
          <a:lstStyle/>
          <a:p>
            <a:pPr marL="0" indent="0" algn="ctr">
              <a:buNone/>
            </a:pPr>
            <a:r>
              <a:rPr lang="en-US" sz="1400" dirty="0">
                <a:solidFill>
                  <a:srgbClr val="67E8F9"/>
                </a:solidFill>
              </a:rPr>
              <a:t>↓</a:t>
            </a:r>
            <a:endParaRPr lang="en-US" sz="1400" dirty="0"/>
          </a:p>
        </p:txBody>
      </p:sp>
      <p:sp>
        <p:nvSpPr>
          <p:cNvPr id="11" name="Shape 9"/>
          <p:cNvSpPr/>
          <p:nvPr/>
        </p:nvSpPr>
        <p:spPr>
          <a:xfrm>
            <a:off x="292608" y="1964158"/>
            <a:ext cx="3657600" cy="658368"/>
          </a:xfrm>
          <a:prstGeom prst="rect">
            <a:avLst/>
          </a:prstGeom>
          <a:solidFill>
            <a:srgbClr val="1A1D2E"/>
          </a:solidFill>
          <a:ln w="15240">
            <a:solidFill>
              <a:srgbClr val="E07B54"/>
            </a:solidFill>
            <a:prstDash val="solid"/>
          </a:ln>
          <a:effectLst>
            <a:outerShdw blurRad="127000" dist="50800" dir="8100000" algn="bl" rotWithShape="0">
              <a:srgbClr val="000000">
                <a:alpha val="35000"/>
              </a:srgbClr>
            </a:outerShdw>
          </a:effectLst>
        </p:spPr>
        <p:txBody>
          <a:bodyPr/>
          <a:lstStyle/>
          <a:p>
            <a:endParaRPr lang="hu-HU"/>
          </a:p>
        </p:txBody>
      </p:sp>
      <p:sp>
        <p:nvSpPr>
          <p:cNvPr id="12" name="Text 10"/>
          <p:cNvSpPr/>
          <p:nvPr/>
        </p:nvSpPr>
        <p:spPr>
          <a:xfrm>
            <a:off x="384048" y="1964158"/>
            <a:ext cx="594360" cy="658368"/>
          </a:xfrm>
          <a:prstGeom prst="rect">
            <a:avLst/>
          </a:prstGeom>
          <a:noFill/>
          <a:ln/>
        </p:spPr>
        <p:txBody>
          <a:bodyPr wrap="square" rtlCol="0" anchor="ctr"/>
          <a:lstStyle/>
          <a:p>
            <a:pPr marL="0" indent="0" algn="ctr">
              <a:buNone/>
            </a:pPr>
            <a:r>
              <a:rPr lang="en-US" sz="2200" dirty="0">
                <a:solidFill>
                  <a:schemeClr val="bg1"/>
                </a:solidFill>
              </a:rPr>
              <a:t>🆕</a:t>
            </a:r>
          </a:p>
        </p:txBody>
      </p:sp>
      <p:sp>
        <p:nvSpPr>
          <p:cNvPr id="13" name="Text 11"/>
          <p:cNvSpPr/>
          <p:nvPr/>
        </p:nvSpPr>
        <p:spPr>
          <a:xfrm>
            <a:off x="1024128" y="2000734"/>
            <a:ext cx="1645920" cy="274320"/>
          </a:xfrm>
          <a:prstGeom prst="rect">
            <a:avLst/>
          </a:prstGeom>
          <a:noFill/>
          <a:ln/>
        </p:spPr>
        <p:txBody>
          <a:bodyPr wrap="square" rtlCol="0" anchor="ctr"/>
          <a:lstStyle/>
          <a:p>
            <a:pPr marL="0" indent="0">
              <a:buNone/>
            </a:pPr>
            <a:r>
              <a:rPr lang="en-US" sz="1200" b="1" dirty="0">
                <a:solidFill>
                  <a:srgbClr val="FFFFFF"/>
                </a:solidFill>
              </a:rPr>
              <a:t>No cart yet?</a:t>
            </a:r>
            <a:endParaRPr lang="en-US" sz="1200" dirty="0"/>
          </a:p>
        </p:txBody>
      </p:sp>
      <p:sp>
        <p:nvSpPr>
          <p:cNvPr id="14" name="Text 12"/>
          <p:cNvSpPr/>
          <p:nvPr/>
        </p:nvSpPr>
        <p:spPr>
          <a:xfrm>
            <a:off x="1024128" y="2265910"/>
            <a:ext cx="2560320" cy="256032"/>
          </a:xfrm>
          <a:prstGeom prst="rect">
            <a:avLst/>
          </a:prstGeom>
          <a:noFill/>
          <a:ln/>
        </p:spPr>
        <p:txBody>
          <a:bodyPr wrap="square" rtlCol="0" anchor="ctr"/>
          <a:lstStyle/>
          <a:p>
            <a:pPr marL="0" indent="0">
              <a:buNone/>
            </a:pPr>
            <a:r>
              <a:rPr lang="en-US" sz="950" dirty="0">
                <a:solidFill>
                  <a:srgbClr val="8892A4"/>
                </a:solidFill>
                <a:latin typeface="Consolas" pitchFamily="34" charset="0"/>
                <a:ea typeface="Consolas" pitchFamily="34" charset="-122"/>
                <a:cs typeface="Consolas" pitchFamily="34" charset="-120"/>
              </a:rPr>
              <a:t>createOrder() → new orderId</a:t>
            </a:r>
            <a:endParaRPr lang="en-US" sz="950" dirty="0"/>
          </a:p>
        </p:txBody>
      </p:sp>
      <p:sp>
        <p:nvSpPr>
          <p:cNvPr id="15" name="Text 13"/>
          <p:cNvSpPr/>
          <p:nvPr/>
        </p:nvSpPr>
        <p:spPr>
          <a:xfrm>
            <a:off x="516636" y="2622526"/>
            <a:ext cx="365760" cy="121642"/>
          </a:xfrm>
          <a:prstGeom prst="rect">
            <a:avLst/>
          </a:prstGeom>
          <a:noFill/>
          <a:ln/>
        </p:spPr>
        <p:txBody>
          <a:bodyPr wrap="square" rtlCol="0" anchor="ctr"/>
          <a:lstStyle/>
          <a:p>
            <a:pPr marL="0" indent="0" algn="ctr">
              <a:buNone/>
            </a:pPr>
            <a:r>
              <a:rPr lang="en-US" sz="1400" dirty="0">
                <a:solidFill>
                  <a:srgbClr val="E07B54"/>
                </a:solidFill>
              </a:rPr>
              <a:t>↓</a:t>
            </a:r>
            <a:endParaRPr lang="en-US" sz="1400" dirty="0"/>
          </a:p>
        </p:txBody>
      </p:sp>
      <p:sp>
        <p:nvSpPr>
          <p:cNvPr id="16" name="Shape 14"/>
          <p:cNvSpPr/>
          <p:nvPr/>
        </p:nvSpPr>
        <p:spPr>
          <a:xfrm>
            <a:off x="292608" y="2798064"/>
            <a:ext cx="3657600" cy="557784"/>
          </a:xfrm>
          <a:prstGeom prst="rect">
            <a:avLst/>
          </a:prstGeom>
          <a:solidFill>
            <a:srgbClr val="1A1D2E"/>
          </a:solidFill>
          <a:ln w="15240">
            <a:solidFill>
              <a:srgbClr val="F5C842"/>
            </a:solidFill>
            <a:prstDash val="solid"/>
          </a:ln>
          <a:effectLst>
            <a:outerShdw blurRad="127000" dist="50800" dir="8100000" algn="bl" rotWithShape="0">
              <a:srgbClr val="000000">
                <a:alpha val="35000"/>
              </a:srgbClr>
            </a:outerShdw>
          </a:effectLst>
        </p:spPr>
        <p:txBody>
          <a:bodyPr/>
          <a:lstStyle/>
          <a:p>
            <a:endParaRPr lang="hu-HU"/>
          </a:p>
        </p:txBody>
      </p:sp>
      <p:sp>
        <p:nvSpPr>
          <p:cNvPr id="17" name="Text 15"/>
          <p:cNvSpPr/>
          <p:nvPr/>
        </p:nvSpPr>
        <p:spPr>
          <a:xfrm>
            <a:off x="384048" y="2798064"/>
            <a:ext cx="594360" cy="557784"/>
          </a:xfrm>
          <a:prstGeom prst="rect">
            <a:avLst/>
          </a:prstGeom>
          <a:noFill/>
          <a:ln/>
        </p:spPr>
        <p:txBody>
          <a:bodyPr wrap="square" rtlCol="0" anchor="ctr"/>
          <a:lstStyle/>
          <a:p>
            <a:pPr marL="0" indent="0" algn="ctr">
              <a:buNone/>
            </a:pPr>
            <a:r>
              <a:rPr lang="en-US" sz="2200" dirty="0">
                <a:solidFill>
                  <a:schemeClr val="bg1"/>
                </a:solidFill>
              </a:rPr>
              <a:t>📡</a:t>
            </a:r>
          </a:p>
        </p:txBody>
      </p:sp>
      <p:sp>
        <p:nvSpPr>
          <p:cNvPr id="18" name="Text 16"/>
          <p:cNvSpPr/>
          <p:nvPr/>
        </p:nvSpPr>
        <p:spPr>
          <a:xfrm>
            <a:off x="1024128" y="2834640"/>
            <a:ext cx="1645920" cy="232410"/>
          </a:xfrm>
          <a:prstGeom prst="rect">
            <a:avLst/>
          </a:prstGeom>
          <a:noFill/>
          <a:ln/>
        </p:spPr>
        <p:txBody>
          <a:bodyPr wrap="square" rtlCol="0" anchor="ctr"/>
          <a:lstStyle/>
          <a:p>
            <a:pPr marL="0" indent="0">
              <a:buNone/>
            </a:pPr>
            <a:r>
              <a:rPr lang="en-US" sz="1200" b="1" dirty="0">
                <a:solidFill>
                  <a:srgbClr val="FFFFFF"/>
                </a:solidFill>
              </a:rPr>
              <a:t>POST item</a:t>
            </a:r>
            <a:endParaRPr lang="en-US" sz="1200" dirty="0"/>
          </a:p>
        </p:txBody>
      </p:sp>
      <p:sp>
        <p:nvSpPr>
          <p:cNvPr id="19" name="Text 17"/>
          <p:cNvSpPr/>
          <p:nvPr/>
        </p:nvSpPr>
        <p:spPr>
          <a:xfrm>
            <a:off x="1024128" y="3099816"/>
            <a:ext cx="2560320" cy="216916"/>
          </a:xfrm>
          <a:prstGeom prst="rect">
            <a:avLst/>
          </a:prstGeom>
          <a:noFill/>
          <a:ln/>
        </p:spPr>
        <p:txBody>
          <a:bodyPr wrap="square" rtlCol="0" anchor="ctr"/>
          <a:lstStyle/>
          <a:p>
            <a:pPr marL="0" indent="0">
              <a:buNone/>
            </a:pPr>
            <a:r>
              <a:rPr lang="en-US" sz="950" dirty="0">
                <a:solidFill>
                  <a:srgbClr val="8892A4"/>
                </a:solidFill>
                <a:latin typeface="Consolas" pitchFamily="34" charset="0"/>
                <a:ea typeface="Consolas" pitchFamily="34" charset="-122"/>
                <a:cs typeface="Consolas" pitchFamily="34" charset="-120"/>
              </a:rPr>
              <a:t>/api/orderItems</a:t>
            </a:r>
            <a:endParaRPr lang="en-US" sz="950" dirty="0"/>
          </a:p>
        </p:txBody>
      </p:sp>
      <p:sp>
        <p:nvSpPr>
          <p:cNvPr id="20" name="Text 18"/>
          <p:cNvSpPr/>
          <p:nvPr/>
        </p:nvSpPr>
        <p:spPr>
          <a:xfrm>
            <a:off x="498348" y="3332988"/>
            <a:ext cx="365760" cy="160020"/>
          </a:xfrm>
          <a:prstGeom prst="rect">
            <a:avLst/>
          </a:prstGeom>
          <a:noFill/>
          <a:ln/>
        </p:spPr>
        <p:txBody>
          <a:bodyPr wrap="square" rtlCol="0" anchor="ctr"/>
          <a:lstStyle/>
          <a:p>
            <a:pPr marL="0" indent="0" algn="ctr">
              <a:buNone/>
            </a:pPr>
            <a:r>
              <a:rPr lang="en-US" sz="1400" dirty="0">
                <a:solidFill>
                  <a:srgbClr val="F5C842"/>
                </a:solidFill>
              </a:rPr>
              <a:t>↓</a:t>
            </a:r>
            <a:endParaRPr lang="en-US" sz="1400" dirty="0"/>
          </a:p>
        </p:txBody>
      </p:sp>
      <p:sp>
        <p:nvSpPr>
          <p:cNvPr id="21" name="Shape 19"/>
          <p:cNvSpPr/>
          <p:nvPr/>
        </p:nvSpPr>
        <p:spPr>
          <a:xfrm>
            <a:off x="301752" y="3501981"/>
            <a:ext cx="3657600" cy="539496"/>
          </a:xfrm>
          <a:prstGeom prst="rect">
            <a:avLst/>
          </a:prstGeom>
          <a:solidFill>
            <a:srgbClr val="1A1D2E"/>
          </a:solidFill>
          <a:ln w="15240">
            <a:solidFill>
              <a:srgbClr val="34D399"/>
            </a:solidFill>
            <a:prstDash val="solid"/>
          </a:ln>
          <a:effectLst>
            <a:outerShdw blurRad="127000" dist="50800" dir="8100000" algn="bl" rotWithShape="0">
              <a:srgbClr val="000000">
                <a:alpha val="35000"/>
              </a:srgbClr>
            </a:outerShdw>
          </a:effectLst>
        </p:spPr>
        <p:txBody>
          <a:bodyPr/>
          <a:lstStyle/>
          <a:p>
            <a:endParaRPr lang="hu-HU"/>
          </a:p>
        </p:txBody>
      </p:sp>
      <p:sp>
        <p:nvSpPr>
          <p:cNvPr id="22" name="Text 20"/>
          <p:cNvSpPr/>
          <p:nvPr/>
        </p:nvSpPr>
        <p:spPr>
          <a:xfrm>
            <a:off x="393192" y="3501981"/>
            <a:ext cx="594360" cy="539496"/>
          </a:xfrm>
          <a:prstGeom prst="rect">
            <a:avLst/>
          </a:prstGeom>
          <a:noFill/>
          <a:ln/>
        </p:spPr>
        <p:txBody>
          <a:bodyPr wrap="square" rtlCol="0" anchor="ctr"/>
          <a:lstStyle/>
          <a:p>
            <a:pPr marL="0" indent="0" algn="ctr">
              <a:buNone/>
            </a:pPr>
            <a:r>
              <a:rPr lang="en-US" sz="2200" dirty="0">
                <a:solidFill>
                  <a:schemeClr val="bg1"/>
                </a:solidFill>
              </a:rPr>
              <a:t>🔄</a:t>
            </a:r>
          </a:p>
        </p:txBody>
      </p:sp>
      <p:sp>
        <p:nvSpPr>
          <p:cNvPr id="23" name="Text 21"/>
          <p:cNvSpPr/>
          <p:nvPr/>
        </p:nvSpPr>
        <p:spPr>
          <a:xfrm>
            <a:off x="1033272" y="3538557"/>
            <a:ext cx="1645920" cy="224790"/>
          </a:xfrm>
          <a:prstGeom prst="rect">
            <a:avLst/>
          </a:prstGeom>
          <a:noFill/>
          <a:ln/>
        </p:spPr>
        <p:txBody>
          <a:bodyPr wrap="square" rtlCol="0" anchor="ctr"/>
          <a:lstStyle/>
          <a:p>
            <a:pPr marL="0" indent="0">
              <a:buNone/>
            </a:pPr>
            <a:r>
              <a:rPr lang="en-US" sz="1200" b="1" dirty="0">
                <a:solidFill>
                  <a:srgbClr val="FFFFFF"/>
                </a:solidFill>
              </a:rPr>
              <a:t>Sync state</a:t>
            </a:r>
            <a:endParaRPr lang="en-US" sz="1200" dirty="0"/>
          </a:p>
        </p:txBody>
      </p:sp>
      <p:sp>
        <p:nvSpPr>
          <p:cNvPr id="24" name="Text 22"/>
          <p:cNvSpPr/>
          <p:nvPr/>
        </p:nvSpPr>
        <p:spPr>
          <a:xfrm>
            <a:off x="956049" y="4416214"/>
            <a:ext cx="2560320" cy="171827"/>
          </a:xfrm>
          <a:prstGeom prst="rect">
            <a:avLst/>
          </a:prstGeom>
          <a:noFill/>
          <a:ln/>
        </p:spPr>
        <p:txBody>
          <a:bodyPr wrap="square" rtlCol="0" anchor="ctr"/>
          <a:lstStyle/>
          <a:p>
            <a:pPr marL="0" indent="0">
              <a:buNone/>
            </a:pPr>
            <a:r>
              <a:rPr lang="en-US" sz="950" dirty="0">
                <a:solidFill>
                  <a:srgbClr val="8892A4"/>
                </a:solidFill>
                <a:latin typeface="Consolas" pitchFamily="34" charset="0"/>
                <a:ea typeface="Consolas" pitchFamily="34" charset="-122"/>
                <a:cs typeface="Consolas" pitchFamily="34" charset="-120"/>
              </a:rPr>
              <a:t>getOrderItems() → setItems()</a:t>
            </a:r>
            <a:endParaRPr lang="en-US" sz="950" dirty="0"/>
          </a:p>
        </p:txBody>
      </p:sp>
      <p:sp>
        <p:nvSpPr>
          <p:cNvPr id="25" name="Text 23"/>
          <p:cNvSpPr/>
          <p:nvPr/>
        </p:nvSpPr>
        <p:spPr>
          <a:xfrm>
            <a:off x="479292" y="4064508"/>
            <a:ext cx="365760" cy="140514"/>
          </a:xfrm>
          <a:prstGeom prst="rect">
            <a:avLst/>
          </a:prstGeom>
          <a:noFill/>
          <a:ln/>
        </p:spPr>
        <p:txBody>
          <a:bodyPr wrap="square" rtlCol="0" anchor="ctr"/>
          <a:lstStyle/>
          <a:p>
            <a:pPr marL="0" indent="0" algn="ctr">
              <a:buNone/>
            </a:pPr>
            <a:r>
              <a:rPr lang="en-US" sz="1400" dirty="0">
                <a:solidFill>
                  <a:srgbClr val="34D399"/>
                </a:solidFill>
              </a:rPr>
              <a:t>↓</a:t>
            </a:r>
            <a:endParaRPr lang="en-US" sz="1400" dirty="0"/>
          </a:p>
        </p:txBody>
      </p:sp>
      <p:sp>
        <p:nvSpPr>
          <p:cNvPr id="26" name="Shape 24"/>
          <p:cNvSpPr/>
          <p:nvPr/>
        </p:nvSpPr>
        <p:spPr>
          <a:xfrm>
            <a:off x="292608" y="4250955"/>
            <a:ext cx="3666744" cy="539195"/>
          </a:xfrm>
          <a:prstGeom prst="rect">
            <a:avLst/>
          </a:prstGeom>
          <a:solidFill>
            <a:srgbClr val="1A1D2E"/>
          </a:solidFill>
          <a:ln w="15240">
            <a:solidFill>
              <a:srgbClr val="A78BFA"/>
            </a:solidFill>
            <a:prstDash val="solid"/>
          </a:ln>
          <a:effectLst>
            <a:outerShdw blurRad="127000" dist="50800" dir="8100000" algn="bl" rotWithShape="0">
              <a:srgbClr val="000000">
                <a:alpha val="35000"/>
              </a:srgbClr>
            </a:outerShdw>
          </a:effectLst>
        </p:spPr>
        <p:txBody>
          <a:bodyPr/>
          <a:lstStyle/>
          <a:p>
            <a:endParaRPr lang="hu-HU"/>
          </a:p>
        </p:txBody>
      </p:sp>
      <p:sp>
        <p:nvSpPr>
          <p:cNvPr id="27" name="Text 25"/>
          <p:cNvSpPr/>
          <p:nvPr/>
        </p:nvSpPr>
        <p:spPr>
          <a:xfrm>
            <a:off x="393192" y="4250955"/>
            <a:ext cx="594360" cy="539195"/>
          </a:xfrm>
          <a:prstGeom prst="rect">
            <a:avLst/>
          </a:prstGeom>
          <a:noFill/>
          <a:ln/>
        </p:spPr>
        <p:txBody>
          <a:bodyPr wrap="square" rtlCol="0" anchor="ctr"/>
          <a:lstStyle/>
          <a:p>
            <a:pPr marL="0" indent="0" algn="ctr">
              <a:buNone/>
            </a:pPr>
            <a:r>
              <a:rPr lang="en-US" sz="2200" dirty="0">
                <a:solidFill>
                  <a:schemeClr val="bg1"/>
                </a:solidFill>
              </a:rPr>
              <a:t>💾</a:t>
            </a:r>
          </a:p>
        </p:txBody>
      </p:sp>
      <p:sp>
        <p:nvSpPr>
          <p:cNvPr id="28" name="Text 26"/>
          <p:cNvSpPr/>
          <p:nvPr/>
        </p:nvSpPr>
        <p:spPr>
          <a:xfrm>
            <a:off x="1033272" y="4287531"/>
            <a:ext cx="1645920" cy="224665"/>
          </a:xfrm>
          <a:prstGeom prst="rect">
            <a:avLst/>
          </a:prstGeom>
          <a:noFill/>
          <a:ln/>
        </p:spPr>
        <p:txBody>
          <a:bodyPr wrap="square" rtlCol="0" anchor="ctr"/>
          <a:lstStyle/>
          <a:p>
            <a:pPr marL="0" indent="0">
              <a:buNone/>
            </a:pPr>
            <a:r>
              <a:rPr lang="en-US" sz="1200" b="1" dirty="0">
                <a:solidFill>
                  <a:srgbClr val="FFFFFF"/>
                </a:solidFill>
              </a:rPr>
              <a:t>Persisted</a:t>
            </a:r>
            <a:endParaRPr lang="en-US" sz="1200" dirty="0"/>
          </a:p>
        </p:txBody>
      </p:sp>
      <p:sp>
        <p:nvSpPr>
          <p:cNvPr id="29" name="Text 27"/>
          <p:cNvSpPr/>
          <p:nvPr/>
        </p:nvSpPr>
        <p:spPr>
          <a:xfrm>
            <a:off x="1033272" y="4552707"/>
            <a:ext cx="2560320" cy="209687"/>
          </a:xfrm>
          <a:prstGeom prst="rect">
            <a:avLst/>
          </a:prstGeom>
          <a:noFill/>
          <a:ln/>
        </p:spPr>
        <p:txBody>
          <a:bodyPr wrap="square" rtlCol="0" anchor="ctr"/>
          <a:lstStyle/>
          <a:p>
            <a:pPr marL="0" indent="0">
              <a:buNone/>
            </a:pPr>
            <a:r>
              <a:rPr lang="en-US" sz="950" dirty="0">
                <a:solidFill>
                  <a:srgbClr val="8892A4"/>
                </a:solidFill>
                <a:latin typeface="Consolas" pitchFamily="34" charset="0"/>
                <a:ea typeface="Consolas" pitchFamily="34" charset="-122"/>
                <a:cs typeface="Consolas" pitchFamily="34" charset="-120"/>
              </a:rPr>
              <a:t>orderId in localStorage</a:t>
            </a:r>
            <a:endParaRPr lang="en-US" sz="950" dirty="0"/>
          </a:p>
        </p:txBody>
      </p:sp>
      <p:sp>
        <p:nvSpPr>
          <p:cNvPr id="30" name="Shape 28"/>
          <p:cNvSpPr/>
          <p:nvPr/>
        </p:nvSpPr>
        <p:spPr>
          <a:xfrm>
            <a:off x="4133088" y="1127005"/>
            <a:ext cx="4709160" cy="3611880"/>
          </a:xfrm>
          <a:prstGeom prst="rect">
            <a:avLst/>
          </a:prstGeom>
          <a:solidFill>
            <a:srgbClr val="141824"/>
          </a:solidFill>
          <a:ln w="12700">
            <a:solidFill>
              <a:srgbClr val="2E3250"/>
            </a:solidFill>
            <a:prstDash val="solid"/>
          </a:ln>
          <a:effectLst>
            <a:outerShdw blurRad="127000" dist="50800" dir="8100000" algn="bl" rotWithShape="0">
              <a:srgbClr val="000000">
                <a:alpha val="35000"/>
              </a:srgbClr>
            </a:outerShdw>
          </a:effectLst>
        </p:spPr>
        <p:txBody>
          <a:bodyPr/>
          <a:lstStyle/>
          <a:p>
            <a:endParaRPr lang="hu-HU"/>
          </a:p>
        </p:txBody>
      </p:sp>
      <p:sp>
        <p:nvSpPr>
          <p:cNvPr id="31" name="Text 29"/>
          <p:cNvSpPr/>
          <p:nvPr/>
        </p:nvSpPr>
        <p:spPr>
          <a:xfrm>
            <a:off x="4279392" y="1200157"/>
            <a:ext cx="4389120" cy="256032"/>
          </a:xfrm>
          <a:prstGeom prst="rect">
            <a:avLst/>
          </a:prstGeom>
          <a:noFill/>
          <a:ln/>
        </p:spPr>
        <p:txBody>
          <a:bodyPr wrap="square" rtlCol="0" anchor="ctr"/>
          <a:lstStyle/>
          <a:p>
            <a:pPr marL="0" indent="0">
              <a:buNone/>
            </a:pPr>
            <a:r>
              <a:rPr lang="en-US" sz="950" dirty="0">
                <a:solidFill>
                  <a:srgbClr val="4B5563"/>
                </a:solidFill>
                <a:latin typeface="Consolas" pitchFamily="34" charset="0"/>
                <a:ea typeface="Consolas" pitchFamily="34" charset="-122"/>
                <a:cs typeface="Consolas" pitchFamily="34" charset="-120"/>
              </a:rPr>
              <a:t>// CartContext.jsx — addToCart logic</a:t>
            </a:r>
            <a:endParaRPr lang="en-US" sz="950" dirty="0"/>
          </a:p>
        </p:txBody>
      </p:sp>
      <p:sp>
        <p:nvSpPr>
          <p:cNvPr id="32" name="Text 30"/>
          <p:cNvSpPr/>
          <p:nvPr/>
        </p:nvSpPr>
        <p:spPr>
          <a:xfrm>
            <a:off x="4279392" y="1492765"/>
            <a:ext cx="4389120" cy="3017520"/>
          </a:xfrm>
          <a:prstGeom prst="rect">
            <a:avLst/>
          </a:prstGeom>
          <a:noFill/>
          <a:ln/>
        </p:spPr>
        <p:txBody>
          <a:bodyPr wrap="square" rtlCol="0" anchor="t"/>
          <a:lstStyle/>
          <a:p>
            <a:pPr marL="0" indent="0">
              <a:buNone/>
            </a:pPr>
            <a:r>
              <a:rPr lang="en-US" sz="1050" dirty="0">
                <a:solidFill>
                  <a:srgbClr val="A78BFA"/>
                </a:solidFill>
                <a:latin typeface="Consolas" pitchFamily="34" charset="0"/>
                <a:ea typeface="Consolas" pitchFamily="34" charset="-122"/>
                <a:cs typeface="Consolas" pitchFamily="34" charset="-120"/>
              </a:rPr>
              <a:t>async function </a:t>
            </a:r>
            <a:r>
              <a:rPr lang="en-US" sz="1050" dirty="0">
                <a:solidFill>
                  <a:srgbClr val="F5C842"/>
                </a:solidFill>
                <a:latin typeface="Consolas" pitchFamily="34" charset="0"/>
                <a:ea typeface="Consolas" pitchFamily="34" charset="-122"/>
                <a:cs typeface="Consolas" pitchFamily="34" charset="-120"/>
              </a:rPr>
              <a:t>addToCart</a:t>
            </a:r>
            <a:r>
              <a:rPr lang="en-US" sz="1050" dirty="0">
                <a:solidFill>
                  <a:srgbClr val="FFFFFF"/>
                </a:solidFill>
                <a:latin typeface="Consolas" pitchFamily="34" charset="0"/>
                <a:ea typeface="Consolas" pitchFamily="34" charset="-122"/>
                <a:cs typeface="Consolas" pitchFamily="34" charset="-120"/>
              </a:rPr>
              <a:t>(productId) {
  if (!orderId) {
    orderId = await </a:t>
            </a:r>
            <a:r>
              <a:rPr lang="en-US" sz="1050" dirty="0">
                <a:solidFill>
                  <a:srgbClr val="F5C842"/>
                </a:solidFill>
                <a:latin typeface="Consolas" pitchFamily="34" charset="0"/>
                <a:ea typeface="Consolas" pitchFamily="34" charset="-122"/>
                <a:cs typeface="Consolas" pitchFamily="34" charset="-120"/>
              </a:rPr>
              <a:t>createOrder</a:t>
            </a:r>
            <a:r>
              <a:rPr lang="en-US" sz="1050" dirty="0">
                <a:solidFill>
                  <a:srgbClr val="FFFFFF"/>
                </a:solidFill>
                <a:latin typeface="Consolas" pitchFamily="34" charset="0"/>
                <a:ea typeface="Consolas" pitchFamily="34" charset="-122"/>
                <a:cs typeface="Consolas" pitchFamily="34" charset="-120"/>
              </a:rPr>
              <a:t>();
  }
  const existing = items.find(
    i =&gt; i.product.id === productId
  );
  if (existing) {
    </a:t>
            </a:r>
            <a:r>
              <a:rPr lang="en-US" sz="1050" dirty="0">
                <a:solidFill>
                  <a:srgbClr val="F5C842"/>
                </a:solidFill>
                <a:latin typeface="Consolas" pitchFamily="34" charset="0"/>
                <a:ea typeface="Consolas" pitchFamily="34" charset="-122"/>
                <a:cs typeface="Consolas" pitchFamily="34" charset="-120"/>
              </a:rPr>
              <a:t>updateOrderItem</a:t>
            </a:r>
            <a:r>
              <a:rPr lang="en-US" sz="1050" dirty="0">
                <a:solidFill>
                  <a:srgbClr val="FFFFFF"/>
                </a:solidFill>
                <a:latin typeface="Consolas" pitchFamily="34" charset="0"/>
                <a:ea typeface="Consolas" pitchFamily="34" charset="-122"/>
                <a:cs typeface="Consolas" pitchFamily="34" charset="-120"/>
              </a:rPr>
              <a:t>(…qty+1);
  } else {
    </a:t>
            </a:r>
            <a:r>
              <a:rPr lang="en-US" sz="1050" dirty="0">
                <a:solidFill>
                  <a:srgbClr val="F5C842"/>
                </a:solidFill>
                <a:latin typeface="Consolas" pitchFamily="34" charset="0"/>
                <a:ea typeface="Consolas" pitchFamily="34" charset="-122"/>
                <a:cs typeface="Consolas" pitchFamily="34" charset="-120"/>
              </a:rPr>
              <a:t>addOrderItem</a:t>
            </a:r>
            <a:r>
              <a:rPr lang="en-US" sz="1050" dirty="0">
                <a:solidFill>
                  <a:srgbClr val="FFFFFF"/>
                </a:solidFill>
                <a:latin typeface="Consolas" pitchFamily="34" charset="0"/>
                <a:ea typeface="Consolas" pitchFamily="34" charset="-122"/>
                <a:cs typeface="Consolas" pitchFamily="34" charset="-120"/>
              </a:rPr>
              <a:t>(id, productId);</a:t>
            </a:r>
            <a:endParaRPr lang="en-US" sz="1050" dirty="0"/>
          </a:p>
          <a:p>
            <a:pPr marL="0" indent="0">
              <a:buNone/>
            </a:pPr>
            <a:r>
              <a:rPr lang="en-US" sz="1050" dirty="0">
                <a:solidFill>
                  <a:srgbClr val="FFFFFF"/>
                </a:solidFill>
                <a:latin typeface="Consolas" pitchFamily="34" charset="0"/>
                <a:ea typeface="Consolas" pitchFamily="34" charset="-122"/>
                <a:cs typeface="Consolas" pitchFamily="34" charset="-120"/>
              </a:rPr>
              <a:t>  }</a:t>
            </a:r>
            <a:endParaRPr lang="en-US" sz="1050" dirty="0"/>
          </a:p>
          <a:p>
            <a:pPr marL="0" indent="0">
              <a:buNone/>
            </a:pPr>
            <a:r>
              <a:rPr lang="en-US" sz="1050" dirty="0">
                <a:solidFill>
                  <a:srgbClr val="FFFFFF"/>
                </a:solidFill>
                <a:latin typeface="Consolas" pitchFamily="34" charset="0"/>
                <a:ea typeface="Consolas" pitchFamily="34" charset="-122"/>
                <a:cs typeface="Consolas" pitchFamily="34" charset="-120"/>
              </a:rPr>
              <a:t>}</a:t>
            </a:r>
            <a:endParaRPr lang="en-US" sz="1050" dirty="0"/>
          </a:p>
        </p:txBody>
      </p:sp>
      <p:sp>
        <p:nvSpPr>
          <p:cNvPr id="33" name="Shape 31"/>
          <p:cNvSpPr/>
          <p:nvPr/>
        </p:nvSpPr>
        <p:spPr>
          <a:xfrm>
            <a:off x="256032" y="4875169"/>
            <a:ext cx="2057400" cy="226627"/>
          </a:xfrm>
          <a:prstGeom prst="rect">
            <a:avLst/>
          </a:prstGeom>
          <a:solidFill>
            <a:srgbClr val="1A1D2E"/>
          </a:solidFill>
          <a:ln w="12700">
            <a:solidFill>
              <a:srgbClr val="4ECDC4"/>
            </a:solidFill>
            <a:prstDash val="solid"/>
          </a:ln>
        </p:spPr>
        <p:txBody>
          <a:bodyPr/>
          <a:lstStyle/>
          <a:p>
            <a:endParaRPr lang="hu-HU"/>
          </a:p>
        </p:txBody>
      </p:sp>
      <p:sp>
        <p:nvSpPr>
          <p:cNvPr id="34" name="Text 32"/>
          <p:cNvSpPr/>
          <p:nvPr/>
        </p:nvSpPr>
        <p:spPr>
          <a:xfrm>
            <a:off x="415551" y="4874502"/>
            <a:ext cx="1920240" cy="226627"/>
          </a:xfrm>
          <a:prstGeom prst="rect">
            <a:avLst/>
          </a:prstGeom>
          <a:noFill/>
          <a:ln/>
        </p:spPr>
        <p:txBody>
          <a:bodyPr wrap="square" rtlCol="0" anchor="ctr"/>
          <a:lstStyle/>
          <a:p>
            <a:pPr marL="0" indent="0">
              <a:buNone/>
            </a:pPr>
            <a:r>
              <a:rPr lang="en-US" sz="950" dirty="0">
                <a:solidFill>
                  <a:srgbClr val="4ECDC4"/>
                </a:solidFill>
              </a:rPr>
              <a:t>✓  Deduplication check</a:t>
            </a:r>
            <a:endParaRPr lang="en-US" sz="950" dirty="0"/>
          </a:p>
        </p:txBody>
      </p:sp>
      <p:sp>
        <p:nvSpPr>
          <p:cNvPr id="35" name="Shape 33"/>
          <p:cNvSpPr/>
          <p:nvPr/>
        </p:nvSpPr>
        <p:spPr>
          <a:xfrm>
            <a:off x="2432304" y="4877809"/>
            <a:ext cx="2057400" cy="226627"/>
          </a:xfrm>
          <a:prstGeom prst="rect">
            <a:avLst/>
          </a:prstGeom>
          <a:solidFill>
            <a:srgbClr val="1A1D2E"/>
          </a:solidFill>
          <a:ln w="12700">
            <a:solidFill>
              <a:srgbClr val="4ECDC4"/>
            </a:solidFill>
            <a:prstDash val="solid"/>
          </a:ln>
        </p:spPr>
        <p:txBody>
          <a:bodyPr/>
          <a:lstStyle/>
          <a:p>
            <a:endParaRPr lang="hu-HU"/>
          </a:p>
        </p:txBody>
      </p:sp>
      <p:sp>
        <p:nvSpPr>
          <p:cNvPr id="36" name="Text 34"/>
          <p:cNvSpPr/>
          <p:nvPr/>
        </p:nvSpPr>
        <p:spPr>
          <a:xfrm>
            <a:off x="2505456" y="4877809"/>
            <a:ext cx="1920240" cy="226627"/>
          </a:xfrm>
          <a:prstGeom prst="rect">
            <a:avLst/>
          </a:prstGeom>
          <a:noFill/>
          <a:ln/>
        </p:spPr>
        <p:txBody>
          <a:bodyPr wrap="square" rtlCol="0" anchor="ctr"/>
          <a:lstStyle/>
          <a:p>
            <a:pPr marL="0" indent="0">
              <a:buNone/>
            </a:pPr>
            <a:r>
              <a:rPr lang="en-US" sz="950" dirty="0">
                <a:solidFill>
                  <a:srgbClr val="4ECDC4"/>
                </a:solidFill>
              </a:rPr>
              <a:t>✓  Free shipping &gt;150k HUF</a:t>
            </a:r>
            <a:endParaRPr lang="en-US" sz="950" dirty="0"/>
          </a:p>
        </p:txBody>
      </p:sp>
      <p:sp>
        <p:nvSpPr>
          <p:cNvPr id="37" name="Shape 35"/>
          <p:cNvSpPr/>
          <p:nvPr/>
        </p:nvSpPr>
        <p:spPr>
          <a:xfrm>
            <a:off x="4608576" y="4877809"/>
            <a:ext cx="2057400" cy="226627"/>
          </a:xfrm>
          <a:prstGeom prst="rect">
            <a:avLst/>
          </a:prstGeom>
          <a:solidFill>
            <a:srgbClr val="1A1D2E"/>
          </a:solidFill>
          <a:ln w="12700">
            <a:solidFill>
              <a:srgbClr val="4ECDC4"/>
            </a:solidFill>
            <a:prstDash val="solid"/>
          </a:ln>
        </p:spPr>
        <p:txBody>
          <a:bodyPr/>
          <a:lstStyle/>
          <a:p>
            <a:endParaRPr lang="hu-HU"/>
          </a:p>
        </p:txBody>
      </p:sp>
      <p:sp>
        <p:nvSpPr>
          <p:cNvPr id="38" name="Text 36"/>
          <p:cNvSpPr/>
          <p:nvPr/>
        </p:nvSpPr>
        <p:spPr>
          <a:xfrm>
            <a:off x="4681728" y="4877809"/>
            <a:ext cx="1920240" cy="226627"/>
          </a:xfrm>
          <a:prstGeom prst="rect">
            <a:avLst/>
          </a:prstGeom>
          <a:noFill/>
          <a:ln/>
        </p:spPr>
        <p:txBody>
          <a:bodyPr wrap="square" rtlCol="0" anchor="ctr"/>
          <a:lstStyle/>
          <a:p>
            <a:pPr marL="0" indent="0">
              <a:buNone/>
            </a:pPr>
            <a:r>
              <a:rPr lang="en-US" sz="950" dirty="0">
                <a:solidFill>
                  <a:srgbClr val="4ECDC4"/>
                </a:solidFill>
              </a:rPr>
              <a:t>✓  Real-time DB sync</a:t>
            </a:r>
            <a:endParaRPr lang="en-US" sz="950" dirty="0"/>
          </a:p>
        </p:txBody>
      </p:sp>
      <p:sp>
        <p:nvSpPr>
          <p:cNvPr id="39" name="Shape 37"/>
          <p:cNvSpPr/>
          <p:nvPr/>
        </p:nvSpPr>
        <p:spPr>
          <a:xfrm>
            <a:off x="6784848" y="4877809"/>
            <a:ext cx="2057400" cy="226627"/>
          </a:xfrm>
          <a:prstGeom prst="rect">
            <a:avLst/>
          </a:prstGeom>
          <a:solidFill>
            <a:srgbClr val="1A1D2E"/>
          </a:solidFill>
          <a:ln w="12700">
            <a:solidFill>
              <a:srgbClr val="4ECDC4"/>
            </a:solidFill>
            <a:prstDash val="solid"/>
          </a:ln>
        </p:spPr>
        <p:txBody>
          <a:bodyPr/>
          <a:lstStyle/>
          <a:p>
            <a:endParaRPr lang="hu-HU"/>
          </a:p>
        </p:txBody>
      </p:sp>
      <p:sp>
        <p:nvSpPr>
          <p:cNvPr id="40" name="Text 38"/>
          <p:cNvSpPr/>
          <p:nvPr/>
        </p:nvSpPr>
        <p:spPr>
          <a:xfrm>
            <a:off x="6858000" y="4877809"/>
            <a:ext cx="1920240" cy="226627"/>
          </a:xfrm>
          <a:prstGeom prst="rect">
            <a:avLst/>
          </a:prstGeom>
          <a:noFill/>
          <a:ln/>
        </p:spPr>
        <p:txBody>
          <a:bodyPr wrap="square" rtlCol="0" anchor="ctr"/>
          <a:lstStyle/>
          <a:p>
            <a:pPr marL="0" indent="0">
              <a:buNone/>
            </a:pPr>
            <a:r>
              <a:rPr lang="en-US" sz="950" dirty="0">
                <a:solidFill>
                  <a:srgbClr val="4ECDC4"/>
                </a:solidFill>
              </a:rPr>
              <a:t>✓  localStorage persistence</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1117"/>
        </a:solidFill>
        <a:effectLst/>
      </p:bgPr>
    </p:bg>
    <p:spTree>
      <p:nvGrpSpPr>
        <p:cNvPr id="1" name=""/>
        <p:cNvGrpSpPr/>
        <p:nvPr/>
      </p:nvGrpSpPr>
      <p:grpSpPr>
        <a:xfrm>
          <a:off x="0" y="0"/>
          <a:ext cx="0" cy="0"/>
          <a:chOff x="0" y="0"/>
          <a:chExt cx="0" cy="0"/>
        </a:xfrm>
      </p:grpSpPr>
      <p:sp>
        <p:nvSpPr>
          <p:cNvPr id="2" name="Shape 0"/>
          <p:cNvSpPr/>
          <p:nvPr/>
        </p:nvSpPr>
        <p:spPr>
          <a:xfrm>
            <a:off x="5029200" y="0"/>
            <a:ext cx="4114800" cy="5143500"/>
          </a:xfrm>
          <a:prstGeom prst="rect">
            <a:avLst/>
          </a:prstGeom>
          <a:solidFill>
            <a:srgbClr val="E07B54">
              <a:alpha val="88000"/>
            </a:srgbClr>
          </a:solidFill>
          <a:ln w="12700">
            <a:solidFill>
              <a:srgbClr val="E07B54">
                <a:alpha val="88000"/>
              </a:srgbClr>
            </a:solidFill>
            <a:prstDash val="solid"/>
          </a:ln>
        </p:spPr>
        <p:txBody>
          <a:bodyPr/>
          <a:lstStyle/>
          <a:p>
            <a:endParaRPr lang="hu-HU"/>
          </a:p>
        </p:txBody>
      </p:sp>
      <p:sp>
        <p:nvSpPr>
          <p:cNvPr id="3" name="Shape 1"/>
          <p:cNvSpPr/>
          <p:nvPr/>
        </p:nvSpPr>
        <p:spPr>
          <a:xfrm>
            <a:off x="5029200" y="0"/>
            <a:ext cx="54864" cy="5143500"/>
          </a:xfrm>
          <a:prstGeom prst="rect">
            <a:avLst/>
          </a:prstGeom>
          <a:solidFill>
            <a:srgbClr val="E07B54"/>
          </a:solidFill>
          <a:ln w="12700">
            <a:solidFill>
              <a:srgbClr val="E07B54"/>
            </a:solidFill>
            <a:prstDash val="solid"/>
          </a:ln>
        </p:spPr>
        <p:txBody>
          <a:bodyPr/>
          <a:lstStyle/>
          <a:p>
            <a:endParaRPr lang="hu-HU"/>
          </a:p>
        </p:txBody>
      </p:sp>
      <p:sp>
        <p:nvSpPr>
          <p:cNvPr id="4" name="Shape 2"/>
          <p:cNvSpPr/>
          <p:nvPr/>
        </p:nvSpPr>
        <p:spPr>
          <a:xfrm>
            <a:off x="502920" y="1371600"/>
            <a:ext cx="2560320" cy="365760"/>
          </a:xfrm>
          <a:prstGeom prst="rect">
            <a:avLst/>
          </a:prstGeom>
          <a:solidFill>
            <a:srgbClr val="E07B54"/>
          </a:solidFill>
          <a:ln w="12700">
            <a:solidFill>
              <a:srgbClr val="E07B54"/>
            </a:solidFill>
            <a:prstDash val="solid"/>
          </a:ln>
        </p:spPr>
        <p:txBody>
          <a:bodyPr/>
          <a:lstStyle/>
          <a:p>
            <a:endParaRPr lang="hu-HU"/>
          </a:p>
        </p:txBody>
      </p:sp>
      <p:sp>
        <p:nvSpPr>
          <p:cNvPr id="5" name="Text 3"/>
          <p:cNvSpPr/>
          <p:nvPr/>
        </p:nvSpPr>
        <p:spPr>
          <a:xfrm>
            <a:off x="502920" y="1371600"/>
            <a:ext cx="2560320" cy="365760"/>
          </a:xfrm>
          <a:prstGeom prst="rect">
            <a:avLst/>
          </a:prstGeom>
          <a:noFill/>
          <a:ln/>
        </p:spPr>
        <p:txBody>
          <a:bodyPr wrap="square" lIns="0" tIns="0" rIns="0" bIns="0" rtlCol="0" anchor="ctr"/>
          <a:lstStyle/>
          <a:p>
            <a:pPr marL="0" indent="0" algn="ctr">
              <a:buNone/>
            </a:pPr>
            <a:r>
              <a:rPr lang="en-US" sz="1100" b="1" kern="0" spc="400" dirty="0">
                <a:solidFill>
                  <a:srgbClr val="FFFFFF"/>
                </a:solidFill>
              </a:rPr>
              <a:t>SECTION  02</a:t>
            </a:r>
            <a:endParaRPr lang="en-US" sz="1100" dirty="0"/>
          </a:p>
        </p:txBody>
      </p:sp>
      <p:sp>
        <p:nvSpPr>
          <p:cNvPr id="6" name="Text 4"/>
          <p:cNvSpPr/>
          <p:nvPr/>
        </p:nvSpPr>
        <p:spPr>
          <a:xfrm>
            <a:off x="457200" y="1874520"/>
            <a:ext cx="4572000" cy="1188720"/>
          </a:xfrm>
          <a:prstGeom prst="rect">
            <a:avLst/>
          </a:prstGeom>
          <a:noFill/>
          <a:ln/>
        </p:spPr>
        <p:txBody>
          <a:bodyPr wrap="square" rtlCol="0" anchor="ctr"/>
          <a:lstStyle/>
          <a:p>
            <a:pPr marL="0" indent="0">
              <a:buNone/>
            </a:pPr>
            <a:r>
              <a:rPr lang="en-US" sz="5800" b="1" dirty="0">
                <a:solidFill>
                  <a:srgbClr val="FFFFFF"/>
                </a:solidFill>
                <a:latin typeface="Georgia" pitchFamily="34" charset="0"/>
                <a:ea typeface="Georgia" pitchFamily="34" charset="-122"/>
                <a:cs typeface="Georgia" pitchFamily="34" charset="-120"/>
              </a:rPr>
              <a:t>Backend</a:t>
            </a:r>
            <a:endParaRPr lang="en-US" sz="5800" dirty="0"/>
          </a:p>
        </p:txBody>
      </p:sp>
      <p:sp>
        <p:nvSpPr>
          <p:cNvPr id="7" name="Text 5"/>
          <p:cNvSpPr/>
          <p:nvPr/>
        </p:nvSpPr>
        <p:spPr>
          <a:xfrm>
            <a:off x="502920" y="3127248"/>
            <a:ext cx="4572000" cy="411480"/>
          </a:xfrm>
          <a:prstGeom prst="rect">
            <a:avLst/>
          </a:prstGeom>
          <a:noFill/>
          <a:ln/>
        </p:spPr>
        <p:txBody>
          <a:bodyPr wrap="square" rtlCol="0" anchor="ctr"/>
          <a:lstStyle/>
          <a:p>
            <a:pPr marL="0" indent="0">
              <a:buNone/>
            </a:pPr>
            <a:r>
              <a:rPr lang="en-US" sz="1200" dirty="0">
                <a:solidFill>
                  <a:srgbClr val="E07B54"/>
                </a:solidFill>
              </a:rPr>
              <a:t>Node.js  ·  Express  ·  TypeScript  ·  JWT</a:t>
            </a:r>
            <a:endParaRPr lang="en-US" sz="1200" dirty="0"/>
          </a:p>
        </p:txBody>
      </p:sp>
      <p:sp>
        <p:nvSpPr>
          <p:cNvPr id="8" name="Shape 6"/>
          <p:cNvSpPr/>
          <p:nvPr/>
        </p:nvSpPr>
        <p:spPr>
          <a:xfrm>
            <a:off x="320040" y="4013108"/>
            <a:ext cx="1417320" cy="868680"/>
          </a:xfrm>
          <a:prstGeom prst="rect">
            <a:avLst/>
          </a:prstGeom>
          <a:solidFill>
            <a:srgbClr val="1A1D2E"/>
          </a:solidFill>
          <a:ln w="12700">
            <a:solidFill>
              <a:srgbClr val="2E3250"/>
            </a:solidFill>
            <a:prstDash val="solid"/>
          </a:ln>
        </p:spPr>
        <p:txBody>
          <a:bodyPr/>
          <a:lstStyle/>
          <a:p>
            <a:endParaRPr lang="hu-HU" dirty="0"/>
          </a:p>
        </p:txBody>
      </p:sp>
      <p:sp>
        <p:nvSpPr>
          <p:cNvPr id="9" name="Text 7"/>
          <p:cNvSpPr/>
          <p:nvPr/>
        </p:nvSpPr>
        <p:spPr>
          <a:xfrm>
            <a:off x="320040" y="4031396"/>
            <a:ext cx="1417320" cy="475488"/>
          </a:xfrm>
          <a:prstGeom prst="rect">
            <a:avLst/>
          </a:prstGeom>
          <a:noFill/>
          <a:ln/>
        </p:spPr>
        <p:txBody>
          <a:bodyPr wrap="square" rtlCol="0" anchor="ctr"/>
          <a:lstStyle/>
          <a:p>
            <a:pPr marL="0" indent="0" algn="ctr">
              <a:buNone/>
            </a:pPr>
            <a:r>
              <a:rPr lang="hu-HU" sz="2600" b="1" dirty="0">
                <a:solidFill>
                  <a:srgbClr val="E07B54"/>
                </a:solidFill>
                <a:latin typeface="Georgia" pitchFamily="34" charset="0"/>
              </a:rPr>
              <a:t>30</a:t>
            </a:r>
            <a:endParaRPr lang="en-US" sz="2600" dirty="0"/>
          </a:p>
        </p:txBody>
      </p:sp>
      <p:sp>
        <p:nvSpPr>
          <p:cNvPr id="10" name="Text 8"/>
          <p:cNvSpPr/>
          <p:nvPr/>
        </p:nvSpPr>
        <p:spPr>
          <a:xfrm>
            <a:off x="320040" y="4506884"/>
            <a:ext cx="1417320" cy="320040"/>
          </a:xfrm>
          <a:prstGeom prst="rect">
            <a:avLst/>
          </a:prstGeom>
          <a:noFill/>
          <a:ln/>
        </p:spPr>
        <p:txBody>
          <a:bodyPr wrap="square" rtlCol="0" anchor="ctr"/>
          <a:lstStyle/>
          <a:p>
            <a:pPr marL="0" indent="0" algn="ctr">
              <a:buNone/>
            </a:pPr>
            <a:r>
              <a:rPr lang="hu-HU" sz="900" dirty="0">
                <a:solidFill>
                  <a:srgbClr val="8892A4"/>
                </a:solidFill>
              </a:rPr>
              <a:t>API </a:t>
            </a:r>
            <a:r>
              <a:rPr lang="hu-HU" sz="900" dirty="0" err="1">
                <a:solidFill>
                  <a:srgbClr val="8892A4"/>
                </a:solidFill>
              </a:rPr>
              <a:t>endpoints</a:t>
            </a:r>
            <a:endParaRPr lang="en-US" sz="900" dirty="0"/>
          </a:p>
        </p:txBody>
      </p:sp>
      <p:sp>
        <p:nvSpPr>
          <p:cNvPr id="11" name="Shape 9"/>
          <p:cNvSpPr/>
          <p:nvPr/>
        </p:nvSpPr>
        <p:spPr>
          <a:xfrm>
            <a:off x="1874520" y="4013108"/>
            <a:ext cx="1417320" cy="868680"/>
          </a:xfrm>
          <a:prstGeom prst="rect">
            <a:avLst/>
          </a:prstGeom>
          <a:solidFill>
            <a:srgbClr val="1A1D2E"/>
          </a:solidFill>
          <a:ln w="12700">
            <a:solidFill>
              <a:srgbClr val="2E3250"/>
            </a:solidFill>
            <a:prstDash val="solid"/>
          </a:ln>
        </p:spPr>
        <p:txBody>
          <a:bodyPr/>
          <a:lstStyle/>
          <a:p>
            <a:endParaRPr lang="hu-HU"/>
          </a:p>
        </p:txBody>
      </p:sp>
      <p:sp>
        <p:nvSpPr>
          <p:cNvPr id="12" name="Text 10"/>
          <p:cNvSpPr/>
          <p:nvPr/>
        </p:nvSpPr>
        <p:spPr>
          <a:xfrm>
            <a:off x="1874520" y="4031396"/>
            <a:ext cx="1417320" cy="475488"/>
          </a:xfrm>
          <a:prstGeom prst="rect">
            <a:avLst/>
          </a:prstGeom>
          <a:noFill/>
          <a:ln/>
        </p:spPr>
        <p:txBody>
          <a:bodyPr wrap="square" rtlCol="0" anchor="ctr"/>
          <a:lstStyle/>
          <a:p>
            <a:pPr marL="0" indent="0" algn="ctr">
              <a:buNone/>
            </a:pPr>
            <a:r>
              <a:rPr lang="en-US" sz="2600" b="1" dirty="0">
                <a:solidFill>
                  <a:srgbClr val="E07B54"/>
                </a:solidFill>
                <a:latin typeface="Georgia" pitchFamily="34" charset="0"/>
                <a:ea typeface="Georgia" pitchFamily="34" charset="-122"/>
                <a:cs typeface="Georgia" pitchFamily="34" charset="-120"/>
              </a:rPr>
              <a:t>6</a:t>
            </a:r>
            <a:endParaRPr lang="en-US" sz="2600" dirty="0"/>
          </a:p>
        </p:txBody>
      </p:sp>
      <p:sp>
        <p:nvSpPr>
          <p:cNvPr id="13" name="Text 11"/>
          <p:cNvSpPr/>
          <p:nvPr/>
        </p:nvSpPr>
        <p:spPr>
          <a:xfrm>
            <a:off x="1874520" y="4506884"/>
            <a:ext cx="1417320" cy="320040"/>
          </a:xfrm>
          <a:prstGeom prst="rect">
            <a:avLst/>
          </a:prstGeom>
          <a:noFill/>
          <a:ln/>
        </p:spPr>
        <p:txBody>
          <a:bodyPr wrap="square" rtlCol="0" anchor="ctr"/>
          <a:lstStyle/>
          <a:p>
            <a:pPr marL="0" indent="0" algn="ctr">
              <a:buNone/>
            </a:pPr>
            <a:r>
              <a:rPr lang="en-US" sz="900" dirty="0">
                <a:solidFill>
                  <a:srgbClr val="8892A4"/>
                </a:solidFill>
              </a:rPr>
              <a:t>Route groups</a:t>
            </a:r>
            <a:endParaRPr lang="en-US" sz="900" dirty="0"/>
          </a:p>
        </p:txBody>
      </p:sp>
      <p:sp>
        <p:nvSpPr>
          <p:cNvPr id="14" name="Shape 12"/>
          <p:cNvSpPr/>
          <p:nvPr/>
        </p:nvSpPr>
        <p:spPr>
          <a:xfrm>
            <a:off x="3429000" y="4013108"/>
            <a:ext cx="1417320" cy="868680"/>
          </a:xfrm>
          <a:prstGeom prst="rect">
            <a:avLst/>
          </a:prstGeom>
          <a:solidFill>
            <a:srgbClr val="1A1D2E"/>
          </a:solidFill>
          <a:ln w="12700">
            <a:solidFill>
              <a:srgbClr val="2E3250"/>
            </a:solidFill>
            <a:prstDash val="solid"/>
          </a:ln>
        </p:spPr>
        <p:txBody>
          <a:bodyPr/>
          <a:lstStyle/>
          <a:p>
            <a:endParaRPr lang="hu-HU"/>
          </a:p>
        </p:txBody>
      </p:sp>
      <p:sp>
        <p:nvSpPr>
          <p:cNvPr id="15" name="Text 13"/>
          <p:cNvSpPr/>
          <p:nvPr/>
        </p:nvSpPr>
        <p:spPr>
          <a:xfrm>
            <a:off x="3429000" y="4031396"/>
            <a:ext cx="1417320" cy="475488"/>
          </a:xfrm>
          <a:prstGeom prst="rect">
            <a:avLst/>
          </a:prstGeom>
          <a:noFill/>
          <a:ln/>
        </p:spPr>
        <p:txBody>
          <a:bodyPr wrap="square" rtlCol="0" anchor="ctr"/>
          <a:lstStyle/>
          <a:p>
            <a:pPr marL="0" indent="0" algn="ctr">
              <a:buNone/>
            </a:pPr>
            <a:r>
              <a:rPr lang="en-US" sz="2600" b="1" dirty="0">
                <a:solidFill>
                  <a:srgbClr val="E07B54"/>
                </a:solidFill>
                <a:latin typeface="Georgia" pitchFamily="34" charset="0"/>
                <a:ea typeface="Georgia" pitchFamily="34" charset="-122"/>
                <a:cs typeface="Georgia" pitchFamily="34" charset="-120"/>
              </a:rPr>
              <a:t>2</a:t>
            </a:r>
            <a:endParaRPr lang="en-US" sz="2600" dirty="0"/>
          </a:p>
        </p:txBody>
      </p:sp>
      <p:sp>
        <p:nvSpPr>
          <p:cNvPr id="16" name="Text 14"/>
          <p:cNvSpPr/>
          <p:nvPr/>
        </p:nvSpPr>
        <p:spPr>
          <a:xfrm>
            <a:off x="3429000" y="4506884"/>
            <a:ext cx="1417320" cy="320040"/>
          </a:xfrm>
          <a:prstGeom prst="rect">
            <a:avLst/>
          </a:prstGeom>
          <a:noFill/>
          <a:ln/>
        </p:spPr>
        <p:txBody>
          <a:bodyPr wrap="square" rtlCol="0" anchor="ctr"/>
          <a:lstStyle/>
          <a:p>
            <a:pPr marL="0" indent="0" algn="ctr">
              <a:buNone/>
            </a:pPr>
            <a:r>
              <a:rPr lang="en-US" sz="900" dirty="0">
                <a:solidFill>
                  <a:srgbClr val="8892A4"/>
                </a:solidFill>
              </a:rPr>
              <a:t>Middleware layers</a:t>
            </a:r>
            <a:endParaRPr lang="en-US" sz="900" dirty="0"/>
          </a:p>
        </p:txBody>
      </p:sp>
      <p:sp>
        <p:nvSpPr>
          <p:cNvPr id="17" name="Text 15"/>
          <p:cNvSpPr/>
          <p:nvPr/>
        </p:nvSpPr>
        <p:spPr>
          <a:xfrm>
            <a:off x="5212080" y="548640"/>
            <a:ext cx="3749040" cy="3474720"/>
          </a:xfrm>
          <a:prstGeom prst="rect">
            <a:avLst/>
          </a:prstGeom>
          <a:noFill/>
          <a:ln/>
        </p:spPr>
        <p:txBody>
          <a:bodyPr wrap="square" rtlCol="0" anchor="ctr"/>
          <a:lstStyle/>
          <a:p>
            <a:pPr marL="0" indent="0" algn="ctr">
              <a:buNone/>
            </a:pPr>
            <a:r>
              <a:rPr lang="en-US" sz="12000" dirty="0">
                <a:solidFill>
                  <a:srgbClr val="000000"/>
                </a:solidFill>
              </a:rPr>
              <a:t>🖥️</a:t>
            </a:r>
            <a:endParaRPr lang="en-US" sz="12000" dirty="0"/>
          </a:p>
        </p:txBody>
      </p:sp>
      <p:sp>
        <p:nvSpPr>
          <p:cNvPr id="18" name="Text 16"/>
          <p:cNvSpPr/>
          <p:nvPr/>
        </p:nvSpPr>
        <p:spPr>
          <a:xfrm>
            <a:off x="5212080" y="4160520"/>
            <a:ext cx="3749040" cy="457200"/>
          </a:xfrm>
          <a:prstGeom prst="rect">
            <a:avLst/>
          </a:prstGeom>
          <a:noFill/>
          <a:ln/>
        </p:spPr>
        <p:txBody>
          <a:bodyPr wrap="square" rtlCol="0" anchor="ctr"/>
          <a:lstStyle/>
          <a:p>
            <a:pPr marL="0" indent="0" algn="ctr">
              <a:buNone/>
            </a:pPr>
            <a:r>
              <a:rPr lang="en-US" sz="1200" dirty="0">
                <a:solidFill>
                  <a:schemeClr val="bg1"/>
                </a:solidFill>
              </a:rPr>
              <a:t>TypeScript  ·  Express  ·  bcrypt  ·  JWT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1117"/>
        </a:solidFill>
        <a:effectLst/>
      </p:bgPr>
    </p:bg>
    <p:spTree>
      <p:nvGrpSpPr>
        <p:cNvPr id="1" name=""/>
        <p:cNvGrpSpPr/>
        <p:nvPr/>
      </p:nvGrpSpPr>
      <p:grpSpPr>
        <a:xfrm>
          <a:off x="0" y="0"/>
          <a:ext cx="0" cy="0"/>
          <a:chOff x="0" y="0"/>
          <a:chExt cx="0" cy="0"/>
        </a:xfrm>
      </p:grpSpPr>
      <p:sp>
        <p:nvSpPr>
          <p:cNvPr id="2" name="Shape 0"/>
          <p:cNvSpPr/>
          <p:nvPr/>
        </p:nvSpPr>
        <p:spPr>
          <a:xfrm>
            <a:off x="0" y="0"/>
            <a:ext cx="9144000" cy="1078992"/>
          </a:xfrm>
          <a:prstGeom prst="rect">
            <a:avLst/>
          </a:prstGeom>
          <a:solidFill>
            <a:srgbClr val="1A1D2E"/>
          </a:solidFill>
          <a:ln w="12700">
            <a:solidFill>
              <a:srgbClr val="1A1D2E"/>
            </a:solidFill>
            <a:prstDash val="solid"/>
          </a:ln>
        </p:spPr>
        <p:txBody>
          <a:bodyPr/>
          <a:lstStyle/>
          <a:p>
            <a:endParaRPr lang="hu-HU"/>
          </a:p>
        </p:txBody>
      </p:sp>
      <p:sp>
        <p:nvSpPr>
          <p:cNvPr id="3" name="Shape 1"/>
          <p:cNvSpPr/>
          <p:nvPr/>
        </p:nvSpPr>
        <p:spPr>
          <a:xfrm>
            <a:off x="0" y="1078992"/>
            <a:ext cx="9144000" cy="36576"/>
          </a:xfrm>
          <a:prstGeom prst="rect">
            <a:avLst/>
          </a:prstGeom>
          <a:solidFill>
            <a:srgbClr val="E07B54"/>
          </a:solidFill>
          <a:ln w="12700">
            <a:solidFill>
              <a:srgbClr val="E07B54"/>
            </a:solidFill>
            <a:prstDash val="solid"/>
          </a:ln>
        </p:spPr>
        <p:txBody>
          <a:bodyPr/>
          <a:lstStyle/>
          <a:p>
            <a:endParaRPr lang="hu-HU"/>
          </a:p>
        </p:txBody>
      </p:sp>
      <p:sp>
        <p:nvSpPr>
          <p:cNvPr id="4" name="Text 2"/>
          <p:cNvSpPr/>
          <p:nvPr/>
        </p:nvSpPr>
        <p:spPr>
          <a:xfrm>
            <a:off x="502920" y="73152"/>
            <a:ext cx="6400800" cy="640080"/>
          </a:xfrm>
          <a:prstGeom prst="rect">
            <a:avLst/>
          </a:prstGeom>
          <a:noFill/>
          <a:ln/>
        </p:spPr>
        <p:txBody>
          <a:bodyPr wrap="square" rtlCol="0" anchor="ctr"/>
          <a:lstStyle/>
          <a:p>
            <a:pPr marL="0" indent="0">
              <a:buNone/>
            </a:pPr>
            <a:r>
              <a:rPr lang="en-US" sz="3200" b="1" dirty="0">
                <a:solidFill>
                  <a:srgbClr val="FFFFFF"/>
                </a:solidFill>
                <a:latin typeface="Georgia" pitchFamily="34" charset="0"/>
                <a:ea typeface="Georgia" pitchFamily="34" charset="-122"/>
                <a:cs typeface="Georgia" pitchFamily="34" charset="-120"/>
              </a:rPr>
              <a:t>Backend Architecture</a:t>
            </a:r>
            <a:endParaRPr lang="en-US" sz="3200" dirty="0"/>
          </a:p>
        </p:txBody>
      </p:sp>
      <p:sp>
        <p:nvSpPr>
          <p:cNvPr id="5" name="Text 3"/>
          <p:cNvSpPr/>
          <p:nvPr/>
        </p:nvSpPr>
        <p:spPr>
          <a:xfrm>
            <a:off x="502920" y="713232"/>
            <a:ext cx="7772400" cy="329184"/>
          </a:xfrm>
          <a:prstGeom prst="rect">
            <a:avLst/>
          </a:prstGeom>
          <a:noFill/>
          <a:ln/>
        </p:spPr>
        <p:txBody>
          <a:bodyPr wrap="square" rtlCol="0" anchor="ctr"/>
          <a:lstStyle/>
          <a:p>
            <a:pPr marL="0" indent="0">
              <a:buNone/>
            </a:pPr>
            <a:r>
              <a:rPr lang="en-US" sz="1300" dirty="0">
                <a:solidFill>
                  <a:srgbClr val="8892A4"/>
                </a:solidFill>
              </a:rPr>
              <a:t>Layered structure: Routes → Controllers → Services → DB</a:t>
            </a:r>
            <a:endParaRPr lang="en-US" sz="1300" dirty="0"/>
          </a:p>
        </p:txBody>
      </p:sp>
      <p:sp>
        <p:nvSpPr>
          <p:cNvPr id="6" name="Shape 4"/>
          <p:cNvSpPr/>
          <p:nvPr/>
        </p:nvSpPr>
        <p:spPr>
          <a:xfrm>
            <a:off x="685800" y="1280160"/>
            <a:ext cx="7772400" cy="594360"/>
          </a:xfrm>
          <a:prstGeom prst="rect">
            <a:avLst/>
          </a:prstGeom>
          <a:solidFill>
            <a:srgbClr val="A78BFA">
              <a:alpha val="82000"/>
            </a:srgbClr>
          </a:solidFill>
          <a:ln w="19050">
            <a:solidFill>
              <a:srgbClr val="A78BFA"/>
            </a:solidFill>
            <a:prstDash val="solid"/>
          </a:ln>
          <a:effectLst>
            <a:outerShdw blurRad="127000" dist="50800" dir="8100000" algn="bl" rotWithShape="0">
              <a:srgbClr val="000000">
                <a:alpha val="35000"/>
              </a:srgbClr>
            </a:outerShdw>
          </a:effectLst>
        </p:spPr>
        <p:txBody>
          <a:bodyPr/>
          <a:lstStyle/>
          <a:p>
            <a:endParaRPr lang="hu-HU"/>
          </a:p>
        </p:txBody>
      </p:sp>
      <p:sp>
        <p:nvSpPr>
          <p:cNvPr id="7" name="Text 5"/>
          <p:cNvSpPr/>
          <p:nvPr/>
        </p:nvSpPr>
        <p:spPr>
          <a:xfrm>
            <a:off x="822960" y="1280160"/>
            <a:ext cx="2011680" cy="594360"/>
          </a:xfrm>
          <a:prstGeom prst="rect">
            <a:avLst/>
          </a:prstGeom>
          <a:noFill/>
          <a:ln/>
        </p:spPr>
        <p:txBody>
          <a:bodyPr wrap="square" rtlCol="0" anchor="ctr"/>
          <a:lstStyle/>
          <a:p>
            <a:pPr marL="0" indent="0">
              <a:buNone/>
            </a:pPr>
            <a:r>
              <a:rPr lang="en-US" sz="1400" b="1" dirty="0">
                <a:solidFill>
                  <a:srgbClr val="FFFFFF"/>
                </a:solidFill>
              </a:rPr>
              <a:t>🛤️  Routes</a:t>
            </a:r>
            <a:endParaRPr lang="en-US" sz="1400" dirty="0"/>
          </a:p>
        </p:txBody>
      </p:sp>
      <p:sp>
        <p:nvSpPr>
          <p:cNvPr id="8" name="Text 6"/>
          <p:cNvSpPr/>
          <p:nvPr/>
        </p:nvSpPr>
        <p:spPr>
          <a:xfrm>
            <a:off x="2971800" y="1280160"/>
            <a:ext cx="5303520" cy="594360"/>
          </a:xfrm>
          <a:prstGeom prst="rect">
            <a:avLst/>
          </a:prstGeom>
          <a:noFill/>
          <a:ln/>
        </p:spPr>
        <p:txBody>
          <a:bodyPr wrap="square" rtlCol="0" anchor="ctr"/>
          <a:lstStyle/>
          <a:p>
            <a:pPr marL="0" indent="0">
              <a:buNone/>
            </a:pPr>
            <a:r>
              <a:rPr lang="en-US" sz="1100" dirty="0">
                <a:solidFill>
                  <a:srgbClr val="FFFFFF"/>
                </a:solidFill>
              </a:rPr>
              <a:t>auth  ·  products  ·  categories  ·  orders  ·  orderItems  ·  users</a:t>
            </a:r>
            <a:endParaRPr lang="en-US" sz="1100" dirty="0"/>
          </a:p>
        </p:txBody>
      </p:sp>
      <p:sp>
        <p:nvSpPr>
          <p:cNvPr id="9" name="Shape 7"/>
          <p:cNvSpPr/>
          <p:nvPr/>
        </p:nvSpPr>
        <p:spPr>
          <a:xfrm>
            <a:off x="941832" y="1975104"/>
            <a:ext cx="7269480" cy="594360"/>
          </a:xfrm>
          <a:prstGeom prst="rect">
            <a:avLst/>
          </a:prstGeom>
          <a:solidFill>
            <a:srgbClr val="F5C842">
              <a:alpha val="82000"/>
            </a:srgbClr>
          </a:solidFill>
          <a:ln w="19050">
            <a:solidFill>
              <a:srgbClr val="F5C842"/>
            </a:solidFill>
            <a:prstDash val="solid"/>
          </a:ln>
          <a:effectLst>
            <a:outerShdw blurRad="127000" dist="50800" dir="8100000" algn="bl" rotWithShape="0">
              <a:srgbClr val="000000">
                <a:alpha val="35000"/>
              </a:srgbClr>
            </a:outerShdw>
          </a:effectLst>
        </p:spPr>
        <p:txBody>
          <a:bodyPr/>
          <a:lstStyle/>
          <a:p>
            <a:endParaRPr lang="hu-HU"/>
          </a:p>
        </p:txBody>
      </p:sp>
      <p:sp>
        <p:nvSpPr>
          <p:cNvPr id="10" name="Text 8"/>
          <p:cNvSpPr/>
          <p:nvPr/>
        </p:nvSpPr>
        <p:spPr>
          <a:xfrm>
            <a:off x="1078992" y="1975104"/>
            <a:ext cx="2011680" cy="594360"/>
          </a:xfrm>
          <a:prstGeom prst="rect">
            <a:avLst/>
          </a:prstGeom>
          <a:noFill/>
          <a:ln/>
        </p:spPr>
        <p:txBody>
          <a:bodyPr wrap="square" rtlCol="0" anchor="ctr"/>
          <a:lstStyle/>
          <a:p>
            <a:pPr marL="0" indent="0">
              <a:buNone/>
            </a:pPr>
            <a:r>
              <a:rPr lang="en-US" sz="1400" b="1" dirty="0">
                <a:solidFill>
                  <a:srgbClr val="FFFFFF"/>
                </a:solidFill>
              </a:rPr>
              <a:t>🔐  Middleware</a:t>
            </a:r>
            <a:endParaRPr lang="en-US" sz="1400" dirty="0"/>
          </a:p>
        </p:txBody>
      </p:sp>
      <p:sp>
        <p:nvSpPr>
          <p:cNvPr id="11" name="Text 9"/>
          <p:cNvSpPr/>
          <p:nvPr/>
        </p:nvSpPr>
        <p:spPr>
          <a:xfrm>
            <a:off x="3227832" y="1975104"/>
            <a:ext cx="4800600" cy="594360"/>
          </a:xfrm>
          <a:prstGeom prst="rect">
            <a:avLst/>
          </a:prstGeom>
          <a:noFill/>
          <a:ln/>
        </p:spPr>
        <p:txBody>
          <a:bodyPr wrap="square" rtlCol="0" anchor="ctr"/>
          <a:lstStyle/>
          <a:p>
            <a:pPr marL="0" indent="0">
              <a:buNone/>
            </a:pPr>
            <a:r>
              <a:rPr lang="en-US" sz="1100" dirty="0">
                <a:solidFill>
                  <a:srgbClr val="FFFFFF"/>
                </a:solidFill>
              </a:rPr>
              <a:t>authenticate (JWT check)  ·  requireAdmin (is_admin flag)</a:t>
            </a:r>
            <a:endParaRPr lang="en-US" sz="1100" dirty="0"/>
          </a:p>
        </p:txBody>
      </p:sp>
      <p:sp>
        <p:nvSpPr>
          <p:cNvPr id="12" name="Shape 10"/>
          <p:cNvSpPr/>
          <p:nvPr/>
        </p:nvSpPr>
        <p:spPr>
          <a:xfrm>
            <a:off x="1197864" y="2670048"/>
            <a:ext cx="6766560" cy="594360"/>
          </a:xfrm>
          <a:prstGeom prst="rect">
            <a:avLst/>
          </a:prstGeom>
          <a:solidFill>
            <a:srgbClr val="E07B54">
              <a:alpha val="82000"/>
            </a:srgbClr>
          </a:solidFill>
          <a:ln w="19050">
            <a:solidFill>
              <a:srgbClr val="E07B54"/>
            </a:solidFill>
            <a:prstDash val="solid"/>
          </a:ln>
          <a:effectLst>
            <a:outerShdw blurRad="127000" dist="50800" dir="8100000" algn="bl" rotWithShape="0">
              <a:srgbClr val="000000">
                <a:alpha val="35000"/>
              </a:srgbClr>
            </a:outerShdw>
          </a:effectLst>
        </p:spPr>
        <p:txBody>
          <a:bodyPr/>
          <a:lstStyle/>
          <a:p>
            <a:endParaRPr lang="hu-HU"/>
          </a:p>
        </p:txBody>
      </p:sp>
      <p:sp>
        <p:nvSpPr>
          <p:cNvPr id="13" name="Text 11"/>
          <p:cNvSpPr/>
          <p:nvPr/>
        </p:nvSpPr>
        <p:spPr>
          <a:xfrm>
            <a:off x="1335024" y="2670048"/>
            <a:ext cx="2011680" cy="594360"/>
          </a:xfrm>
          <a:prstGeom prst="rect">
            <a:avLst/>
          </a:prstGeom>
          <a:noFill/>
          <a:ln/>
        </p:spPr>
        <p:txBody>
          <a:bodyPr wrap="square" rtlCol="0" anchor="ctr"/>
          <a:lstStyle/>
          <a:p>
            <a:pPr marL="0" indent="0">
              <a:buNone/>
            </a:pPr>
            <a:r>
              <a:rPr lang="en-US" sz="1400" b="1" dirty="0">
                <a:solidFill>
                  <a:srgbClr val="FFFFFF"/>
                </a:solidFill>
              </a:rPr>
              <a:t>⚙️  Controllers</a:t>
            </a:r>
            <a:endParaRPr lang="en-US" sz="1400" dirty="0"/>
          </a:p>
        </p:txBody>
      </p:sp>
      <p:sp>
        <p:nvSpPr>
          <p:cNvPr id="14" name="Text 12"/>
          <p:cNvSpPr/>
          <p:nvPr/>
        </p:nvSpPr>
        <p:spPr>
          <a:xfrm>
            <a:off x="3483864" y="2670048"/>
            <a:ext cx="4297680" cy="594360"/>
          </a:xfrm>
          <a:prstGeom prst="rect">
            <a:avLst/>
          </a:prstGeom>
          <a:noFill/>
          <a:ln/>
        </p:spPr>
        <p:txBody>
          <a:bodyPr wrap="square" rtlCol="0" anchor="ctr"/>
          <a:lstStyle/>
          <a:p>
            <a:pPr marL="0" indent="0">
              <a:buNone/>
            </a:pPr>
            <a:r>
              <a:rPr lang="en-US" sz="1100" dirty="0">
                <a:solidFill>
                  <a:srgbClr val="FFFFFF"/>
                </a:solidFill>
              </a:rPr>
              <a:t>Handles request / response  ·  Validates input, calls Service</a:t>
            </a:r>
            <a:endParaRPr lang="en-US" sz="1100" dirty="0"/>
          </a:p>
        </p:txBody>
      </p:sp>
      <p:sp>
        <p:nvSpPr>
          <p:cNvPr id="15" name="Shape 13"/>
          <p:cNvSpPr/>
          <p:nvPr/>
        </p:nvSpPr>
        <p:spPr>
          <a:xfrm>
            <a:off x="1453896" y="3364992"/>
            <a:ext cx="6263640" cy="594360"/>
          </a:xfrm>
          <a:prstGeom prst="rect">
            <a:avLst/>
          </a:prstGeom>
          <a:solidFill>
            <a:srgbClr val="34D399">
              <a:alpha val="82000"/>
            </a:srgbClr>
          </a:solidFill>
          <a:ln w="19050">
            <a:solidFill>
              <a:srgbClr val="34D399"/>
            </a:solidFill>
            <a:prstDash val="solid"/>
          </a:ln>
          <a:effectLst>
            <a:outerShdw blurRad="127000" dist="50800" dir="8100000" algn="bl" rotWithShape="0">
              <a:srgbClr val="000000">
                <a:alpha val="35000"/>
              </a:srgbClr>
            </a:outerShdw>
          </a:effectLst>
        </p:spPr>
        <p:txBody>
          <a:bodyPr/>
          <a:lstStyle/>
          <a:p>
            <a:endParaRPr lang="hu-HU"/>
          </a:p>
        </p:txBody>
      </p:sp>
      <p:sp>
        <p:nvSpPr>
          <p:cNvPr id="16" name="Text 14"/>
          <p:cNvSpPr/>
          <p:nvPr/>
        </p:nvSpPr>
        <p:spPr>
          <a:xfrm>
            <a:off x="1591056" y="3364992"/>
            <a:ext cx="2011680" cy="594360"/>
          </a:xfrm>
          <a:prstGeom prst="rect">
            <a:avLst/>
          </a:prstGeom>
          <a:noFill/>
          <a:ln/>
        </p:spPr>
        <p:txBody>
          <a:bodyPr wrap="square" rtlCol="0" anchor="ctr"/>
          <a:lstStyle/>
          <a:p>
            <a:pPr marL="0" indent="0">
              <a:buNone/>
            </a:pPr>
            <a:r>
              <a:rPr lang="en-US" sz="1400" b="1" dirty="0">
                <a:solidFill>
                  <a:srgbClr val="FFFFFF"/>
                </a:solidFill>
              </a:rPr>
              <a:t>🔧  Services</a:t>
            </a:r>
            <a:endParaRPr lang="en-US" sz="1400" dirty="0"/>
          </a:p>
        </p:txBody>
      </p:sp>
      <p:sp>
        <p:nvSpPr>
          <p:cNvPr id="17" name="Text 15"/>
          <p:cNvSpPr/>
          <p:nvPr/>
        </p:nvSpPr>
        <p:spPr>
          <a:xfrm>
            <a:off x="3739896" y="3364992"/>
            <a:ext cx="3794760" cy="594360"/>
          </a:xfrm>
          <a:prstGeom prst="rect">
            <a:avLst/>
          </a:prstGeom>
          <a:noFill/>
          <a:ln/>
        </p:spPr>
        <p:txBody>
          <a:bodyPr wrap="square" rtlCol="0" anchor="ctr"/>
          <a:lstStyle/>
          <a:p>
            <a:pPr marL="0" indent="0">
              <a:buNone/>
            </a:pPr>
            <a:r>
              <a:rPr lang="en-US" sz="1100" dirty="0">
                <a:solidFill>
                  <a:srgbClr val="FFFFFF"/>
                </a:solidFill>
              </a:rPr>
              <a:t>Business logic + SQL queries  ·  bcrypt, JOIN queries, filters</a:t>
            </a:r>
            <a:endParaRPr lang="en-US" sz="1100" dirty="0"/>
          </a:p>
        </p:txBody>
      </p:sp>
      <p:sp>
        <p:nvSpPr>
          <p:cNvPr id="18" name="Shape 16"/>
          <p:cNvSpPr/>
          <p:nvPr/>
        </p:nvSpPr>
        <p:spPr>
          <a:xfrm>
            <a:off x="1709928" y="4059936"/>
            <a:ext cx="5760720" cy="594360"/>
          </a:xfrm>
          <a:prstGeom prst="rect">
            <a:avLst/>
          </a:prstGeom>
          <a:solidFill>
            <a:srgbClr val="67E8F9">
              <a:alpha val="82000"/>
            </a:srgbClr>
          </a:solidFill>
          <a:ln w="19050">
            <a:solidFill>
              <a:srgbClr val="67E8F9"/>
            </a:solidFill>
            <a:prstDash val="solid"/>
          </a:ln>
          <a:effectLst>
            <a:outerShdw blurRad="127000" dist="50800" dir="8100000" algn="bl" rotWithShape="0">
              <a:srgbClr val="000000">
                <a:alpha val="35000"/>
              </a:srgbClr>
            </a:outerShdw>
          </a:effectLst>
        </p:spPr>
        <p:txBody>
          <a:bodyPr/>
          <a:lstStyle/>
          <a:p>
            <a:endParaRPr lang="hu-HU"/>
          </a:p>
        </p:txBody>
      </p:sp>
      <p:sp>
        <p:nvSpPr>
          <p:cNvPr id="19" name="Text 17"/>
          <p:cNvSpPr/>
          <p:nvPr/>
        </p:nvSpPr>
        <p:spPr>
          <a:xfrm>
            <a:off x="1847088" y="4059936"/>
            <a:ext cx="2011680" cy="594360"/>
          </a:xfrm>
          <a:prstGeom prst="rect">
            <a:avLst/>
          </a:prstGeom>
          <a:noFill/>
          <a:ln/>
        </p:spPr>
        <p:txBody>
          <a:bodyPr wrap="square" rtlCol="0" anchor="ctr"/>
          <a:lstStyle/>
          <a:p>
            <a:pPr marL="0" indent="0">
              <a:buNone/>
            </a:pPr>
            <a:r>
              <a:rPr lang="en-US" sz="1400" b="1" dirty="0">
                <a:solidFill>
                  <a:srgbClr val="FFFFFF"/>
                </a:solidFill>
              </a:rPr>
              <a:t>🗄️  MySQL DB</a:t>
            </a:r>
            <a:endParaRPr lang="en-US" sz="1400" dirty="0"/>
          </a:p>
        </p:txBody>
      </p:sp>
      <p:sp>
        <p:nvSpPr>
          <p:cNvPr id="20" name="Text 18"/>
          <p:cNvSpPr/>
          <p:nvPr/>
        </p:nvSpPr>
        <p:spPr>
          <a:xfrm>
            <a:off x="3995928" y="4059936"/>
            <a:ext cx="3291840" cy="594360"/>
          </a:xfrm>
          <a:prstGeom prst="rect">
            <a:avLst/>
          </a:prstGeom>
          <a:noFill/>
          <a:ln/>
        </p:spPr>
        <p:txBody>
          <a:bodyPr wrap="square" rtlCol="0" anchor="ctr"/>
          <a:lstStyle/>
          <a:p>
            <a:pPr marL="0" indent="0">
              <a:buNone/>
            </a:pPr>
            <a:r>
              <a:rPr lang="en-US" sz="1100" dirty="0">
                <a:solidFill>
                  <a:srgbClr val="FFFFFF"/>
                </a:solidFill>
              </a:rPr>
              <a:t>5 tables  ·  FK relations  ·  bcrypt hashed passwords</a:t>
            </a:r>
            <a:endParaRPr lang="en-US" sz="1100" dirty="0"/>
          </a:p>
        </p:txBody>
      </p:sp>
      <p:sp>
        <p:nvSpPr>
          <p:cNvPr id="21" name="Shape 19"/>
          <p:cNvSpPr/>
          <p:nvPr/>
        </p:nvSpPr>
        <p:spPr>
          <a:xfrm>
            <a:off x="480961" y="1499616"/>
            <a:ext cx="54864" cy="3108960"/>
          </a:xfrm>
          <a:prstGeom prst="rect">
            <a:avLst/>
          </a:prstGeom>
          <a:solidFill>
            <a:srgbClr val="8892A4"/>
          </a:solidFill>
          <a:ln w="12700">
            <a:solidFill>
              <a:srgbClr val="8892A4"/>
            </a:solidFill>
            <a:prstDash val="solid"/>
          </a:ln>
        </p:spPr>
        <p:txBody>
          <a:bodyPr/>
          <a:lstStyle/>
          <a:p>
            <a:endParaRPr lang="hu-HU"/>
          </a:p>
        </p:txBody>
      </p:sp>
      <p:sp>
        <p:nvSpPr>
          <p:cNvPr id="22" name="Text 20"/>
          <p:cNvSpPr/>
          <p:nvPr/>
        </p:nvSpPr>
        <p:spPr>
          <a:xfrm rot="16200000">
            <a:off x="-329184" y="2217419"/>
            <a:ext cx="1078992" cy="1371600"/>
          </a:xfrm>
          <a:prstGeom prst="rect">
            <a:avLst/>
          </a:prstGeom>
          <a:noFill/>
          <a:ln/>
        </p:spPr>
        <p:txBody>
          <a:bodyPr wrap="square" rtlCol="0" anchor="ctr"/>
          <a:lstStyle/>
          <a:p>
            <a:pPr marL="0" indent="0">
              <a:buNone/>
            </a:pPr>
            <a:r>
              <a:rPr lang="en-US" sz="800" dirty="0">
                <a:solidFill>
                  <a:schemeClr val="bg1"/>
                </a:solidFill>
              </a:rPr>
              <a:t>Request flow ↓</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1117"/>
        </a:solidFill>
        <a:effectLst/>
      </p:bgPr>
    </p:bg>
    <p:spTree>
      <p:nvGrpSpPr>
        <p:cNvPr id="1" name=""/>
        <p:cNvGrpSpPr/>
        <p:nvPr/>
      </p:nvGrpSpPr>
      <p:grpSpPr>
        <a:xfrm>
          <a:off x="0" y="0"/>
          <a:ext cx="0" cy="0"/>
          <a:chOff x="0" y="0"/>
          <a:chExt cx="0" cy="0"/>
        </a:xfrm>
      </p:grpSpPr>
      <p:sp>
        <p:nvSpPr>
          <p:cNvPr id="2" name="Shape 0"/>
          <p:cNvSpPr/>
          <p:nvPr/>
        </p:nvSpPr>
        <p:spPr>
          <a:xfrm>
            <a:off x="0" y="0"/>
            <a:ext cx="9144000" cy="1078992"/>
          </a:xfrm>
          <a:prstGeom prst="rect">
            <a:avLst/>
          </a:prstGeom>
          <a:solidFill>
            <a:srgbClr val="1A1D2E"/>
          </a:solidFill>
          <a:ln w="12700">
            <a:solidFill>
              <a:srgbClr val="1A1D2E"/>
            </a:solidFill>
            <a:prstDash val="solid"/>
          </a:ln>
        </p:spPr>
        <p:txBody>
          <a:bodyPr/>
          <a:lstStyle/>
          <a:p>
            <a:endParaRPr lang="hu-HU"/>
          </a:p>
        </p:txBody>
      </p:sp>
      <p:sp>
        <p:nvSpPr>
          <p:cNvPr id="3" name="Shape 1"/>
          <p:cNvSpPr/>
          <p:nvPr/>
        </p:nvSpPr>
        <p:spPr>
          <a:xfrm>
            <a:off x="0" y="1078992"/>
            <a:ext cx="9144000" cy="36576"/>
          </a:xfrm>
          <a:prstGeom prst="rect">
            <a:avLst/>
          </a:prstGeom>
          <a:solidFill>
            <a:srgbClr val="E07B54"/>
          </a:solidFill>
          <a:ln w="12700">
            <a:solidFill>
              <a:srgbClr val="E07B54"/>
            </a:solidFill>
            <a:prstDash val="solid"/>
          </a:ln>
        </p:spPr>
        <p:txBody>
          <a:bodyPr/>
          <a:lstStyle/>
          <a:p>
            <a:endParaRPr lang="hu-HU"/>
          </a:p>
        </p:txBody>
      </p:sp>
      <p:sp>
        <p:nvSpPr>
          <p:cNvPr id="4" name="Text 2"/>
          <p:cNvSpPr/>
          <p:nvPr/>
        </p:nvSpPr>
        <p:spPr>
          <a:xfrm>
            <a:off x="502920" y="73152"/>
            <a:ext cx="6400800" cy="640080"/>
          </a:xfrm>
          <a:prstGeom prst="rect">
            <a:avLst/>
          </a:prstGeom>
          <a:noFill/>
          <a:ln/>
        </p:spPr>
        <p:txBody>
          <a:bodyPr wrap="square" rtlCol="0" anchor="ctr"/>
          <a:lstStyle/>
          <a:p>
            <a:pPr marL="0" indent="0">
              <a:buNone/>
            </a:pPr>
            <a:r>
              <a:rPr lang="en-US" sz="3200" b="1" dirty="0">
                <a:solidFill>
                  <a:srgbClr val="FFFFFF"/>
                </a:solidFill>
                <a:latin typeface="Georgia" pitchFamily="34" charset="0"/>
                <a:ea typeface="Georgia" pitchFamily="34" charset="-122"/>
                <a:cs typeface="Georgia" pitchFamily="34" charset="-120"/>
              </a:rPr>
              <a:t>JWT Middleware</a:t>
            </a:r>
            <a:endParaRPr lang="en-US" sz="3200" dirty="0"/>
          </a:p>
        </p:txBody>
      </p:sp>
      <p:sp>
        <p:nvSpPr>
          <p:cNvPr id="5" name="Text 3"/>
          <p:cNvSpPr/>
          <p:nvPr/>
        </p:nvSpPr>
        <p:spPr>
          <a:xfrm>
            <a:off x="502920" y="713232"/>
            <a:ext cx="7772400" cy="329184"/>
          </a:xfrm>
          <a:prstGeom prst="rect">
            <a:avLst/>
          </a:prstGeom>
          <a:noFill/>
          <a:ln/>
        </p:spPr>
        <p:txBody>
          <a:bodyPr wrap="square" rtlCol="0" anchor="ctr"/>
          <a:lstStyle/>
          <a:p>
            <a:pPr marL="0" indent="0">
              <a:buNone/>
            </a:pPr>
            <a:r>
              <a:rPr lang="en-US" sz="1300" dirty="0">
                <a:solidFill>
                  <a:srgbClr val="8892A4"/>
                </a:solidFill>
              </a:rPr>
              <a:t>How authentication is enforced on protected routes</a:t>
            </a:r>
            <a:endParaRPr lang="en-US" sz="1300" dirty="0"/>
          </a:p>
        </p:txBody>
      </p:sp>
      <p:sp>
        <p:nvSpPr>
          <p:cNvPr id="6" name="Shape 4"/>
          <p:cNvSpPr/>
          <p:nvPr/>
        </p:nvSpPr>
        <p:spPr>
          <a:xfrm>
            <a:off x="292608" y="1280160"/>
            <a:ext cx="2743200" cy="1417320"/>
          </a:xfrm>
          <a:prstGeom prst="rect">
            <a:avLst/>
          </a:prstGeom>
          <a:solidFill>
            <a:srgbClr val="1A1D2E"/>
          </a:solidFill>
          <a:ln w="15240">
            <a:solidFill>
              <a:srgbClr val="F87171"/>
            </a:solidFill>
            <a:prstDash val="solid"/>
          </a:ln>
          <a:effectLst>
            <a:outerShdw blurRad="127000" dist="50800" dir="8100000" algn="bl" rotWithShape="0">
              <a:srgbClr val="000000">
                <a:alpha val="35000"/>
              </a:srgbClr>
            </a:outerShdw>
          </a:effectLst>
        </p:spPr>
        <p:txBody>
          <a:bodyPr/>
          <a:lstStyle/>
          <a:p>
            <a:endParaRPr lang="hu-HU"/>
          </a:p>
        </p:txBody>
      </p:sp>
      <p:sp>
        <p:nvSpPr>
          <p:cNvPr id="7" name="Shape 5"/>
          <p:cNvSpPr/>
          <p:nvPr/>
        </p:nvSpPr>
        <p:spPr>
          <a:xfrm>
            <a:off x="292608" y="1280160"/>
            <a:ext cx="2743200" cy="438912"/>
          </a:xfrm>
          <a:prstGeom prst="rect">
            <a:avLst/>
          </a:prstGeom>
          <a:solidFill>
            <a:srgbClr val="F87171">
              <a:alpha val="85000"/>
            </a:srgbClr>
          </a:solidFill>
          <a:ln w="12700">
            <a:solidFill>
              <a:srgbClr val="F87171"/>
            </a:solidFill>
            <a:prstDash val="solid"/>
          </a:ln>
        </p:spPr>
        <p:txBody>
          <a:bodyPr/>
          <a:lstStyle/>
          <a:p>
            <a:endParaRPr lang="hu-HU"/>
          </a:p>
        </p:txBody>
      </p:sp>
      <p:sp>
        <p:nvSpPr>
          <p:cNvPr id="8" name="Text 6"/>
          <p:cNvSpPr/>
          <p:nvPr/>
        </p:nvSpPr>
        <p:spPr>
          <a:xfrm>
            <a:off x="292608" y="1280160"/>
            <a:ext cx="2743200" cy="438912"/>
          </a:xfrm>
          <a:prstGeom prst="rect">
            <a:avLst/>
          </a:prstGeom>
          <a:noFill/>
          <a:ln/>
        </p:spPr>
        <p:txBody>
          <a:bodyPr wrap="square" lIns="0" tIns="0" rIns="0" bIns="0" rtlCol="0" anchor="ctr"/>
          <a:lstStyle/>
          <a:p>
            <a:pPr marL="0" indent="0" algn="ctr">
              <a:buNone/>
            </a:pPr>
            <a:r>
              <a:rPr lang="en-US" sz="1300" b="1" kern="0" spc="200" dirty="0">
                <a:solidFill>
                  <a:srgbClr val="FFFFFF"/>
                </a:solidFill>
              </a:rPr>
              <a:t>HEADER</a:t>
            </a:r>
            <a:endParaRPr lang="en-US" sz="1300" dirty="0"/>
          </a:p>
        </p:txBody>
      </p:sp>
      <p:sp>
        <p:nvSpPr>
          <p:cNvPr id="9" name="Text 7"/>
          <p:cNvSpPr/>
          <p:nvPr/>
        </p:nvSpPr>
        <p:spPr>
          <a:xfrm>
            <a:off x="384048" y="1764792"/>
            <a:ext cx="2560320" cy="822960"/>
          </a:xfrm>
          <a:prstGeom prst="rect">
            <a:avLst/>
          </a:prstGeom>
          <a:noFill/>
          <a:ln/>
        </p:spPr>
        <p:txBody>
          <a:bodyPr wrap="square" rtlCol="0" anchor="ctr"/>
          <a:lstStyle/>
          <a:p>
            <a:pPr marL="0" indent="0" algn="ctr">
              <a:buNone/>
            </a:pPr>
            <a:r>
              <a:rPr lang="en-US" sz="1200" dirty="0">
                <a:solidFill>
                  <a:srgbClr val="FFFFFF"/>
                </a:solidFill>
              </a:rPr>
              <a:t>alg: HS256</a:t>
            </a:r>
            <a:endParaRPr lang="en-US" sz="1200" dirty="0"/>
          </a:p>
          <a:p>
            <a:pPr marL="0" indent="0" algn="ctr">
              <a:buNone/>
            </a:pPr>
            <a:r>
              <a:rPr lang="en-US" sz="1200" dirty="0">
                <a:solidFill>
                  <a:srgbClr val="FFFFFF"/>
                </a:solidFill>
              </a:rPr>
              <a:t>typ: JWT</a:t>
            </a:r>
            <a:endParaRPr lang="en-US" sz="1200" dirty="0"/>
          </a:p>
        </p:txBody>
      </p:sp>
      <p:sp>
        <p:nvSpPr>
          <p:cNvPr id="10" name="Text 8"/>
          <p:cNvSpPr/>
          <p:nvPr/>
        </p:nvSpPr>
        <p:spPr>
          <a:xfrm>
            <a:off x="3054096" y="1737360"/>
            <a:ext cx="109728" cy="457200"/>
          </a:xfrm>
          <a:prstGeom prst="rect">
            <a:avLst/>
          </a:prstGeom>
          <a:noFill/>
          <a:ln/>
        </p:spPr>
        <p:txBody>
          <a:bodyPr wrap="square" rtlCol="0" anchor="ctr"/>
          <a:lstStyle/>
          <a:p>
            <a:pPr marL="0" indent="0" algn="ctr">
              <a:buNone/>
            </a:pPr>
            <a:r>
              <a:rPr lang="en-US" sz="2600" dirty="0">
                <a:solidFill>
                  <a:srgbClr val="8892A4"/>
                </a:solidFill>
              </a:rPr>
              <a:t>.</a:t>
            </a:r>
            <a:endParaRPr lang="en-US" sz="2600" dirty="0"/>
          </a:p>
        </p:txBody>
      </p:sp>
      <p:sp>
        <p:nvSpPr>
          <p:cNvPr id="11" name="Shape 9"/>
          <p:cNvSpPr/>
          <p:nvPr/>
        </p:nvSpPr>
        <p:spPr>
          <a:xfrm>
            <a:off x="3200400" y="1280160"/>
            <a:ext cx="2743200" cy="1417320"/>
          </a:xfrm>
          <a:prstGeom prst="rect">
            <a:avLst/>
          </a:prstGeom>
          <a:solidFill>
            <a:srgbClr val="1A1D2E"/>
          </a:solidFill>
          <a:ln w="15240">
            <a:solidFill>
              <a:srgbClr val="F5C842"/>
            </a:solidFill>
            <a:prstDash val="solid"/>
          </a:ln>
          <a:effectLst>
            <a:outerShdw blurRad="127000" dist="50800" dir="8100000" algn="bl" rotWithShape="0">
              <a:srgbClr val="000000">
                <a:alpha val="35000"/>
              </a:srgbClr>
            </a:outerShdw>
          </a:effectLst>
        </p:spPr>
        <p:txBody>
          <a:bodyPr/>
          <a:lstStyle/>
          <a:p>
            <a:endParaRPr lang="hu-HU"/>
          </a:p>
        </p:txBody>
      </p:sp>
      <p:sp>
        <p:nvSpPr>
          <p:cNvPr id="12" name="Shape 10"/>
          <p:cNvSpPr/>
          <p:nvPr/>
        </p:nvSpPr>
        <p:spPr>
          <a:xfrm>
            <a:off x="3200400" y="1280160"/>
            <a:ext cx="2743200" cy="438912"/>
          </a:xfrm>
          <a:prstGeom prst="rect">
            <a:avLst/>
          </a:prstGeom>
          <a:solidFill>
            <a:srgbClr val="F5C842">
              <a:alpha val="85000"/>
            </a:srgbClr>
          </a:solidFill>
          <a:ln w="12700">
            <a:solidFill>
              <a:srgbClr val="F5C842"/>
            </a:solidFill>
            <a:prstDash val="solid"/>
          </a:ln>
        </p:spPr>
        <p:txBody>
          <a:bodyPr/>
          <a:lstStyle/>
          <a:p>
            <a:endParaRPr lang="hu-HU"/>
          </a:p>
        </p:txBody>
      </p:sp>
      <p:sp>
        <p:nvSpPr>
          <p:cNvPr id="13" name="Text 11"/>
          <p:cNvSpPr/>
          <p:nvPr/>
        </p:nvSpPr>
        <p:spPr>
          <a:xfrm>
            <a:off x="3200400" y="1280160"/>
            <a:ext cx="2743200" cy="438912"/>
          </a:xfrm>
          <a:prstGeom prst="rect">
            <a:avLst/>
          </a:prstGeom>
          <a:noFill/>
          <a:ln/>
        </p:spPr>
        <p:txBody>
          <a:bodyPr wrap="square" lIns="0" tIns="0" rIns="0" bIns="0" rtlCol="0" anchor="ctr"/>
          <a:lstStyle/>
          <a:p>
            <a:pPr marL="0" indent="0" algn="ctr">
              <a:buNone/>
            </a:pPr>
            <a:r>
              <a:rPr lang="en-US" sz="1300" b="1" kern="0" spc="200" dirty="0">
                <a:solidFill>
                  <a:srgbClr val="FFFFFF"/>
                </a:solidFill>
              </a:rPr>
              <a:t>PAYLOAD</a:t>
            </a:r>
            <a:endParaRPr lang="en-US" sz="1300" dirty="0"/>
          </a:p>
        </p:txBody>
      </p:sp>
      <p:sp>
        <p:nvSpPr>
          <p:cNvPr id="14" name="Text 12"/>
          <p:cNvSpPr/>
          <p:nvPr/>
        </p:nvSpPr>
        <p:spPr>
          <a:xfrm>
            <a:off x="3291840" y="1764792"/>
            <a:ext cx="2560320" cy="822960"/>
          </a:xfrm>
          <a:prstGeom prst="rect">
            <a:avLst/>
          </a:prstGeom>
          <a:noFill/>
          <a:ln/>
        </p:spPr>
        <p:txBody>
          <a:bodyPr wrap="square" rtlCol="0" anchor="ctr"/>
          <a:lstStyle/>
          <a:p>
            <a:pPr marL="0" indent="0" algn="ctr">
              <a:buNone/>
            </a:pPr>
            <a:r>
              <a:rPr lang="en-US" sz="1200" dirty="0">
                <a:solidFill>
                  <a:srgbClr val="FFFFFF"/>
                </a:solidFill>
              </a:rPr>
              <a:t>userId  ·  email</a:t>
            </a:r>
            <a:endParaRPr lang="en-US" sz="1200" dirty="0"/>
          </a:p>
          <a:p>
            <a:pPr marL="0" indent="0" algn="ctr">
              <a:buNone/>
            </a:pPr>
            <a:r>
              <a:rPr lang="en-US" sz="1200" dirty="0">
                <a:solidFill>
                  <a:srgbClr val="FFFFFF"/>
                </a:solidFill>
              </a:rPr>
              <a:t>exp: 7 days</a:t>
            </a:r>
            <a:endParaRPr lang="en-US" sz="1200" dirty="0"/>
          </a:p>
        </p:txBody>
      </p:sp>
      <p:sp>
        <p:nvSpPr>
          <p:cNvPr id="15" name="Text 13"/>
          <p:cNvSpPr/>
          <p:nvPr/>
        </p:nvSpPr>
        <p:spPr>
          <a:xfrm>
            <a:off x="5961888" y="1737360"/>
            <a:ext cx="109728" cy="457200"/>
          </a:xfrm>
          <a:prstGeom prst="rect">
            <a:avLst/>
          </a:prstGeom>
          <a:noFill/>
          <a:ln/>
        </p:spPr>
        <p:txBody>
          <a:bodyPr wrap="square" rtlCol="0" anchor="ctr"/>
          <a:lstStyle/>
          <a:p>
            <a:pPr marL="0" indent="0" algn="ctr">
              <a:buNone/>
            </a:pPr>
            <a:r>
              <a:rPr lang="en-US" sz="2600" dirty="0">
                <a:solidFill>
                  <a:srgbClr val="8892A4"/>
                </a:solidFill>
              </a:rPr>
              <a:t>.</a:t>
            </a:r>
            <a:endParaRPr lang="en-US" sz="2600" dirty="0"/>
          </a:p>
        </p:txBody>
      </p:sp>
      <p:sp>
        <p:nvSpPr>
          <p:cNvPr id="16" name="Shape 14"/>
          <p:cNvSpPr/>
          <p:nvPr/>
        </p:nvSpPr>
        <p:spPr>
          <a:xfrm>
            <a:off x="6108192" y="1280160"/>
            <a:ext cx="2743200" cy="1417320"/>
          </a:xfrm>
          <a:prstGeom prst="rect">
            <a:avLst/>
          </a:prstGeom>
          <a:solidFill>
            <a:srgbClr val="1A1D2E"/>
          </a:solidFill>
          <a:ln w="15240">
            <a:solidFill>
              <a:srgbClr val="34D399"/>
            </a:solidFill>
            <a:prstDash val="solid"/>
          </a:ln>
          <a:effectLst>
            <a:outerShdw blurRad="127000" dist="50800" dir="8100000" algn="bl" rotWithShape="0">
              <a:srgbClr val="000000">
                <a:alpha val="35000"/>
              </a:srgbClr>
            </a:outerShdw>
          </a:effectLst>
        </p:spPr>
        <p:txBody>
          <a:bodyPr/>
          <a:lstStyle/>
          <a:p>
            <a:endParaRPr lang="hu-HU"/>
          </a:p>
        </p:txBody>
      </p:sp>
      <p:sp>
        <p:nvSpPr>
          <p:cNvPr id="17" name="Shape 15"/>
          <p:cNvSpPr/>
          <p:nvPr/>
        </p:nvSpPr>
        <p:spPr>
          <a:xfrm>
            <a:off x="6108192" y="1280160"/>
            <a:ext cx="2743200" cy="438912"/>
          </a:xfrm>
          <a:prstGeom prst="rect">
            <a:avLst/>
          </a:prstGeom>
          <a:solidFill>
            <a:srgbClr val="34D399">
              <a:alpha val="85000"/>
            </a:srgbClr>
          </a:solidFill>
          <a:ln w="12700">
            <a:solidFill>
              <a:srgbClr val="34D399"/>
            </a:solidFill>
            <a:prstDash val="solid"/>
          </a:ln>
        </p:spPr>
        <p:txBody>
          <a:bodyPr/>
          <a:lstStyle/>
          <a:p>
            <a:endParaRPr lang="hu-HU"/>
          </a:p>
        </p:txBody>
      </p:sp>
      <p:sp>
        <p:nvSpPr>
          <p:cNvPr id="18" name="Text 16"/>
          <p:cNvSpPr/>
          <p:nvPr/>
        </p:nvSpPr>
        <p:spPr>
          <a:xfrm>
            <a:off x="6108192" y="1280160"/>
            <a:ext cx="2743200" cy="438912"/>
          </a:xfrm>
          <a:prstGeom prst="rect">
            <a:avLst/>
          </a:prstGeom>
          <a:noFill/>
          <a:ln/>
        </p:spPr>
        <p:txBody>
          <a:bodyPr wrap="square" lIns="0" tIns="0" rIns="0" bIns="0" rtlCol="0" anchor="ctr"/>
          <a:lstStyle/>
          <a:p>
            <a:pPr marL="0" indent="0" algn="ctr">
              <a:buNone/>
            </a:pPr>
            <a:r>
              <a:rPr lang="en-US" sz="1300" b="1" kern="0" spc="200" dirty="0">
                <a:solidFill>
                  <a:srgbClr val="FFFFFF"/>
                </a:solidFill>
              </a:rPr>
              <a:t>SIGNATURE</a:t>
            </a:r>
            <a:endParaRPr lang="en-US" sz="1300" dirty="0"/>
          </a:p>
        </p:txBody>
      </p:sp>
      <p:sp>
        <p:nvSpPr>
          <p:cNvPr id="19" name="Text 17"/>
          <p:cNvSpPr/>
          <p:nvPr/>
        </p:nvSpPr>
        <p:spPr>
          <a:xfrm>
            <a:off x="6199632" y="1764792"/>
            <a:ext cx="2560320" cy="822960"/>
          </a:xfrm>
          <a:prstGeom prst="rect">
            <a:avLst/>
          </a:prstGeom>
          <a:noFill/>
          <a:ln/>
        </p:spPr>
        <p:txBody>
          <a:bodyPr wrap="square" rtlCol="0" anchor="ctr"/>
          <a:lstStyle/>
          <a:p>
            <a:pPr marL="0" indent="0" algn="ctr">
              <a:buNone/>
            </a:pPr>
            <a:r>
              <a:rPr lang="en-US" sz="1200" dirty="0">
                <a:solidFill>
                  <a:srgbClr val="FFFFFF"/>
                </a:solidFill>
              </a:rPr>
              <a:t>HMAC-SHA256</a:t>
            </a:r>
            <a:endParaRPr lang="en-US" sz="1200" dirty="0"/>
          </a:p>
          <a:p>
            <a:pPr marL="0" indent="0" algn="ctr">
              <a:buNone/>
            </a:pPr>
            <a:r>
              <a:rPr lang="en-US" sz="1200" dirty="0">
                <a:solidFill>
                  <a:srgbClr val="FFFFFF"/>
                </a:solidFill>
              </a:rPr>
              <a:t>+ secret key</a:t>
            </a:r>
            <a:endParaRPr lang="en-US" sz="1200" dirty="0"/>
          </a:p>
        </p:txBody>
      </p:sp>
      <p:sp>
        <p:nvSpPr>
          <p:cNvPr id="20" name="Shape 18"/>
          <p:cNvSpPr/>
          <p:nvPr/>
        </p:nvSpPr>
        <p:spPr>
          <a:xfrm>
            <a:off x="292608" y="2816352"/>
            <a:ext cx="8549640" cy="347472"/>
          </a:xfrm>
          <a:prstGeom prst="rect">
            <a:avLst/>
          </a:prstGeom>
          <a:solidFill>
            <a:srgbClr val="141824"/>
          </a:solidFill>
          <a:ln w="12700">
            <a:solidFill>
              <a:srgbClr val="2E3250"/>
            </a:solidFill>
            <a:prstDash val="solid"/>
          </a:ln>
        </p:spPr>
        <p:txBody>
          <a:bodyPr/>
          <a:lstStyle/>
          <a:p>
            <a:endParaRPr lang="hu-HU"/>
          </a:p>
        </p:txBody>
      </p:sp>
      <p:sp>
        <p:nvSpPr>
          <p:cNvPr id="21" name="Text 19"/>
          <p:cNvSpPr/>
          <p:nvPr/>
        </p:nvSpPr>
        <p:spPr>
          <a:xfrm>
            <a:off x="475488" y="2816352"/>
            <a:ext cx="8229600" cy="347472"/>
          </a:xfrm>
          <a:prstGeom prst="rect">
            <a:avLst/>
          </a:prstGeom>
          <a:noFill/>
          <a:ln/>
        </p:spPr>
        <p:txBody>
          <a:bodyPr wrap="square" rtlCol="0" anchor="ctr"/>
          <a:lstStyle/>
          <a:p>
            <a:pPr marL="0" indent="0">
              <a:buNone/>
            </a:pPr>
            <a:r>
              <a:rPr lang="en-US" sz="1000" dirty="0">
                <a:solidFill>
                  <a:srgbClr val="67E8F9"/>
                </a:solidFill>
                <a:latin typeface="Consolas" pitchFamily="34" charset="0"/>
                <a:ea typeface="Consolas" pitchFamily="34" charset="-122"/>
                <a:cs typeface="Consolas" pitchFamily="34" charset="-120"/>
              </a:rPr>
              <a:t>eyJhbGciOiJIUzI1NiJ9.eyJ1c2VySWQiOjEsImVtYWlsIjoiLi4uIn0.SIG…</a:t>
            </a:r>
            <a:endParaRPr lang="en-US" sz="1000" dirty="0"/>
          </a:p>
        </p:txBody>
      </p:sp>
      <p:sp>
        <p:nvSpPr>
          <p:cNvPr id="22" name="Shape 20"/>
          <p:cNvSpPr/>
          <p:nvPr/>
        </p:nvSpPr>
        <p:spPr>
          <a:xfrm>
            <a:off x="292608" y="3273552"/>
            <a:ext cx="8549640" cy="1691640"/>
          </a:xfrm>
          <a:prstGeom prst="rect">
            <a:avLst/>
          </a:prstGeom>
          <a:solidFill>
            <a:srgbClr val="141824"/>
          </a:solidFill>
          <a:ln w="12700">
            <a:solidFill>
              <a:srgbClr val="2E3250"/>
            </a:solidFill>
            <a:prstDash val="solid"/>
          </a:ln>
          <a:effectLst>
            <a:outerShdw blurRad="127000" dist="50800" dir="8100000" algn="bl" rotWithShape="0">
              <a:srgbClr val="000000">
                <a:alpha val="35000"/>
              </a:srgbClr>
            </a:outerShdw>
          </a:effectLst>
        </p:spPr>
        <p:txBody>
          <a:bodyPr/>
          <a:lstStyle/>
          <a:p>
            <a:endParaRPr lang="hu-HU"/>
          </a:p>
        </p:txBody>
      </p:sp>
      <p:sp>
        <p:nvSpPr>
          <p:cNvPr id="23" name="Text 21"/>
          <p:cNvSpPr/>
          <p:nvPr/>
        </p:nvSpPr>
        <p:spPr>
          <a:xfrm>
            <a:off x="457200" y="3337560"/>
            <a:ext cx="8321040" cy="1572768"/>
          </a:xfrm>
          <a:prstGeom prst="rect">
            <a:avLst/>
          </a:prstGeom>
          <a:noFill/>
          <a:ln/>
        </p:spPr>
        <p:txBody>
          <a:bodyPr wrap="square" rtlCol="0" anchor="t"/>
          <a:lstStyle/>
          <a:p>
            <a:pPr marL="0" indent="0">
              <a:buNone/>
            </a:pPr>
            <a:r>
              <a:rPr lang="en-US" sz="1050" dirty="0">
                <a:solidFill>
                  <a:srgbClr val="4B5563"/>
                </a:solidFill>
                <a:latin typeface="Consolas" pitchFamily="34" charset="0"/>
                <a:ea typeface="Consolas" pitchFamily="34" charset="-122"/>
                <a:cs typeface="Consolas" pitchFamily="34" charset="-120"/>
              </a:rPr>
              <a:t>// middleware/auth.ts
</a:t>
            </a:r>
            <a:r>
              <a:rPr lang="en-US" sz="1050" dirty="0">
                <a:solidFill>
                  <a:srgbClr val="FFFFFF"/>
                </a:solidFill>
                <a:latin typeface="Consolas" pitchFamily="34" charset="0"/>
                <a:ea typeface="Consolas" pitchFamily="34" charset="-122"/>
                <a:cs typeface="Consolas" pitchFamily="34" charset="-120"/>
              </a:rPr>
              <a:t>const decoded = </a:t>
            </a:r>
            <a:r>
              <a:rPr lang="en-US" sz="1050" dirty="0">
                <a:solidFill>
                  <a:srgbClr val="F5C842"/>
                </a:solidFill>
                <a:latin typeface="Consolas" pitchFamily="34" charset="0"/>
                <a:ea typeface="Consolas" pitchFamily="34" charset="-122"/>
                <a:cs typeface="Consolas" pitchFamily="34" charset="-120"/>
              </a:rPr>
              <a:t>jwt.verify</a:t>
            </a:r>
            <a:r>
              <a:rPr lang="en-US" sz="1050" dirty="0">
                <a:solidFill>
                  <a:srgbClr val="FFFFFF"/>
                </a:solidFill>
                <a:latin typeface="Consolas" pitchFamily="34" charset="0"/>
                <a:ea typeface="Consolas" pitchFamily="34" charset="-122"/>
                <a:cs typeface="Consolas" pitchFamily="34" charset="-120"/>
              </a:rPr>
              <a:t>(token, process.env.JWT_SECRET);
req.user = decoded;  </a:t>
            </a:r>
            <a:r>
              <a:rPr lang="en-US" sz="1050" dirty="0">
                <a:solidFill>
                  <a:srgbClr val="34D399"/>
                </a:solidFill>
                <a:latin typeface="Consolas" pitchFamily="34" charset="0"/>
                <a:ea typeface="Consolas" pitchFamily="34" charset="-122"/>
                <a:cs typeface="Consolas" pitchFamily="34" charset="-120"/>
              </a:rPr>
              <a:t>next();   </a:t>
            </a:r>
            <a:r>
              <a:rPr lang="en-US" sz="1050" dirty="0">
                <a:solidFill>
                  <a:srgbClr val="4B5563"/>
                </a:solidFill>
                <a:latin typeface="Consolas" pitchFamily="34" charset="0"/>
                <a:ea typeface="Consolas" pitchFamily="34" charset="-122"/>
                <a:cs typeface="Consolas" pitchFamily="34" charset="-120"/>
              </a:rPr>
              <a:t>// pass to controller
// middleware/authorize.ts  (admin check)
</a:t>
            </a:r>
            <a:r>
              <a:rPr lang="en-US" sz="1050" dirty="0">
                <a:solidFill>
                  <a:srgbClr val="F87171"/>
                </a:solidFill>
                <a:latin typeface="Consolas" pitchFamily="34" charset="0"/>
                <a:ea typeface="Consolas" pitchFamily="34" charset="-122"/>
                <a:cs typeface="Consolas" pitchFamily="34" charset="-120"/>
              </a:rPr>
              <a:t>if (!req.user?.is_admin) return res.status(403).json({ error: "Forbidden" });</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1117"/>
        </a:solidFill>
        <a:effectLst/>
      </p:bgPr>
    </p:bg>
    <p:spTree>
      <p:nvGrpSpPr>
        <p:cNvPr id="1" name=""/>
        <p:cNvGrpSpPr/>
        <p:nvPr/>
      </p:nvGrpSpPr>
      <p:grpSpPr>
        <a:xfrm>
          <a:off x="0" y="0"/>
          <a:ext cx="0" cy="0"/>
          <a:chOff x="0" y="0"/>
          <a:chExt cx="0" cy="0"/>
        </a:xfrm>
      </p:grpSpPr>
      <p:sp>
        <p:nvSpPr>
          <p:cNvPr id="2" name="Shape 0"/>
          <p:cNvSpPr/>
          <p:nvPr/>
        </p:nvSpPr>
        <p:spPr>
          <a:xfrm>
            <a:off x="0" y="0"/>
            <a:ext cx="9144000" cy="1078992"/>
          </a:xfrm>
          <a:prstGeom prst="rect">
            <a:avLst/>
          </a:prstGeom>
          <a:solidFill>
            <a:srgbClr val="1A1D2E"/>
          </a:solidFill>
          <a:ln w="12700">
            <a:solidFill>
              <a:srgbClr val="1A1D2E"/>
            </a:solidFill>
            <a:prstDash val="solid"/>
          </a:ln>
        </p:spPr>
        <p:txBody>
          <a:bodyPr/>
          <a:lstStyle/>
          <a:p>
            <a:endParaRPr lang="hu-HU"/>
          </a:p>
        </p:txBody>
      </p:sp>
      <p:sp>
        <p:nvSpPr>
          <p:cNvPr id="3" name="Shape 1"/>
          <p:cNvSpPr/>
          <p:nvPr/>
        </p:nvSpPr>
        <p:spPr>
          <a:xfrm>
            <a:off x="0" y="1078992"/>
            <a:ext cx="9144000" cy="36576"/>
          </a:xfrm>
          <a:prstGeom prst="rect">
            <a:avLst/>
          </a:prstGeom>
          <a:solidFill>
            <a:srgbClr val="E07B54"/>
          </a:solidFill>
          <a:ln w="12700">
            <a:solidFill>
              <a:srgbClr val="E07B54"/>
            </a:solidFill>
            <a:prstDash val="solid"/>
          </a:ln>
        </p:spPr>
        <p:txBody>
          <a:bodyPr/>
          <a:lstStyle/>
          <a:p>
            <a:endParaRPr lang="hu-HU"/>
          </a:p>
        </p:txBody>
      </p:sp>
      <p:sp>
        <p:nvSpPr>
          <p:cNvPr id="4" name="Text 2"/>
          <p:cNvSpPr/>
          <p:nvPr/>
        </p:nvSpPr>
        <p:spPr>
          <a:xfrm>
            <a:off x="502920" y="73152"/>
            <a:ext cx="6400800" cy="640080"/>
          </a:xfrm>
          <a:prstGeom prst="rect">
            <a:avLst/>
          </a:prstGeom>
          <a:noFill/>
          <a:ln/>
        </p:spPr>
        <p:txBody>
          <a:bodyPr wrap="square" rtlCol="0" anchor="ctr"/>
          <a:lstStyle/>
          <a:p>
            <a:pPr marL="0" indent="0">
              <a:buNone/>
            </a:pPr>
            <a:r>
              <a:rPr lang="en-US" sz="3200" b="1" dirty="0">
                <a:solidFill>
                  <a:srgbClr val="FFFFFF"/>
                </a:solidFill>
                <a:latin typeface="Georgia" pitchFamily="34" charset="0"/>
                <a:ea typeface="Georgia" pitchFamily="34" charset="-122"/>
                <a:cs typeface="Georgia" pitchFamily="34" charset="-120"/>
              </a:rPr>
              <a:t>Database Schema</a:t>
            </a:r>
            <a:endParaRPr lang="en-US" sz="3200" dirty="0"/>
          </a:p>
        </p:txBody>
      </p:sp>
      <p:sp>
        <p:nvSpPr>
          <p:cNvPr id="5" name="Text 3"/>
          <p:cNvSpPr/>
          <p:nvPr/>
        </p:nvSpPr>
        <p:spPr>
          <a:xfrm>
            <a:off x="502920" y="713232"/>
            <a:ext cx="7772400" cy="329184"/>
          </a:xfrm>
          <a:prstGeom prst="rect">
            <a:avLst/>
          </a:prstGeom>
          <a:noFill/>
          <a:ln/>
        </p:spPr>
        <p:txBody>
          <a:bodyPr wrap="square" rtlCol="0" anchor="ctr"/>
          <a:lstStyle/>
          <a:p>
            <a:pPr marL="0" indent="0">
              <a:buNone/>
            </a:pPr>
            <a:r>
              <a:rPr lang="en-US" sz="1300" dirty="0">
                <a:solidFill>
                  <a:srgbClr val="8892A4"/>
                </a:solidFill>
              </a:rPr>
              <a:t>MySQL — 5 relational tables</a:t>
            </a:r>
            <a:endParaRPr lang="en-US" sz="1300" dirty="0"/>
          </a:p>
        </p:txBody>
      </p:sp>
      <p:sp>
        <p:nvSpPr>
          <p:cNvPr id="6" name="Shape 4"/>
          <p:cNvSpPr/>
          <p:nvPr/>
        </p:nvSpPr>
        <p:spPr>
          <a:xfrm>
            <a:off x="292608" y="1298448"/>
            <a:ext cx="2743200" cy="2267712"/>
          </a:xfrm>
          <a:prstGeom prst="rect">
            <a:avLst/>
          </a:prstGeom>
          <a:solidFill>
            <a:srgbClr val="1A1D2E"/>
          </a:solidFill>
          <a:ln w="15240">
            <a:solidFill>
              <a:srgbClr val="A78BFA"/>
            </a:solidFill>
            <a:prstDash val="solid"/>
          </a:ln>
          <a:effectLst>
            <a:outerShdw blurRad="127000" dist="50800" dir="8100000" algn="bl" rotWithShape="0">
              <a:srgbClr val="000000">
                <a:alpha val="35000"/>
              </a:srgbClr>
            </a:outerShdw>
          </a:effectLst>
        </p:spPr>
        <p:txBody>
          <a:bodyPr/>
          <a:lstStyle/>
          <a:p>
            <a:endParaRPr lang="hu-HU"/>
          </a:p>
        </p:txBody>
      </p:sp>
      <p:sp>
        <p:nvSpPr>
          <p:cNvPr id="7" name="Shape 5"/>
          <p:cNvSpPr/>
          <p:nvPr/>
        </p:nvSpPr>
        <p:spPr>
          <a:xfrm>
            <a:off x="292608" y="1298448"/>
            <a:ext cx="2743200" cy="402336"/>
          </a:xfrm>
          <a:prstGeom prst="rect">
            <a:avLst/>
          </a:prstGeom>
          <a:solidFill>
            <a:srgbClr val="A78BFA">
              <a:alpha val="90000"/>
            </a:srgbClr>
          </a:solidFill>
          <a:ln w="12700">
            <a:solidFill>
              <a:srgbClr val="A78BFA"/>
            </a:solidFill>
            <a:prstDash val="solid"/>
          </a:ln>
        </p:spPr>
        <p:txBody>
          <a:bodyPr/>
          <a:lstStyle/>
          <a:p>
            <a:endParaRPr lang="hu-HU"/>
          </a:p>
        </p:txBody>
      </p:sp>
      <p:sp>
        <p:nvSpPr>
          <p:cNvPr id="8" name="Text 6"/>
          <p:cNvSpPr/>
          <p:nvPr/>
        </p:nvSpPr>
        <p:spPr>
          <a:xfrm>
            <a:off x="292608" y="1298448"/>
            <a:ext cx="2743200" cy="402336"/>
          </a:xfrm>
          <a:prstGeom prst="rect">
            <a:avLst/>
          </a:prstGeom>
          <a:noFill/>
          <a:ln/>
        </p:spPr>
        <p:txBody>
          <a:bodyPr wrap="square" lIns="0" tIns="0" rIns="0" bIns="0" rtlCol="0" anchor="ctr"/>
          <a:lstStyle/>
          <a:p>
            <a:pPr marL="0" indent="0" algn="ctr">
              <a:buNone/>
            </a:pPr>
            <a:r>
              <a:rPr lang="en-US" sz="1300" b="1" dirty="0">
                <a:solidFill>
                  <a:srgbClr val="FFFFFF"/>
                </a:solidFill>
              </a:rPr>
              <a:t>users</a:t>
            </a:r>
            <a:endParaRPr lang="en-US" sz="1300" dirty="0"/>
          </a:p>
        </p:txBody>
      </p:sp>
      <p:sp>
        <p:nvSpPr>
          <p:cNvPr id="9" name="Text 7"/>
          <p:cNvSpPr/>
          <p:nvPr/>
        </p:nvSpPr>
        <p:spPr>
          <a:xfrm>
            <a:off x="402336" y="1755648"/>
            <a:ext cx="2523744" cy="237744"/>
          </a:xfrm>
          <a:prstGeom prst="rect">
            <a:avLst/>
          </a:prstGeom>
          <a:noFill/>
          <a:ln/>
        </p:spPr>
        <p:txBody>
          <a:bodyPr wrap="square" rtlCol="0" anchor="ctr"/>
          <a:lstStyle/>
          <a:p>
            <a:pPr marL="0" indent="0">
              <a:buNone/>
            </a:pPr>
            <a:r>
              <a:rPr lang="en-US" sz="950" b="1" dirty="0">
                <a:solidFill>
                  <a:srgbClr val="F5C842"/>
                </a:solidFill>
                <a:latin typeface="Consolas" pitchFamily="34" charset="0"/>
                <a:ea typeface="Consolas" pitchFamily="34" charset="-122"/>
                <a:cs typeface="Consolas" pitchFamily="34" charset="-120"/>
              </a:rPr>
              <a:t>id  PK</a:t>
            </a:r>
            <a:endParaRPr lang="en-US" sz="950" dirty="0"/>
          </a:p>
        </p:txBody>
      </p:sp>
      <p:sp>
        <p:nvSpPr>
          <p:cNvPr id="10" name="Text 8"/>
          <p:cNvSpPr/>
          <p:nvPr/>
        </p:nvSpPr>
        <p:spPr>
          <a:xfrm>
            <a:off x="402336" y="2011680"/>
            <a:ext cx="2523744" cy="237744"/>
          </a:xfrm>
          <a:prstGeom prst="rect">
            <a:avLst/>
          </a:prstGeom>
          <a:noFill/>
          <a:ln/>
        </p:spPr>
        <p:txBody>
          <a:bodyPr wrap="square" rtlCol="0" anchor="ctr"/>
          <a:lstStyle/>
          <a:p>
            <a:pPr marL="0" indent="0">
              <a:buNone/>
            </a:pPr>
            <a:r>
              <a:rPr lang="en-US" sz="950" dirty="0">
                <a:solidFill>
                  <a:srgbClr val="C5CDD8"/>
                </a:solidFill>
                <a:latin typeface="Consolas" pitchFamily="34" charset="0"/>
                <a:ea typeface="Consolas" pitchFamily="34" charset="-122"/>
                <a:cs typeface="Consolas" pitchFamily="34" charset="-120"/>
              </a:rPr>
              <a:t>first_name</a:t>
            </a:r>
            <a:endParaRPr lang="en-US" sz="950" dirty="0"/>
          </a:p>
        </p:txBody>
      </p:sp>
      <p:sp>
        <p:nvSpPr>
          <p:cNvPr id="11" name="Text 9"/>
          <p:cNvSpPr/>
          <p:nvPr/>
        </p:nvSpPr>
        <p:spPr>
          <a:xfrm>
            <a:off x="402336" y="2267712"/>
            <a:ext cx="2523744" cy="237744"/>
          </a:xfrm>
          <a:prstGeom prst="rect">
            <a:avLst/>
          </a:prstGeom>
          <a:noFill/>
          <a:ln/>
        </p:spPr>
        <p:txBody>
          <a:bodyPr wrap="square" rtlCol="0" anchor="ctr"/>
          <a:lstStyle/>
          <a:p>
            <a:pPr marL="0" indent="0">
              <a:buNone/>
            </a:pPr>
            <a:r>
              <a:rPr lang="en-US" sz="950" dirty="0">
                <a:solidFill>
                  <a:srgbClr val="C5CDD8"/>
                </a:solidFill>
                <a:latin typeface="Consolas" pitchFamily="34" charset="0"/>
                <a:ea typeface="Consolas" pitchFamily="34" charset="-122"/>
                <a:cs typeface="Consolas" pitchFamily="34" charset="-120"/>
              </a:rPr>
              <a:t>last_name</a:t>
            </a:r>
            <a:endParaRPr lang="en-US" sz="950" dirty="0"/>
          </a:p>
        </p:txBody>
      </p:sp>
      <p:sp>
        <p:nvSpPr>
          <p:cNvPr id="12" name="Text 10"/>
          <p:cNvSpPr/>
          <p:nvPr/>
        </p:nvSpPr>
        <p:spPr>
          <a:xfrm>
            <a:off x="402336" y="2523744"/>
            <a:ext cx="2523744" cy="237744"/>
          </a:xfrm>
          <a:prstGeom prst="rect">
            <a:avLst/>
          </a:prstGeom>
          <a:noFill/>
          <a:ln/>
        </p:spPr>
        <p:txBody>
          <a:bodyPr wrap="square" rtlCol="0" anchor="ctr"/>
          <a:lstStyle/>
          <a:p>
            <a:pPr marL="0" indent="0">
              <a:buNone/>
            </a:pPr>
            <a:r>
              <a:rPr lang="en-US" sz="950" dirty="0">
                <a:solidFill>
                  <a:srgbClr val="C5CDD8"/>
                </a:solidFill>
                <a:latin typeface="Consolas" pitchFamily="34" charset="0"/>
                <a:ea typeface="Consolas" pitchFamily="34" charset="-122"/>
                <a:cs typeface="Consolas" pitchFamily="34" charset="-120"/>
              </a:rPr>
              <a:t>email  UNIQUE</a:t>
            </a:r>
            <a:endParaRPr lang="en-US" sz="950" dirty="0"/>
          </a:p>
        </p:txBody>
      </p:sp>
      <p:sp>
        <p:nvSpPr>
          <p:cNvPr id="13" name="Text 11"/>
          <p:cNvSpPr/>
          <p:nvPr/>
        </p:nvSpPr>
        <p:spPr>
          <a:xfrm>
            <a:off x="402336" y="2779776"/>
            <a:ext cx="2523744" cy="237744"/>
          </a:xfrm>
          <a:prstGeom prst="rect">
            <a:avLst/>
          </a:prstGeom>
          <a:noFill/>
          <a:ln/>
        </p:spPr>
        <p:txBody>
          <a:bodyPr wrap="square" rtlCol="0" anchor="ctr"/>
          <a:lstStyle/>
          <a:p>
            <a:pPr marL="0" indent="0">
              <a:buNone/>
            </a:pPr>
            <a:r>
              <a:rPr lang="en-US" sz="950" dirty="0">
                <a:solidFill>
                  <a:srgbClr val="C5CDD8"/>
                </a:solidFill>
                <a:latin typeface="Consolas" pitchFamily="34" charset="0"/>
                <a:ea typeface="Consolas" pitchFamily="34" charset="-122"/>
                <a:cs typeface="Consolas" pitchFamily="34" charset="-120"/>
              </a:rPr>
              <a:t>password_hash</a:t>
            </a:r>
            <a:endParaRPr lang="en-US" sz="950" dirty="0"/>
          </a:p>
        </p:txBody>
      </p:sp>
      <p:sp>
        <p:nvSpPr>
          <p:cNvPr id="14" name="Text 12"/>
          <p:cNvSpPr/>
          <p:nvPr/>
        </p:nvSpPr>
        <p:spPr>
          <a:xfrm>
            <a:off x="402336" y="3035808"/>
            <a:ext cx="2523744" cy="237744"/>
          </a:xfrm>
          <a:prstGeom prst="rect">
            <a:avLst/>
          </a:prstGeom>
          <a:noFill/>
          <a:ln/>
        </p:spPr>
        <p:txBody>
          <a:bodyPr wrap="square" rtlCol="0" anchor="ctr"/>
          <a:lstStyle/>
          <a:p>
            <a:pPr marL="0" indent="0">
              <a:buNone/>
            </a:pPr>
            <a:r>
              <a:rPr lang="en-US" sz="950" dirty="0">
                <a:solidFill>
                  <a:srgbClr val="C5CDD8"/>
                </a:solidFill>
                <a:latin typeface="Consolas" pitchFamily="34" charset="0"/>
                <a:ea typeface="Consolas" pitchFamily="34" charset="-122"/>
                <a:cs typeface="Consolas" pitchFamily="34" charset="-120"/>
              </a:rPr>
              <a:t>is_admin</a:t>
            </a:r>
            <a:endParaRPr lang="en-US" sz="950" dirty="0"/>
          </a:p>
        </p:txBody>
      </p:sp>
      <p:sp>
        <p:nvSpPr>
          <p:cNvPr id="15" name="Text 13"/>
          <p:cNvSpPr/>
          <p:nvPr/>
        </p:nvSpPr>
        <p:spPr>
          <a:xfrm>
            <a:off x="402336" y="3291840"/>
            <a:ext cx="2523744" cy="237744"/>
          </a:xfrm>
          <a:prstGeom prst="rect">
            <a:avLst/>
          </a:prstGeom>
          <a:noFill/>
          <a:ln/>
        </p:spPr>
        <p:txBody>
          <a:bodyPr wrap="square" rtlCol="0" anchor="ctr"/>
          <a:lstStyle/>
          <a:p>
            <a:pPr marL="0" indent="0">
              <a:buNone/>
            </a:pPr>
            <a:r>
              <a:rPr lang="en-US" sz="950" dirty="0">
                <a:solidFill>
                  <a:srgbClr val="C5CDD8"/>
                </a:solidFill>
                <a:latin typeface="Consolas" pitchFamily="34" charset="0"/>
                <a:ea typeface="Consolas" pitchFamily="34" charset="-122"/>
                <a:cs typeface="Consolas" pitchFamily="34" charset="-120"/>
              </a:rPr>
              <a:t>created_at</a:t>
            </a:r>
            <a:endParaRPr lang="en-US" sz="950" dirty="0"/>
          </a:p>
        </p:txBody>
      </p:sp>
      <p:sp>
        <p:nvSpPr>
          <p:cNvPr id="16" name="Shape 14"/>
          <p:cNvSpPr/>
          <p:nvPr/>
        </p:nvSpPr>
        <p:spPr>
          <a:xfrm>
            <a:off x="3218688" y="1298448"/>
            <a:ext cx="2743200" cy="2267712"/>
          </a:xfrm>
          <a:prstGeom prst="rect">
            <a:avLst/>
          </a:prstGeom>
          <a:solidFill>
            <a:srgbClr val="1A1D2E"/>
          </a:solidFill>
          <a:ln w="15240">
            <a:solidFill>
              <a:srgbClr val="E07B54"/>
            </a:solidFill>
            <a:prstDash val="solid"/>
          </a:ln>
          <a:effectLst>
            <a:outerShdw blurRad="127000" dist="50800" dir="8100000" algn="bl" rotWithShape="0">
              <a:srgbClr val="000000">
                <a:alpha val="35000"/>
              </a:srgbClr>
            </a:outerShdw>
          </a:effectLst>
        </p:spPr>
        <p:txBody>
          <a:bodyPr/>
          <a:lstStyle/>
          <a:p>
            <a:endParaRPr lang="hu-HU"/>
          </a:p>
        </p:txBody>
      </p:sp>
      <p:sp>
        <p:nvSpPr>
          <p:cNvPr id="17" name="Shape 15"/>
          <p:cNvSpPr/>
          <p:nvPr/>
        </p:nvSpPr>
        <p:spPr>
          <a:xfrm>
            <a:off x="3218688" y="1298448"/>
            <a:ext cx="2743200" cy="402336"/>
          </a:xfrm>
          <a:prstGeom prst="rect">
            <a:avLst/>
          </a:prstGeom>
          <a:solidFill>
            <a:srgbClr val="E07B54">
              <a:alpha val="90000"/>
            </a:srgbClr>
          </a:solidFill>
          <a:ln w="12700">
            <a:solidFill>
              <a:srgbClr val="E07B54"/>
            </a:solidFill>
            <a:prstDash val="solid"/>
          </a:ln>
        </p:spPr>
        <p:txBody>
          <a:bodyPr/>
          <a:lstStyle/>
          <a:p>
            <a:endParaRPr lang="hu-HU"/>
          </a:p>
        </p:txBody>
      </p:sp>
      <p:sp>
        <p:nvSpPr>
          <p:cNvPr id="18" name="Text 16"/>
          <p:cNvSpPr/>
          <p:nvPr/>
        </p:nvSpPr>
        <p:spPr>
          <a:xfrm>
            <a:off x="3218688" y="1298448"/>
            <a:ext cx="2743200" cy="402336"/>
          </a:xfrm>
          <a:prstGeom prst="rect">
            <a:avLst/>
          </a:prstGeom>
          <a:noFill/>
          <a:ln/>
        </p:spPr>
        <p:txBody>
          <a:bodyPr wrap="square" lIns="0" tIns="0" rIns="0" bIns="0" rtlCol="0" anchor="ctr"/>
          <a:lstStyle/>
          <a:p>
            <a:pPr marL="0" indent="0" algn="ctr">
              <a:buNone/>
            </a:pPr>
            <a:r>
              <a:rPr lang="en-US" sz="1300" b="1" dirty="0">
                <a:solidFill>
                  <a:srgbClr val="FFFFFF"/>
                </a:solidFill>
              </a:rPr>
              <a:t>products</a:t>
            </a:r>
            <a:endParaRPr lang="en-US" sz="1300" dirty="0"/>
          </a:p>
        </p:txBody>
      </p:sp>
      <p:sp>
        <p:nvSpPr>
          <p:cNvPr id="19" name="Text 17"/>
          <p:cNvSpPr/>
          <p:nvPr/>
        </p:nvSpPr>
        <p:spPr>
          <a:xfrm>
            <a:off x="3328416" y="1755648"/>
            <a:ext cx="2523744" cy="237744"/>
          </a:xfrm>
          <a:prstGeom prst="rect">
            <a:avLst/>
          </a:prstGeom>
          <a:noFill/>
          <a:ln/>
        </p:spPr>
        <p:txBody>
          <a:bodyPr wrap="square" rtlCol="0" anchor="ctr"/>
          <a:lstStyle/>
          <a:p>
            <a:pPr marL="0" indent="0">
              <a:buNone/>
            </a:pPr>
            <a:r>
              <a:rPr lang="en-US" sz="950" b="1" dirty="0">
                <a:solidFill>
                  <a:srgbClr val="F5C842"/>
                </a:solidFill>
                <a:latin typeface="Consolas" pitchFamily="34" charset="0"/>
                <a:ea typeface="Consolas" pitchFamily="34" charset="-122"/>
                <a:cs typeface="Consolas" pitchFamily="34" charset="-120"/>
              </a:rPr>
              <a:t>id  PK</a:t>
            </a:r>
            <a:endParaRPr lang="en-US" sz="950" dirty="0"/>
          </a:p>
        </p:txBody>
      </p:sp>
      <p:sp>
        <p:nvSpPr>
          <p:cNvPr id="20" name="Text 18"/>
          <p:cNvSpPr/>
          <p:nvPr/>
        </p:nvSpPr>
        <p:spPr>
          <a:xfrm>
            <a:off x="3328416" y="2011680"/>
            <a:ext cx="2523744" cy="237744"/>
          </a:xfrm>
          <a:prstGeom prst="rect">
            <a:avLst/>
          </a:prstGeom>
          <a:noFill/>
          <a:ln/>
        </p:spPr>
        <p:txBody>
          <a:bodyPr wrap="square" rtlCol="0" anchor="ctr"/>
          <a:lstStyle/>
          <a:p>
            <a:pPr marL="0" indent="0">
              <a:buNone/>
            </a:pPr>
            <a:r>
              <a:rPr lang="en-US" sz="950" dirty="0">
                <a:solidFill>
                  <a:srgbClr val="C5CDD8"/>
                </a:solidFill>
                <a:latin typeface="Consolas" pitchFamily="34" charset="0"/>
                <a:ea typeface="Consolas" pitchFamily="34" charset="-122"/>
                <a:cs typeface="Consolas" pitchFamily="34" charset="-120"/>
              </a:rPr>
              <a:t>name</a:t>
            </a:r>
            <a:endParaRPr lang="en-US" sz="950" dirty="0"/>
          </a:p>
        </p:txBody>
      </p:sp>
      <p:sp>
        <p:nvSpPr>
          <p:cNvPr id="21" name="Text 19"/>
          <p:cNvSpPr/>
          <p:nvPr/>
        </p:nvSpPr>
        <p:spPr>
          <a:xfrm>
            <a:off x="3328416" y="2267712"/>
            <a:ext cx="2523744" cy="237744"/>
          </a:xfrm>
          <a:prstGeom prst="rect">
            <a:avLst/>
          </a:prstGeom>
          <a:noFill/>
          <a:ln/>
        </p:spPr>
        <p:txBody>
          <a:bodyPr wrap="square" rtlCol="0" anchor="ctr"/>
          <a:lstStyle/>
          <a:p>
            <a:pPr marL="0" indent="0">
              <a:buNone/>
            </a:pPr>
            <a:r>
              <a:rPr lang="en-US" sz="950" dirty="0">
                <a:solidFill>
                  <a:srgbClr val="4ECDC4"/>
                </a:solidFill>
                <a:latin typeface="Consolas" pitchFamily="34" charset="0"/>
                <a:ea typeface="Consolas" pitchFamily="34" charset="-122"/>
                <a:cs typeface="Consolas" pitchFamily="34" charset="-120"/>
              </a:rPr>
              <a:t>category_id  FK</a:t>
            </a:r>
            <a:endParaRPr lang="en-US" sz="950" dirty="0"/>
          </a:p>
        </p:txBody>
      </p:sp>
      <p:sp>
        <p:nvSpPr>
          <p:cNvPr id="22" name="Text 20"/>
          <p:cNvSpPr/>
          <p:nvPr/>
        </p:nvSpPr>
        <p:spPr>
          <a:xfrm>
            <a:off x="3328416" y="2523744"/>
            <a:ext cx="2523744" cy="237744"/>
          </a:xfrm>
          <a:prstGeom prst="rect">
            <a:avLst/>
          </a:prstGeom>
          <a:noFill/>
          <a:ln/>
        </p:spPr>
        <p:txBody>
          <a:bodyPr wrap="square" rtlCol="0" anchor="ctr"/>
          <a:lstStyle/>
          <a:p>
            <a:pPr marL="0" indent="0">
              <a:buNone/>
            </a:pPr>
            <a:r>
              <a:rPr lang="en-US" sz="950" dirty="0">
                <a:solidFill>
                  <a:srgbClr val="C5CDD8"/>
                </a:solidFill>
                <a:latin typeface="Consolas" pitchFamily="34" charset="0"/>
                <a:ea typeface="Consolas" pitchFamily="34" charset="-122"/>
                <a:cs typeface="Consolas" pitchFamily="34" charset="-120"/>
              </a:rPr>
              <a:t>price</a:t>
            </a:r>
            <a:endParaRPr lang="en-US" sz="950" dirty="0"/>
          </a:p>
        </p:txBody>
      </p:sp>
      <p:sp>
        <p:nvSpPr>
          <p:cNvPr id="23" name="Text 21"/>
          <p:cNvSpPr/>
          <p:nvPr/>
        </p:nvSpPr>
        <p:spPr>
          <a:xfrm>
            <a:off x="3328416" y="2779776"/>
            <a:ext cx="2523744" cy="237744"/>
          </a:xfrm>
          <a:prstGeom prst="rect">
            <a:avLst/>
          </a:prstGeom>
          <a:noFill/>
          <a:ln/>
        </p:spPr>
        <p:txBody>
          <a:bodyPr wrap="square" rtlCol="0" anchor="ctr"/>
          <a:lstStyle/>
          <a:p>
            <a:pPr marL="0" indent="0">
              <a:buNone/>
            </a:pPr>
            <a:r>
              <a:rPr lang="en-US" sz="950" dirty="0">
                <a:solidFill>
                  <a:srgbClr val="C5CDD8"/>
                </a:solidFill>
                <a:latin typeface="Consolas" pitchFamily="34" charset="0"/>
                <a:ea typeface="Consolas" pitchFamily="34" charset="-122"/>
                <a:cs typeface="Consolas" pitchFamily="34" charset="-120"/>
              </a:rPr>
              <a:t>description</a:t>
            </a:r>
            <a:endParaRPr lang="en-US" sz="950" dirty="0"/>
          </a:p>
        </p:txBody>
      </p:sp>
      <p:sp>
        <p:nvSpPr>
          <p:cNvPr id="24" name="Text 22"/>
          <p:cNvSpPr/>
          <p:nvPr/>
        </p:nvSpPr>
        <p:spPr>
          <a:xfrm>
            <a:off x="3328416" y="3035808"/>
            <a:ext cx="2523744" cy="237744"/>
          </a:xfrm>
          <a:prstGeom prst="rect">
            <a:avLst/>
          </a:prstGeom>
          <a:noFill/>
          <a:ln/>
        </p:spPr>
        <p:txBody>
          <a:bodyPr wrap="square" rtlCol="0" anchor="ctr"/>
          <a:lstStyle/>
          <a:p>
            <a:pPr marL="0" indent="0">
              <a:buNone/>
            </a:pPr>
            <a:r>
              <a:rPr lang="en-US" sz="950" dirty="0">
                <a:solidFill>
                  <a:srgbClr val="C5CDD8"/>
                </a:solidFill>
                <a:latin typeface="Consolas" pitchFamily="34" charset="0"/>
                <a:ea typeface="Consolas" pitchFamily="34" charset="-122"/>
                <a:cs typeface="Consolas" pitchFamily="34" charset="-120"/>
              </a:rPr>
              <a:t>stock</a:t>
            </a:r>
            <a:endParaRPr lang="en-US" sz="950" dirty="0"/>
          </a:p>
        </p:txBody>
      </p:sp>
      <p:sp>
        <p:nvSpPr>
          <p:cNvPr id="25" name="Text 23"/>
          <p:cNvSpPr/>
          <p:nvPr/>
        </p:nvSpPr>
        <p:spPr>
          <a:xfrm>
            <a:off x="3328416" y="3291840"/>
            <a:ext cx="2523744" cy="237744"/>
          </a:xfrm>
          <a:prstGeom prst="rect">
            <a:avLst/>
          </a:prstGeom>
          <a:noFill/>
          <a:ln/>
        </p:spPr>
        <p:txBody>
          <a:bodyPr wrap="square" rtlCol="0" anchor="ctr"/>
          <a:lstStyle/>
          <a:p>
            <a:pPr marL="0" indent="0">
              <a:buNone/>
            </a:pPr>
            <a:r>
              <a:rPr lang="en-US" sz="950" dirty="0">
                <a:solidFill>
                  <a:srgbClr val="C5CDD8"/>
                </a:solidFill>
                <a:latin typeface="Consolas" pitchFamily="34" charset="0"/>
                <a:ea typeface="Consolas" pitchFamily="34" charset="-122"/>
                <a:cs typeface="Consolas" pitchFamily="34" charset="-120"/>
              </a:rPr>
              <a:t>image (JSON)</a:t>
            </a:r>
            <a:endParaRPr lang="en-US" sz="950" dirty="0"/>
          </a:p>
        </p:txBody>
      </p:sp>
      <p:sp>
        <p:nvSpPr>
          <p:cNvPr id="26" name="Shape 24"/>
          <p:cNvSpPr/>
          <p:nvPr/>
        </p:nvSpPr>
        <p:spPr>
          <a:xfrm>
            <a:off x="6144768" y="1298448"/>
            <a:ext cx="2743200" cy="987552"/>
          </a:xfrm>
          <a:prstGeom prst="rect">
            <a:avLst/>
          </a:prstGeom>
          <a:solidFill>
            <a:srgbClr val="1A1D2E"/>
          </a:solidFill>
          <a:ln w="15240">
            <a:solidFill>
              <a:srgbClr val="F5C842"/>
            </a:solidFill>
            <a:prstDash val="solid"/>
          </a:ln>
          <a:effectLst>
            <a:outerShdw blurRad="127000" dist="50800" dir="8100000" algn="bl" rotWithShape="0">
              <a:srgbClr val="000000">
                <a:alpha val="35000"/>
              </a:srgbClr>
            </a:outerShdw>
          </a:effectLst>
        </p:spPr>
        <p:txBody>
          <a:bodyPr/>
          <a:lstStyle/>
          <a:p>
            <a:endParaRPr lang="hu-HU"/>
          </a:p>
        </p:txBody>
      </p:sp>
      <p:sp>
        <p:nvSpPr>
          <p:cNvPr id="27" name="Shape 25"/>
          <p:cNvSpPr/>
          <p:nvPr/>
        </p:nvSpPr>
        <p:spPr>
          <a:xfrm>
            <a:off x="6144768" y="1298448"/>
            <a:ext cx="2743200" cy="402336"/>
          </a:xfrm>
          <a:prstGeom prst="rect">
            <a:avLst/>
          </a:prstGeom>
          <a:solidFill>
            <a:srgbClr val="F5C842">
              <a:alpha val="90000"/>
            </a:srgbClr>
          </a:solidFill>
          <a:ln w="12700">
            <a:solidFill>
              <a:srgbClr val="F5C842"/>
            </a:solidFill>
            <a:prstDash val="solid"/>
          </a:ln>
        </p:spPr>
        <p:txBody>
          <a:bodyPr/>
          <a:lstStyle/>
          <a:p>
            <a:endParaRPr lang="hu-HU"/>
          </a:p>
        </p:txBody>
      </p:sp>
      <p:sp>
        <p:nvSpPr>
          <p:cNvPr id="28" name="Text 26"/>
          <p:cNvSpPr/>
          <p:nvPr/>
        </p:nvSpPr>
        <p:spPr>
          <a:xfrm>
            <a:off x="6144768" y="1298448"/>
            <a:ext cx="2743200" cy="402336"/>
          </a:xfrm>
          <a:prstGeom prst="rect">
            <a:avLst/>
          </a:prstGeom>
          <a:noFill/>
          <a:ln/>
        </p:spPr>
        <p:txBody>
          <a:bodyPr wrap="square" lIns="0" tIns="0" rIns="0" bIns="0" rtlCol="0" anchor="ctr"/>
          <a:lstStyle/>
          <a:p>
            <a:pPr marL="0" indent="0" algn="ctr">
              <a:buNone/>
            </a:pPr>
            <a:r>
              <a:rPr lang="en-US" sz="1300" b="1" dirty="0">
                <a:solidFill>
                  <a:srgbClr val="FFFFFF"/>
                </a:solidFill>
              </a:rPr>
              <a:t>categories</a:t>
            </a:r>
            <a:endParaRPr lang="en-US" sz="1300" dirty="0"/>
          </a:p>
        </p:txBody>
      </p:sp>
      <p:sp>
        <p:nvSpPr>
          <p:cNvPr id="29" name="Text 27"/>
          <p:cNvSpPr/>
          <p:nvPr/>
        </p:nvSpPr>
        <p:spPr>
          <a:xfrm>
            <a:off x="6254496" y="1755648"/>
            <a:ext cx="2523744" cy="237744"/>
          </a:xfrm>
          <a:prstGeom prst="rect">
            <a:avLst/>
          </a:prstGeom>
          <a:noFill/>
          <a:ln/>
        </p:spPr>
        <p:txBody>
          <a:bodyPr wrap="square" rtlCol="0" anchor="ctr"/>
          <a:lstStyle/>
          <a:p>
            <a:pPr marL="0" indent="0">
              <a:buNone/>
            </a:pPr>
            <a:r>
              <a:rPr lang="en-US" sz="950" b="1" dirty="0">
                <a:solidFill>
                  <a:srgbClr val="F5C842"/>
                </a:solidFill>
                <a:latin typeface="Consolas" pitchFamily="34" charset="0"/>
                <a:ea typeface="Consolas" pitchFamily="34" charset="-122"/>
                <a:cs typeface="Consolas" pitchFamily="34" charset="-120"/>
              </a:rPr>
              <a:t>id  PK</a:t>
            </a:r>
            <a:endParaRPr lang="en-US" sz="950" dirty="0"/>
          </a:p>
        </p:txBody>
      </p:sp>
      <p:sp>
        <p:nvSpPr>
          <p:cNvPr id="30" name="Text 28"/>
          <p:cNvSpPr/>
          <p:nvPr/>
        </p:nvSpPr>
        <p:spPr>
          <a:xfrm>
            <a:off x="6254496" y="2011680"/>
            <a:ext cx="2523744" cy="237744"/>
          </a:xfrm>
          <a:prstGeom prst="rect">
            <a:avLst/>
          </a:prstGeom>
          <a:noFill/>
          <a:ln/>
        </p:spPr>
        <p:txBody>
          <a:bodyPr wrap="square" rtlCol="0" anchor="ctr"/>
          <a:lstStyle/>
          <a:p>
            <a:pPr marL="0" indent="0">
              <a:buNone/>
            </a:pPr>
            <a:r>
              <a:rPr lang="en-US" sz="950" dirty="0">
                <a:solidFill>
                  <a:srgbClr val="C5CDD8"/>
                </a:solidFill>
                <a:latin typeface="Consolas" pitchFamily="34" charset="0"/>
                <a:ea typeface="Consolas" pitchFamily="34" charset="-122"/>
                <a:cs typeface="Consolas" pitchFamily="34" charset="-120"/>
              </a:rPr>
              <a:t>name</a:t>
            </a:r>
            <a:endParaRPr lang="en-US" sz="950" dirty="0"/>
          </a:p>
        </p:txBody>
      </p:sp>
      <p:sp>
        <p:nvSpPr>
          <p:cNvPr id="31" name="Shape 29"/>
          <p:cNvSpPr/>
          <p:nvPr/>
        </p:nvSpPr>
        <p:spPr>
          <a:xfrm>
            <a:off x="6153912" y="2329451"/>
            <a:ext cx="2743200" cy="2523744"/>
          </a:xfrm>
          <a:prstGeom prst="rect">
            <a:avLst/>
          </a:prstGeom>
          <a:solidFill>
            <a:srgbClr val="1A1D2E"/>
          </a:solidFill>
          <a:ln w="15240">
            <a:solidFill>
              <a:srgbClr val="67E8F9"/>
            </a:solidFill>
            <a:prstDash val="solid"/>
          </a:ln>
          <a:effectLst>
            <a:outerShdw blurRad="127000" dist="50800" dir="8100000" algn="bl" rotWithShape="0">
              <a:srgbClr val="000000">
                <a:alpha val="35000"/>
              </a:srgbClr>
            </a:outerShdw>
          </a:effectLst>
        </p:spPr>
        <p:txBody>
          <a:bodyPr/>
          <a:lstStyle/>
          <a:p>
            <a:endParaRPr lang="hu-HU"/>
          </a:p>
        </p:txBody>
      </p:sp>
      <p:sp>
        <p:nvSpPr>
          <p:cNvPr id="32" name="Shape 30"/>
          <p:cNvSpPr/>
          <p:nvPr/>
        </p:nvSpPr>
        <p:spPr>
          <a:xfrm>
            <a:off x="6153912" y="2329451"/>
            <a:ext cx="2743200" cy="402336"/>
          </a:xfrm>
          <a:prstGeom prst="rect">
            <a:avLst/>
          </a:prstGeom>
          <a:solidFill>
            <a:srgbClr val="67E8F9">
              <a:alpha val="90000"/>
            </a:srgbClr>
          </a:solidFill>
          <a:ln w="12700">
            <a:solidFill>
              <a:srgbClr val="67E8F9"/>
            </a:solidFill>
            <a:prstDash val="solid"/>
          </a:ln>
        </p:spPr>
        <p:txBody>
          <a:bodyPr/>
          <a:lstStyle/>
          <a:p>
            <a:endParaRPr lang="hu-HU"/>
          </a:p>
        </p:txBody>
      </p:sp>
      <p:sp>
        <p:nvSpPr>
          <p:cNvPr id="33" name="Text 31"/>
          <p:cNvSpPr/>
          <p:nvPr/>
        </p:nvSpPr>
        <p:spPr>
          <a:xfrm>
            <a:off x="6153912" y="2329451"/>
            <a:ext cx="2743200" cy="402336"/>
          </a:xfrm>
          <a:prstGeom prst="rect">
            <a:avLst/>
          </a:prstGeom>
          <a:noFill/>
          <a:ln/>
        </p:spPr>
        <p:txBody>
          <a:bodyPr wrap="square" lIns="0" tIns="0" rIns="0" bIns="0" rtlCol="0" anchor="ctr"/>
          <a:lstStyle/>
          <a:p>
            <a:pPr marL="0" indent="0" algn="ctr">
              <a:buNone/>
            </a:pPr>
            <a:r>
              <a:rPr lang="en-US" sz="1300" b="1" dirty="0">
                <a:solidFill>
                  <a:srgbClr val="FFFFFF"/>
                </a:solidFill>
              </a:rPr>
              <a:t>orders</a:t>
            </a:r>
            <a:endParaRPr lang="en-US" sz="1300" dirty="0"/>
          </a:p>
        </p:txBody>
      </p:sp>
      <p:sp>
        <p:nvSpPr>
          <p:cNvPr id="34" name="Text 32"/>
          <p:cNvSpPr/>
          <p:nvPr/>
        </p:nvSpPr>
        <p:spPr>
          <a:xfrm>
            <a:off x="6263640" y="2786651"/>
            <a:ext cx="2523744" cy="237744"/>
          </a:xfrm>
          <a:prstGeom prst="rect">
            <a:avLst/>
          </a:prstGeom>
          <a:noFill/>
          <a:ln/>
        </p:spPr>
        <p:txBody>
          <a:bodyPr wrap="square" rtlCol="0" anchor="ctr"/>
          <a:lstStyle/>
          <a:p>
            <a:pPr marL="0" indent="0">
              <a:buNone/>
            </a:pPr>
            <a:r>
              <a:rPr lang="en-US" sz="950" b="1" dirty="0">
                <a:solidFill>
                  <a:srgbClr val="F5C842"/>
                </a:solidFill>
                <a:latin typeface="Consolas" pitchFamily="34" charset="0"/>
                <a:ea typeface="Consolas" pitchFamily="34" charset="-122"/>
                <a:cs typeface="Consolas" pitchFamily="34" charset="-120"/>
              </a:rPr>
              <a:t>id  PK</a:t>
            </a:r>
            <a:endParaRPr lang="en-US" sz="950" dirty="0"/>
          </a:p>
        </p:txBody>
      </p:sp>
      <p:sp>
        <p:nvSpPr>
          <p:cNvPr id="35" name="Text 33"/>
          <p:cNvSpPr/>
          <p:nvPr/>
        </p:nvSpPr>
        <p:spPr>
          <a:xfrm>
            <a:off x="6263640" y="3042683"/>
            <a:ext cx="2523744" cy="237744"/>
          </a:xfrm>
          <a:prstGeom prst="rect">
            <a:avLst/>
          </a:prstGeom>
          <a:noFill/>
          <a:ln/>
        </p:spPr>
        <p:txBody>
          <a:bodyPr wrap="square" rtlCol="0" anchor="ctr"/>
          <a:lstStyle/>
          <a:p>
            <a:pPr marL="0" indent="0">
              <a:buNone/>
            </a:pPr>
            <a:r>
              <a:rPr lang="en-US" sz="950" dirty="0">
                <a:solidFill>
                  <a:srgbClr val="4ECDC4"/>
                </a:solidFill>
                <a:latin typeface="Consolas" pitchFamily="34" charset="0"/>
                <a:ea typeface="Consolas" pitchFamily="34" charset="-122"/>
                <a:cs typeface="Consolas" pitchFamily="34" charset="-120"/>
              </a:rPr>
              <a:t>user_id  FK</a:t>
            </a:r>
            <a:endParaRPr lang="en-US" sz="950" dirty="0"/>
          </a:p>
        </p:txBody>
      </p:sp>
      <p:sp>
        <p:nvSpPr>
          <p:cNvPr id="36" name="Text 34"/>
          <p:cNvSpPr/>
          <p:nvPr/>
        </p:nvSpPr>
        <p:spPr>
          <a:xfrm>
            <a:off x="6263640" y="3298715"/>
            <a:ext cx="2523744" cy="237744"/>
          </a:xfrm>
          <a:prstGeom prst="rect">
            <a:avLst/>
          </a:prstGeom>
          <a:noFill/>
          <a:ln/>
        </p:spPr>
        <p:txBody>
          <a:bodyPr wrap="square" rtlCol="0" anchor="ctr"/>
          <a:lstStyle/>
          <a:p>
            <a:pPr marL="0" indent="0">
              <a:buNone/>
            </a:pPr>
            <a:r>
              <a:rPr lang="en-US" sz="950" dirty="0">
                <a:solidFill>
                  <a:srgbClr val="C5CDD8"/>
                </a:solidFill>
                <a:latin typeface="Consolas" pitchFamily="34" charset="0"/>
                <a:ea typeface="Consolas" pitchFamily="34" charset="-122"/>
                <a:cs typeface="Consolas" pitchFamily="34" charset="-120"/>
              </a:rPr>
              <a:t>total_price</a:t>
            </a:r>
            <a:endParaRPr lang="en-US" sz="950" dirty="0"/>
          </a:p>
        </p:txBody>
      </p:sp>
      <p:sp>
        <p:nvSpPr>
          <p:cNvPr id="37" name="Text 35"/>
          <p:cNvSpPr/>
          <p:nvPr/>
        </p:nvSpPr>
        <p:spPr>
          <a:xfrm>
            <a:off x="6263640" y="3554747"/>
            <a:ext cx="2523744" cy="237744"/>
          </a:xfrm>
          <a:prstGeom prst="rect">
            <a:avLst/>
          </a:prstGeom>
          <a:noFill/>
          <a:ln/>
        </p:spPr>
        <p:txBody>
          <a:bodyPr wrap="square" rtlCol="0" anchor="ctr"/>
          <a:lstStyle/>
          <a:p>
            <a:pPr marL="0" indent="0">
              <a:buNone/>
            </a:pPr>
            <a:r>
              <a:rPr lang="en-US" sz="950" dirty="0">
                <a:solidFill>
                  <a:srgbClr val="C5CDD8"/>
                </a:solidFill>
                <a:latin typeface="Consolas" pitchFamily="34" charset="0"/>
                <a:ea typeface="Consolas" pitchFamily="34" charset="-122"/>
                <a:cs typeface="Consolas" pitchFamily="34" charset="-120"/>
              </a:rPr>
              <a:t>date</a:t>
            </a:r>
            <a:endParaRPr lang="en-US" sz="950" dirty="0"/>
          </a:p>
        </p:txBody>
      </p:sp>
      <p:sp>
        <p:nvSpPr>
          <p:cNvPr id="38" name="Text 36"/>
          <p:cNvSpPr/>
          <p:nvPr/>
        </p:nvSpPr>
        <p:spPr>
          <a:xfrm>
            <a:off x="6263640" y="3810779"/>
            <a:ext cx="2523744" cy="237744"/>
          </a:xfrm>
          <a:prstGeom prst="rect">
            <a:avLst/>
          </a:prstGeom>
          <a:noFill/>
          <a:ln/>
        </p:spPr>
        <p:txBody>
          <a:bodyPr wrap="square" rtlCol="0" anchor="ctr"/>
          <a:lstStyle/>
          <a:p>
            <a:pPr marL="0" indent="0">
              <a:buNone/>
            </a:pPr>
            <a:r>
              <a:rPr lang="en-US" sz="950" dirty="0">
                <a:solidFill>
                  <a:srgbClr val="C5CDD8"/>
                </a:solidFill>
                <a:latin typeface="Consolas" pitchFamily="34" charset="0"/>
                <a:ea typeface="Consolas" pitchFamily="34" charset="-122"/>
                <a:cs typeface="Consolas" pitchFamily="34" charset="-120"/>
              </a:rPr>
              <a:t>status</a:t>
            </a:r>
            <a:endParaRPr lang="en-US" sz="950" dirty="0"/>
          </a:p>
        </p:txBody>
      </p:sp>
      <p:sp>
        <p:nvSpPr>
          <p:cNvPr id="39" name="Text 37"/>
          <p:cNvSpPr/>
          <p:nvPr/>
        </p:nvSpPr>
        <p:spPr>
          <a:xfrm>
            <a:off x="6263640" y="4066811"/>
            <a:ext cx="2523744" cy="237744"/>
          </a:xfrm>
          <a:prstGeom prst="rect">
            <a:avLst/>
          </a:prstGeom>
          <a:noFill/>
          <a:ln/>
        </p:spPr>
        <p:txBody>
          <a:bodyPr wrap="square" rtlCol="0" anchor="ctr"/>
          <a:lstStyle/>
          <a:p>
            <a:pPr marL="0" indent="0">
              <a:buNone/>
            </a:pPr>
            <a:r>
              <a:rPr lang="en-US" sz="950" dirty="0">
                <a:solidFill>
                  <a:srgbClr val="C5CDD8"/>
                </a:solidFill>
                <a:latin typeface="Consolas" pitchFamily="34" charset="0"/>
                <a:ea typeface="Consolas" pitchFamily="34" charset="-122"/>
                <a:cs typeface="Consolas" pitchFamily="34" charset="-120"/>
              </a:rPr>
              <a:t>payment_method</a:t>
            </a:r>
            <a:endParaRPr lang="en-US" sz="950" dirty="0"/>
          </a:p>
        </p:txBody>
      </p:sp>
      <p:sp>
        <p:nvSpPr>
          <p:cNvPr id="40" name="Text 38"/>
          <p:cNvSpPr/>
          <p:nvPr/>
        </p:nvSpPr>
        <p:spPr>
          <a:xfrm>
            <a:off x="6263640" y="4322843"/>
            <a:ext cx="2523744" cy="237744"/>
          </a:xfrm>
          <a:prstGeom prst="rect">
            <a:avLst/>
          </a:prstGeom>
          <a:noFill/>
          <a:ln/>
        </p:spPr>
        <p:txBody>
          <a:bodyPr wrap="square" rtlCol="0" anchor="ctr"/>
          <a:lstStyle/>
          <a:p>
            <a:pPr marL="0" indent="0">
              <a:buNone/>
            </a:pPr>
            <a:r>
              <a:rPr lang="en-US" sz="950" dirty="0">
                <a:solidFill>
                  <a:srgbClr val="C5CDD8"/>
                </a:solidFill>
                <a:latin typeface="Consolas" pitchFamily="34" charset="0"/>
                <a:ea typeface="Consolas" pitchFamily="34" charset="-122"/>
                <a:cs typeface="Consolas" pitchFamily="34" charset="-120"/>
              </a:rPr>
              <a:t>shipping_address</a:t>
            </a:r>
            <a:endParaRPr lang="en-US" sz="950" dirty="0"/>
          </a:p>
        </p:txBody>
      </p:sp>
      <p:sp>
        <p:nvSpPr>
          <p:cNvPr id="41" name="Text 39"/>
          <p:cNvSpPr/>
          <p:nvPr/>
        </p:nvSpPr>
        <p:spPr>
          <a:xfrm>
            <a:off x="6263640" y="4578875"/>
            <a:ext cx="2523744" cy="237744"/>
          </a:xfrm>
          <a:prstGeom prst="rect">
            <a:avLst/>
          </a:prstGeom>
          <a:noFill/>
          <a:ln/>
        </p:spPr>
        <p:txBody>
          <a:bodyPr wrap="square" rtlCol="0" anchor="ctr"/>
          <a:lstStyle/>
          <a:p>
            <a:pPr marL="0" indent="0">
              <a:buNone/>
            </a:pPr>
            <a:r>
              <a:rPr lang="en-US" sz="950" dirty="0">
                <a:solidFill>
                  <a:srgbClr val="C5CDD8"/>
                </a:solidFill>
                <a:latin typeface="Consolas" pitchFamily="34" charset="0"/>
                <a:ea typeface="Consolas" pitchFamily="34" charset="-122"/>
                <a:cs typeface="Consolas" pitchFamily="34" charset="-120"/>
              </a:rPr>
              <a:t>phone</a:t>
            </a:r>
            <a:endParaRPr lang="en-US" sz="950" dirty="0"/>
          </a:p>
        </p:txBody>
      </p:sp>
      <p:sp>
        <p:nvSpPr>
          <p:cNvPr id="42" name="Shape 40"/>
          <p:cNvSpPr/>
          <p:nvPr/>
        </p:nvSpPr>
        <p:spPr>
          <a:xfrm>
            <a:off x="292608" y="3591323"/>
            <a:ext cx="2743200" cy="1499616"/>
          </a:xfrm>
          <a:prstGeom prst="rect">
            <a:avLst/>
          </a:prstGeom>
          <a:solidFill>
            <a:srgbClr val="1A1D2E"/>
          </a:solidFill>
          <a:ln w="15240">
            <a:solidFill>
              <a:srgbClr val="34D399"/>
            </a:solidFill>
            <a:prstDash val="solid"/>
          </a:ln>
          <a:effectLst>
            <a:outerShdw blurRad="127000" dist="50800" dir="8100000" algn="bl" rotWithShape="0">
              <a:srgbClr val="000000">
                <a:alpha val="35000"/>
              </a:srgbClr>
            </a:outerShdw>
          </a:effectLst>
        </p:spPr>
        <p:txBody>
          <a:bodyPr/>
          <a:lstStyle/>
          <a:p>
            <a:endParaRPr lang="hu-HU"/>
          </a:p>
        </p:txBody>
      </p:sp>
      <p:sp>
        <p:nvSpPr>
          <p:cNvPr id="43" name="Shape 41"/>
          <p:cNvSpPr/>
          <p:nvPr/>
        </p:nvSpPr>
        <p:spPr>
          <a:xfrm>
            <a:off x="292608" y="3591323"/>
            <a:ext cx="2743200" cy="402336"/>
          </a:xfrm>
          <a:prstGeom prst="rect">
            <a:avLst/>
          </a:prstGeom>
          <a:solidFill>
            <a:srgbClr val="34D399">
              <a:alpha val="90000"/>
            </a:srgbClr>
          </a:solidFill>
          <a:ln w="12700">
            <a:solidFill>
              <a:srgbClr val="34D399"/>
            </a:solidFill>
            <a:prstDash val="solid"/>
          </a:ln>
        </p:spPr>
        <p:txBody>
          <a:bodyPr/>
          <a:lstStyle/>
          <a:p>
            <a:endParaRPr lang="hu-HU"/>
          </a:p>
        </p:txBody>
      </p:sp>
      <p:sp>
        <p:nvSpPr>
          <p:cNvPr id="44" name="Text 42"/>
          <p:cNvSpPr/>
          <p:nvPr/>
        </p:nvSpPr>
        <p:spPr>
          <a:xfrm>
            <a:off x="292608" y="3591323"/>
            <a:ext cx="2743200" cy="402336"/>
          </a:xfrm>
          <a:prstGeom prst="rect">
            <a:avLst/>
          </a:prstGeom>
          <a:noFill/>
          <a:ln/>
        </p:spPr>
        <p:txBody>
          <a:bodyPr wrap="square" lIns="0" tIns="0" rIns="0" bIns="0" rtlCol="0" anchor="ctr"/>
          <a:lstStyle/>
          <a:p>
            <a:pPr marL="0" indent="0" algn="ctr">
              <a:buNone/>
            </a:pPr>
            <a:r>
              <a:rPr lang="en-US" sz="1300" b="1" dirty="0">
                <a:solidFill>
                  <a:srgbClr val="FFFFFF"/>
                </a:solidFill>
              </a:rPr>
              <a:t>order_items</a:t>
            </a:r>
            <a:endParaRPr lang="en-US" sz="1300" dirty="0"/>
          </a:p>
        </p:txBody>
      </p:sp>
      <p:sp>
        <p:nvSpPr>
          <p:cNvPr id="45" name="Text 43"/>
          <p:cNvSpPr/>
          <p:nvPr/>
        </p:nvSpPr>
        <p:spPr>
          <a:xfrm>
            <a:off x="402336" y="4048523"/>
            <a:ext cx="2523744" cy="237744"/>
          </a:xfrm>
          <a:prstGeom prst="rect">
            <a:avLst/>
          </a:prstGeom>
          <a:noFill/>
          <a:ln/>
        </p:spPr>
        <p:txBody>
          <a:bodyPr wrap="square" rtlCol="0" anchor="ctr"/>
          <a:lstStyle/>
          <a:p>
            <a:pPr marL="0" indent="0">
              <a:buNone/>
            </a:pPr>
            <a:r>
              <a:rPr lang="en-US" sz="950" b="1" dirty="0">
                <a:solidFill>
                  <a:srgbClr val="F5C842"/>
                </a:solidFill>
                <a:latin typeface="Consolas" pitchFamily="34" charset="0"/>
                <a:ea typeface="Consolas" pitchFamily="34" charset="-122"/>
                <a:cs typeface="Consolas" pitchFamily="34" charset="-120"/>
              </a:rPr>
              <a:t>id  PK</a:t>
            </a:r>
            <a:endParaRPr lang="en-US" sz="950" dirty="0"/>
          </a:p>
        </p:txBody>
      </p:sp>
      <p:sp>
        <p:nvSpPr>
          <p:cNvPr id="46" name="Text 44"/>
          <p:cNvSpPr/>
          <p:nvPr/>
        </p:nvSpPr>
        <p:spPr>
          <a:xfrm>
            <a:off x="402336" y="4304555"/>
            <a:ext cx="2523744" cy="237744"/>
          </a:xfrm>
          <a:prstGeom prst="rect">
            <a:avLst/>
          </a:prstGeom>
          <a:noFill/>
          <a:ln/>
        </p:spPr>
        <p:txBody>
          <a:bodyPr wrap="square" rtlCol="0" anchor="ctr"/>
          <a:lstStyle/>
          <a:p>
            <a:pPr marL="0" indent="0">
              <a:buNone/>
            </a:pPr>
            <a:r>
              <a:rPr lang="en-US" sz="950" dirty="0">
                <a:solidFill>
                  <a:srgbClr val="4ECDC4"/>
                </a:solidFill>
                <a:latin typeface="Consolas" pitchFamily="34" charset="0"/>
                <a:ea typeface="Consolas" pitchFamily="34" charset="-122"/>
                <a:cs typeface="Consolas" pitchFamily="34" charset="-120"/>
              </a:rPr>
              <a:t>order_id  FK</a:t>
            </a:r>
            <a:endParaRPr lang="en-US" sz="950" dirty="0"/>
          </a:p>
        </p:txBody>
      </p:sp>
      <p:sp>
        <p:nvSpPr>
          <p:cNvPr id="47" name="Text 45"/>
          <p:cNvSpPr/>
          <p:nvPr/>
        </p:nvSpPr>
        <p:spPr>
          <a:xfrm>
            <a:off x="402336" y="4560587"/>
            <a:ext cx="2523744" cy="237744"/>
          </a:xfrm>
          <a:prstGeom prst="rect">
            <a:avLst/>
          </a:prstGeom>
          <a:noFill/>
          <a:ln/>
        </p:spPr>
        <p:txBody>
          <a:bodyPr wrap="square" rtlCol="0" anchor="ctr"/>
          <a:lstStyle/>
          <a:p>
            <a:pPr marL="0" indent="0">
              <a:buNone/>
            </a:pPr>
            <a:r>
              <a:rPr lang="en-US" sz="950" dirty="0">
                <a:solidFill>
                  <a:srgbClr val="4ECDC4"/>
                </a:solidFill>
                <a:latin typeface="Consolas" pitchFamily="34" charset="0"/>
                <a:ea typeface="Consolas" pitchFamily="34" charset="-122"/>
                <a:cs typeface="Consolas" pitchFamily="34" charset="-120"/>
              </a:rPr>
              <a:t>product_id  FK</a:t>
            </a:r>
            <a:endParaRPr lang="en-US" sz="950" dirty="0"/>
          </a:p>
        </p:txBody>
      </p:sp>
      <p:sp>
        <p:nvSpPr>
          <p:cNvPr id="48" name="Text 46"/>
          <p:cNvSpPr/>
          <p:nvPr/>
        </p:nvSpPr>
        <p:spPr>
          <a:xfrm>
            <a:off x="402336" y="4816619"/>
            <a:ext cx="2523744" cy="237744"/>
          </a:xfrm>
          <a:prstGeom prst="rect">
            <a:avLst/>
          </a:prstGeom>
          <a:noFill/>
          <a:ln/>
        </p:spPr>
        <p:txBody>
          <a:bodyPr wrap="square" rtlCol="0" anchor="ctr"/>
          <a:lstStyle/>
          <a:p>
            <a:pPr marL="0" indent="0">
              <a:buNone/>
            </a:pPr>
            <a:r>
              <a:rPr lang="en-US" sz="950" dirty="0">
                <a:solidFill>
                  <a:srgbClr val="C5CDD8"/>
                </a:solidFill>
                <a:latin typeface="Consolas" pitchFamily="34" charset="0"/>
                <a:ea typeface="Consolas" pitchFamily="34" charset="-122"/>
                <a:cs typeface="Consolas" pitchFamily="34" charset="-120"/>
              </a:rPr>
              <a:t>quantity</a:t>
            </a:r>
            <a:endParaRPr lang="en-US" sz="950" dirty="0"/>
          </a:p>
        </p:txBody>
      </p:sp>
      <p:sp>
        <p:nvSpPr>
          <p:cNvPr id="49" name="Text 47"/>
          <p:cNvSpPr/>
          <p:nvPr/>
        </p:nvSpPr>
        <p:spPr>
          <a:xfrm>
            <a:off x="2990088" y="4827632"/>
            <a:ext cx="5852159" cy="274320"/>
          </a:xfrm>
          <a:prstGeom prst="rect">
            <a:avLst/>
          </a:prstGeom>
          <a:noFill/>
          <a:ln/>
        </p:spPr>
        <p:txBody>
          <a:bodyPr wrap="square" rtlCol="0" anchor="b"/>
          <a:lstStyle/>
          <a:p>
            <a:r>
              <a:rPr lang="hu-HU" sz="900" dirty="0">
                <a:solidFill>
                  <a:srgbClr val="8892A4"/>
                </a:solidFill>
              </a:rPr>
              <a:t>🔗   </a:t>
            </a:r>
            <a:r>
              <a:rPr lang="hu-HU" sz="900" dirty="0" err="1">
                <a:solidFill>
                  <a:srgbClr val="8892A4"/>
                </a:solidFill>
              </a:rPr>
              <a:t>orders.user_id</a:t>
            </a:r>
            <a:r>
              <a:rPr lang="hu-HU" sz="900" dirty="0">
                <a:solidFill>
                  <a:srgbClr val="8892A4"/>
                </a:solidFill>
              </a:rPr>
              <a:t> → users.id     🔗  </a:t>
            </a:r>
            <a:r>
              <a:rPr lang="hu-HU" sz="900" dirty="0" err="1">
                <a:solidFill>
                  <a:srgbClr val="8892A4"/>
                </a:solidFill>
              </a:rPr>
              <a:t>order_items.product_id</a:t>
            </a:r>
            <a:r>
              <a:rPr lang="hu-HU" sz="900" dirty="0">
                <a:solidFill>
                  <a:srgbClr val="8892A4"/>
                </a:solidFill>
              </a:rPr>
              <a:t>→ products.id        🔗  </a:t>
            </a:r>
            <a:r>
              <a:rPr lang="hu-HU" sz="900" dirty="0" err="1">
                <a:solidFill>
                  <a:srgbClr val="8892A4"/>
                </a:solidFill>
              </a:rPr>
              <a:t>products.category_id</a:t>
            </a:r>
            <a:r>
              <a:rPr lang="hu-HU" sz="900" dirty="0">
                <a:solidFill>
                  <a:srgbClr val="8892A4"/>
                </a:solidFill>
              </a:rPr>
              <a:t>→ categories.id</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1117"/>
        </a:solidFill>
        <a:effectLst/>
      </p:bgPr>
    </p:bg>
    <p:spTree>
      <p:nvGrpSpPr>
        <p:cNvPr id="1" name=""/>
        <p:cNvGrpSpPr/>
        <p:nvPr/>
      </p:nvGrpSpPr>
      <p:grpSpPr>
        <a:xfrm>
          <a:off x="0" y="0"/>
          <a:ext cx="0" cy="0"/>
          <a:chOff x="0" y="0"/>
          <a:chExt cx="0" cy="0"/>
        </a:xfrm>
      </p:grpSpPr>
      <p:sp>
        <p:nvSpPr>
          <p:cNvPr id="2" name="Shape 0"/>
          <p:cNvSpPr/>
          <p:nvPr/>
        </p:nvSpPr>
        <p:spPr>
          <a:xfrm>
            <a:off x="0" y="0"/>
            <a:ext cx="9144000" cy="1078992"/>
          </a:xfrm>
          <a:prstGeom prst="rect">
            <a:avLst/>
          </a:prstGeom>
          <a:solidFill>
            <a:srgbClr val="1A1D2E"/>
          </a:solidFill>
          <a:ln w="12700">
            <a:solidFill>
              <a:srgbClr val="1A1D2E"/>
            </a:solidFill>
            <a:prstDash val="solid"/>
          </a:ln>
        </p:spPr>
        <p:txBody>
          <a:bodyPr/>
          <a:lstStyle/>
          <a:p>
            <a:endParaRPr lang="hu-HU"/>
          </a:p>
        </p:txBody>
      </p:sp>
      <p:sp>
        <p:nvSpPr>
          <p:cNvPr id="3" name="Shape 1"/>
          <p:cNvSpPr/>
          <p:nvPr/>
        </p:nvSpPr>
        <p:spPr>
          <a:xfrm>
            <a:off x="0" y="1078992"/>
            <a:ext cx="9144000" cy="36576"/>
          </a:xfrm>
          <a:prstGeom prst="rect">
            <a:avLst/>
          </a:prstGeom>
          <a:solidFill>
            <a:srgbClr val="E07B54"/>
          </a:solidFill>
          <a:ln w="12700">
            <a:solidFill>
              <a:srgbClr val="E07B54"/>
            </a:solidFill>
            <a:prstDash val="solid"/>
          </a:ln>
        </p:spPr>
        <p:txBody>
          <a:bodyPr/>
          <a:lstStyle/>
          <a:p>
            <a:endParaRPr lang="hu-HU"/>
          </a:p>
        </p:txBody>
      </p:sp>
      <p:sp>
        <p:nvSpPr>
          <p:cNvPr id="4" name="Text 2"/>
          <p:cNvSpPr/>
          <p:nvPr/>
        </p:nvSpPr>
        <p:spPr>
          <a:xfrm>
            <a:off x="502920" y="73152"/>
            <a:ext cx="6400800" cy="640080"/>
          </a:xfrm>
          <a:prstGeom prst="rect">
            <a:avLst/>
          </a:prstGeom>
          <a:noFill/>
          <a:ln/>
        </p:spPr>
        <p:txBody>
          <a:bodyPr wrap="square" rtlCol="0" anchor="ctr"/>
          <a:lstStyle/>
          <a:p>
            <a:pPr marL="0" indent="0">
              <a:buNone/>
            </a:pPr>
            <a:r>
              <a:rPr lang="en-US" sz="3200" b="1" dirty="0">
                <a:solidFill>
                  <a:srgbClr val="FFFFFF"/>
                </a:solidFill>
                <a:latin typeface="Georgia" pitchFamily="34" charset="0"/>
                <a:ea typeface="Georgia" pitchFamily="34" charset="-122"/>
                <a:cs typeface="Georgia" pitchFamily="34" charset="-120"/>
              </a:rPr>
              <a:t>Admin Dashboard</a:t>
            </a:r>
            <a:endParaRPr lang="en-US" sz="3200" dirty="0"/>
          </a:p>
        </p:txBody>
      </p:sp>
      <p:sp>
        <p:nvSpPr>
          <p:cNvPr id="5" name="Text 3"/>
          <p:cNvSpPr/>
          <p:nvPr/>
        </p:nvSpPr>
        <p:spPr>
          <a:xfrm>
            <a:off x="502920" y="713232"/>
            <a:ext cx="7772400" cy="329184"/>
          </a:xfrm>
          <a:prstGeom prst="rect">
            <a:avLst/>
          </a:prstGeom>
          <a:noFill/>
          <a:ln/>
        </p:spPr>
        <p:txBody>
          <a:bodyPr wrap="square" rtlCol="0" anchor="ctr"/>
          <a:lstStyle/>
          <a:p>
            <a:pPr marL="0" indent="0">
              <a:buNone/>
            </a:pPr>
            <a:r>
              <a:rPr lang="en-US" sz="1300" dirty="0">
                <a:solidFill>
                  <a:srgbClr val="8892A4"/>
                </a:solidFill>
              </a:rPr>
              <a:t>Product management · Orders · Stats</a:t>
            </a:r>
            <a:endParaRPr lang="en-US" sz="1300" dirty="0"/>
          </a:p>
        </p:txBody>
      </p:sp>
      <p:sp>
        <p:nvSpPr>
          <p:cNvPr id="6" name="Shape 4"/>
          <p:cNvSpPr/>
          <p:nvPr/>
        </p:nvSpPr>
        <p:spPr>
          <a:xfrm>
            <a:off x="292608" y="1298448"/>
            <a:ext cx="2761488" cy="1051560"/>
          </a:xfrm>
          <a:prstGeom prst="rect">
            <a:avLst/>
          </a:prstGeom>
          <a:solidFill>
            <a:srgbClr val="1A1D2E"/>
          </a:solidFill>
          <a:ln w="15240">
            <a:solidFill>
              <a:srgbClr val="E07B54"/>
            </a:solidFill>
            <a:prstDash val="solid"/>
          </a:ln>
          <a:effectLst>
            <a:outerShdw blurRad="127000" dist="50800" dir="8100000" algn="bl" rotWithShape="0">
              <a:srgbClr val="000000">
                <a:alpha val="35000"/>
              </a:srgbClr>
            </a:outerShdw>
          </a:effectLst>
        </p:spPr>
        <p:txBody>
          <a:bodyPr/>
          <a:lstStyle/>
          <a:p>
            <a:endParaRPr lang="hu-HU"/>
          </a:p>
        </p:txBody>
      </p:sp>
      <p:sp>
        <p:nvSpPr>
          <p:cNvPr id="7" name="Text 5"/>
          <p:cNvSpPr/>
          <p:nvPr/>
        </p:nvSpPr>
        <p:spPr>
          <a:xfrm>
            <a:off x="292608" y="1298448"/>
            <a:ext cx="914400" cy="1051560"/>
          </a:xfrm>
          <a:prstGeom prst="rect">
            <a:avLst/>
          </a:prstGeom>
          <a:noFill/>
          <a:ln/>
        </p:spPr>
        <p:txBody>
          <a:bodyPr wrap="square" rtlCol="0" anchor="ctr"/>
          <a:lstStyle/>
          <a:p>
            <a:pPr marL="0" indent="0" algn="ctr">
              <a:buNone/>
            </a:pPr>
            <a:r>
              <a:rPr lang="en-US" sz="3200" dirty="0">
                <a:solidFill>
                  <a:schemeClr val="bg1"/>
                </a:solidFill>
              </a:rPr>
              <a:t>📦</a:t>
            </a:r>
          </a:p>
        </p:txBody>
      </p:sp>
      <p:sp>
        <p:nvSpPr>
          <p:cNvPr id="8" name="Text 6"/>
          <p:cNvSpPr/>
          <p:nvPr/>
        </p:nvSpPr>
        <p:spPr>
          <a:xfrm>
            <a:off x="1207008" y="1389888"/>
            <a:ext cx="1828800" cy="384048"/>
          </a:xfrm>
          <a:prstGeom prst="rect">
            <a:avLst/>
          </a:prstGeom>
          <a:noFill/>
          <a:ln/>
        </p:spPr>
        <p:txBody>
          <a:bodyPr wrap="square" rtlCol="0" anchor="ctr"/>
          <a:lstStyle/>
          <a:p>
            <a:pPr marL="0" indent="0">
              <a:buNone/>
            </a:pPr>
            <a:r>
              <a:rPr lang="en-US" sz="1400" b="1" dirty="0">
                <a:solidFill>
                  <a:srgbClr val="FFFFFF"/>
                </a:solidFill>
              </a:rPr>
              <a:t>Products</a:t>
            </a:r>
            <a:endParaRPr lang="en-US" sz="1400" dirty="0"/>
          </a:p>
        </p:txBody>
      </p:sp>
      <p:sp>
        <p:nvSpPr>
          <p:cNvPr id="9" name="Text 7"/>
          <p:cNvSpPr/>
          <p:nvPr/>
        </p:nvSpPr>
        <p:spPr>
          <a:xfrm>
            <a:off x="1207008" y="1783080"/>
            <a:ext cx="1828800" cy="274320"/>
          </a:xfrm>
          <a:prstGeom prst="rect">
            <a:avLst/>
          </a:prstGeom>
          <a:noFill/>
          <a:ln/>
        </p:spPr>
        <p:txBody>
          <a:bodyPr wrap="square" rtlCol="0" anchor="ctr"/>
          <a:lstStyle/>
          <a:p>
            <a:pPr marL="0" indent="0">
              <a:buNone/>
            </a:pPr>
            <a:r>
              <a:rPr lang="en-US" sz="1000" dirty="0">
                <a:solidFill>
                  <a:srgbClr val="8892A4"/>
                </a:solidFill>
              </a:rPr>
              <a:t>Total count</a:t>
            </a:r>
            <a:endParaRPr lang="en-US" sz="1000" dirty="0"/>
          </a:p>
        </p:txBody>
      </p:sp>
      <p:sp>
        <p:nvSpPr>
          <p:cNvPr id="10" name="Shape 8"/>
          <p:cNvSpPr/>
          <p:nvPr/>
        </p:nvSpPr>
        <p:spPr>
          <a:xfrm>
            <a:off x="3236976" y="1298448"/>
            <a:ext cx="2761488" cy="1051560"/>
          </a:xfrm>
          <a:prstGeom prst="rect">
            <a:avLst/>
          </a:prstGeom>
          <a:solidFill>
            <a:srgbClr val="1A1D2E"/>
          </a:solidFill>
          <a:ln w="15240">
            <a:solidFill>
              <a:srgbClr val="A78BFA"/>
            </a:solidFill>
            <a:prstDash val="solid"/>
          </a:ln>
          <a:effectLst>
            <a:outerShdw blurRad="127000" dist="50800" dir="8100000" algn="bl" rotWithShape="0">
              <a:srgbClr val="000000">
                <a:alpha val="35000"/>
              </a:srgbClr>
            </a:outerShdw>
          </a:effectLst>
        </p:spPr>
        <p:txBody>
          <a:bodyPr/>
          <a:lstStyle/>
          <a:p>
            <a:endParaRPr lang="hu-HU"/>
          </a:p>
        </p:txBody>
      </p:sp>
      <p:sp>
        <p:nvSpPr>
          <p:cNvPr id="11" name="Text 9"/>
          <p:cNvSpPr/>
          <p:nvPr/>
        </p:nvSpPr>
        <p:spPr>
          <a:xfrm>
            <a:off x="3236976" y="1298448"/>
            <a:ext cx="914400" cy="1051560"/>
          </a:xfrm>
          <a:prstGeom prst="rect">
            <a:avLst/>
          </a:prstGeom>
          <a:noFill/>
          <a:ln/>
        </p:spPr>
        <p:txBody>
          <a:bodyPr wrap="square" rtlCol="0" anchor="ctr"/>
          <a:lstStyle/>
          <a:p>
            <a:pPr marL="0" indent="0" algn="ctr">
              <a:buNone/>
            </a:pPr>
            <a:r>
              <a:rPr lang="en-US" sz="3200" dirty="0">
                <a:solidFill>
                  <a:schemeClr val="bg1"/>
                </a:solidFill>
              </a:rPr>
              <a:t>🛒</a:t>
            </a:r>
          </a:p>
        </p:txBody>
      </p:sp>
      <p:sp>
        <p:nvSpPr>
          <p:cNvPr id="12" name="Text 10"/>
          <p:cNvSpPr/>
          <p:nvPr/>
        </p:nvSpPr>
        <p:spPr>
          <a:xfrm>
            <a:off x="4151376" y="1389888"/>
            <a:ext cx="1828800" cy="384048"/>
          </a:xfrm>
          <a:prstGeom prst="rect">
            <a:avLst/>
          </a:prstGeom>
          <a:noFill/>
          <a:ln/>
        </p:spPr>
        <p:txBody>
          <a:bodyPr wrap="square" rtlCol="0" anchor="ctr"/>
          <a:lstStyle/>
          <a:p>
            <a:pPr marL="0" indent="0">
              <a:buNone/>
            </a:pPr>
            <a:r>
              <a:rPr lang="en-US" sz="1400" b="1" dirty="0">
                <a:solidFill>
                  <a:srgbClr val="FFFFFF"/>
                </a:solidFill>
              </a:rPr>
              <a:t>Orders</a:t>
            </a:r>
            <a:endParaRPr lang="en-US" sz="1400" dirty="0"/>
          </a:p>
        </p:txBody>
      </p:sp>
      <p:sp>
        <p:nvSpPr>
          <p:cNvPr id="13" name="Text 11"/>
          <p:cNvSpPr/>
          <p:nvPr/>
        </p:nvSpPr>
        <p:spPr>
          <a:xfrm>
            <a:off x="4151376" y="1783080"/>
            <a:ext cx="1828800" cy="274320"/>
          </a:xfrm>
          <a:prstGeom prst="rect">
            <a:avLst/>
          </a:prstGeom>
          <a:noFill/>
          <a:ln/>
        </p:spPr>
        <p:txBody>
          <a:bodyPr wrap="square" rtlCol="0" anchor="ctr"/>
          <a:lstStyle/>
          <a:p>
            <a:pPr marL="0" indent="0">
              <a:buNone/>
            </a:pPr>
            <a:r>
              <a:rPr lang="en-US" sz="1000" dirty="0">
                <a:solidFill>
                  <a:srgbClr val="8892A4"/>
                </a:solidFill>
              </a:rPr>
              <a:t>Excluding cart</a:t>
            </a:r>
            <a:endParaRPr lang="en-US" sz="1000" dirty="0"/>
          </a:p>
        </p:txBody>
      </p:sp>
      <p:sp>
        <p:nvSpPr>
          <p:cNvPr id="14" name="Shape 12"/>
          <p:cNvSpPr/>
          <p:nvPr/>
        </p:nvSpPr>
        <p:spPr>
          <a:xfrm>
            <a:off x="6181344" y="1298448"/>
            <a:ext cx="2761488" cy="1051560"/>
          </a:xfrm>
          <a:prstGeom prst="rect">
            <a:avLst/>
          </a:prstGeom>
          <a:solidFill>
            <a:srgbClr val="1A1D2E"/>
          </a:solidFill>
          <a:ln w="15240">
            <a:solidFill>
              <a:srgbClr val="34D399"/>
            </a:solidFill>
            <a:prstDash val="solid"/>
          </a:ln>
          <a:effectLst>
            <a:outerShdw blurRad="127000" dist="50800" dir="8100000" algn="bl" rotWithShape="0">
              <a:srgbClr val="000000">
                <a:alpha val="35000"/>
              </a:srgbClr>
            </a:outerShdw>
          </a:effectLst>
        </p:spPr>
        <p:txBody>
          <a:bodyPr/>
          <a:lstStyle/>
          <a:p>
            <a:endParaRPr lang="hu-HU"/>
          </a:p>
        </p:txBody>
      </p:sp>
      <p:sp>
        <p:nvSpPr>
          <p:cNvPr id="15" name="Text 13"/>
          <p:cNvSpPr/>
          <p:nvPr/>
        </p:nvSpPr>
        <p:spPr>
          <a:xfrm>
            <a:off x="6181344" y="1298448"/>
            <a:ext cx="914400" cy="1051560"/>
          </a:xfrm>
          <a:prstGeom prst="rect">
            <a:avLst/>
          </a:prstGeom>
          <a:noFill/>
          <a:ln/>
        </p:spPr>
        <p:txBody>
          <a:bodyPr wrap="square" rtlCol="0" anchor="ctr"/>
          <a:lstStyle/>
          <a:p>
            <a:pPr marL="0" indent="0" algn="ctr">
              <a:buNone/>
            </a:pPr>
            <a:r>
              <a:rPr lang="en-US" sz="3200" dirty="0">
                <a:solidFill>
                  <a:schemeClr val="bg1"/>
                </a:solidFill>
              </a:rPr>
              <a:t>💰</a:t>
            </a:r>
          </a:p>
        </p:txBody>
      </p:sp>
      <p:sp>
        <p:nvSpPr>
          <p:cNvPr id="16" name="Text 14"/>
          <p:cNvSpPr/>
          <p:nvPr/>
        </p:nvSpPr>
        <p:spPr>
          <a:xfrm>
            <a:off x="7095744" y="1389888"/>
            <a:ext cx="1828800" cy="384048"/>
          </a:xfrm>
          <a:prstGeom prst="rect">
            <a:avLst/>
          </a:prstGeom>
          <a:noFill/>
          <a:ln/>
        </p:spPr>
        <p:txBody>
          <a:bodyPr wrap="square" rtlCol="0" anchor="ctr"/>
          <a:lstStyle/>
          <a:p>
            <a:pPr marL="0" indent="0">
              <a:buNone/>
            </a:pPr>
            <a:r>
              <a:rPr lang="en-US" sz="1400" b="1" dirty="0">
                <a:solidFill>
                  <a:srgbClr val="FFFFFF"/>
                </a:solidFill>
              </a:rPr>
              <a:t>Revenue</a:t>
            </a:r>
            <a:endParaRPr lang="en-US" sz="1400" dirty="0"/>
          </a:p>
        </p:txBody>
      </p:sp>
      <p:sp>
        <p:nvSpPr>
          <p:cNvPr id="17" name="Text 15"/>
          <p:cNvSpPr/>
          <p:nvPr/>
        </p:nvSpPr>
        <p:spPr>
          <a:xfrm>
            <a:off x="7095744" y="1783080"/>
            <a:ext cx="1828800" cy="274320"/>
          </a:xfrm>
          <a:prstGeom prst="rect">
            <a:avLst/>
          </a:prstGeom>
          <a:noFill/>
          <a:ln/>
        </p:spPr>
        <p:txBody>
          <a:bodyPr wrap="square" rtlCol="0" anchor="ctr"/>
          <a:lstStyle/>
          <a:p>
            <a:pPr marL="0" indent="0">
              <a:buNone/>
            </a:pPr>
            <a:r>
              <a:rPr lang="en-US" sz="1000" dirty="0">
                <a:solidFill>
                  <a:srgbClr val="8892A4"/>
                </a:solidFill>
              </a:rPr>
              <a:t>Sum of orders</a:t>
            </a:r>
            <a:endParaRPr lang="en-US" sz="1000" dirty="0"/>
          </a:p>
        </p:txBody>
      </p:sp>
      <p:sp>
        <p:nvSpPr>
          <p:cNvPr id="18" name="Shape 16"/>
          <p:cNvSpPr/>
          <p:nvPr/>
        </p:nvSpPr>
        <p:spPr>
          <a:xfrm>
            <a:off x="292608" y="2487168"/>
            <a:ext cx="8549640" cy="457200"/>
          </a:xfrm>
          <a:prstGeom prst="rect">
            <a:avLst/>
          </a:prstGeom>
          <a:solidFill>
            <a:srgbClr val="1A1D2E"/>
          </a:solidFill>
          <a:ln w="15240">
            <a:solidFill>
              <a:srgbClr val="F87171"/>
            </a:solidFill>
            <a:prstDash val="solid"/>
          </a:ln>
          <a:effectLst>
            <a:outerShdw blurRad="127000" dist="50800" dir="8100000" algn="bl" rotWithShape="0">
              <a:srgbClr val="000000">
                <a:alpha val="35000"/>
              </a:srgbClr>
            </a:outerShdw>
          </a:effectLst>
        </p:spPr>
        <p:txBody>
          <a:bodyPr/>
          <a:lstStyle/>
          <a:p>
            <a:endParaRPr lang="hu-HU"/>
          </a:p>
        </p:txBody>
      </p:sp>
      <p:sp>
        <p:nvSpPr>
          <p:cNvPr id="19" name="Shape 17"/>
          <p:cNvSpPr/>
          <p:nvPr/>
        </p:nvSpPr>
        <p:spPr>
          <a:xfrm>
            <a:off x="292608" y="2487168"/>
            <a:ext cx="73152" cy="457200"/>
          </a:xfrm>
          <a:prstGeom prst="rect">
            <a:avLst/>
          </a:prstGeom>
          <a:solidFill>
            <a:srgbClr val="F87171"/>
          </a:solidFill>
          <a:ln w="12700">
            <a:solidFill>
              <a:srgbClr val="F87171"/>
            </a:solidFill>
            <a:prstDash val="solid"/>
          </a:ln>
        </p:spPr>
        <p:txBody>
          <a:bodyPr/>
          <a:lstStyle/>
          <a:p>
            <a:endParaRPr lang="hu-HU"/>
          </a:p>
        </p:txBody>
      </p:sp>
      <p:sp>
        <p:nvSpPr>
          <p:cNvPr id="20" name="Text 18"/>
          <p:cNvSpPr/>
          <p:nvPr/>
        </p:nvSpPr>
        <p:spPr>
          <a:xfrm>
            <a:off x="475488" y="2487168"/>
            <a:ext cx="2560320" cy="457200"/>
          </a:xfrm>
          <a:prstGeom prst="rect">
            <a:avLst/>
          </a:prstGeom>
          <a:noFill/>
          <a:ln/>
        </p:spPr>
        <p:txBody>
          <a:bodyPr wrap="square" rtlCol="0" anchor="ctr"/>
          <a:lstStyle/>
          <a:p>
            <a:pPr marL="0" indent="0">
              <a:buNone/>
            </a:pPr>
            <a:r>
              <a:rPr lang="en-US" sz="1200" b="1" dirty="0">
                <a:solidFill>
                  <a:srgbClr val="FFFFFF"/>
                </a:solidFill>
              </a:rPr>
              <a:t>🔒  Admin-only access</a:t>
            </a:r>
            <a:endParaRPr lang="en-US" sz="1200" dirty="0"/>
          </a:p>
        </p:txBody>
      </p:sp>
      <p:sp>
        <p:nvSpPr>
          <p:cNvPr id="21" name="Text 19"/>
          <p:cNvSpPr/>
          <p:nvPr/>
        </p:nvSpPr>
        <p:spPr>
          <a:xfrm>
            <a:off x="3108960" y="2487168"/>
            <a:ext cx="5577840" cy="457200"/>
          </a:xfrm>
          <a:prstGeom prst="rect">
            <a:avLst/>
          </a:prstGeom>
          <a:noFill/>
          <a:ln/>
        </p:spPr>
        <p:txBody>
          <a:bodyPr wrap="square" rtlCol="0" anchor="ctr"/>
          <a:lstStyle/>
          <a:p>
            <a:pPr marL="0" indent="0">
              <a:buNone/>
            </a:pPr>
            <a:r>
              <a:rPr lang="en-US" sz="1100" dirty="0">
                <a:solidFill>
                  <a:srgbClr val="8892A4"/>
                </a:solidFill>
                <a:latin typeface="Consolas" pitchFamily="34" charset="0"/>
                <a:ea typeface="Consolas" pitchFamily="34" charset="-122"/>
                <a:cs typeface="Consolas" pitchFamily="34" charset="-120"/>
              </a:rPr>
              <a:t>useEffect redirects non-admin users immediately</a:t>
            </a:r>
            <a:endParaRPr lang="en-US" sz="1100" dirty="0"/>
          </a:p>
        </p:txBody>
      </p:sp>
      <p:sp>
        <p:nvSpPr>
          <p:cNvPr id="22" name="Shape 20"/>
          <p:cNvSpPr/>
          <p:nvPr/>
        </p:nvSpPr>
        <p:spPr>
          <a:xfrm>
            <a:off x="292608" y="2999232"/>
            <a:ext cx="8549640" cy="457200"/>
          </a:xfrm>
          <a:prstGeom prst="rect">
            <a:avLst/>
          </a:prstGeom>
          <a:solidFill>
            <a:srgbClr val="1A1D2E"/>
          </a:solidFill>
          <a:ln w="15240">
            <a:solidFill>
              <a:srgbClr val="F5C842"/>
            </a:solidFill>
            <a:prstDash val="solid"/>
          </a:ln>
          <a:effectLst>
            <a:outerShdw blurRad="127000" dist="50800" dir="8100000" algn="bl" rotWithShape="0">
              <a:srgbClr val="000000">
                <a:alpha val="35000"/>
              </a:srgbClr>
            </a:outerShdw>
          </a:effectLst>
        </p:spPr>
        <p:txBody>
          <a:bodyPr/>
          <a:lstStyle/>
          <a:p>
            <a:endParaRPr lang="hu-HU"/>
          </a:p>
        </p:txBody>
      </p:sp>
      <p:sp>
        <p:nvSpPr>
          <p:cNvPr id="23" name="Shape 21"/>
          <p:cNvSpPr/>
          <p:nvPr/>
        </p:nvSpPr>
        <p:spPr>
          <a:xfrm>
            <a:off x="292608" y="2999232"/>
            <a:ext cx="73152" cy="457200"/>
          </a:xfrm>
          <a:prstGeom prst="rect">
            <a:avLst/>
          </a:prstGeom>
          <a:solidFill>
            <a:srgbClr val="F5C842"/>
          </a:solidFill>
          <a:ln w="12700">
            <a:solidFill>
              <a:srgbClr val="F5C842"/>
            </a:solidFill>
            <a:prstDash val="solid"/>
          </a:ln>
        </p:spPr>
        <p:txBody>
          <a:bodyPr/>
          <a:lstStyle/>
          <a:p>
            <a:endParaRPr lang="hu-HU"/>
          </a:p>
        </p:txBody>
      </p:sp>
      <p:sp>
        <p:nvSpPr>
          <p:cNvPr id="24" name="Text 22"/>
          <p:cNvSpPr/>
          <p:nvPr/>
        </p:nvSpPr>
        <p:spPr>
          <a:xfrm>
            <a:off x="475488" y="2999232"/>
            <a:ext cx="2560320" cy="457200"/>
          </a:xfrm>
          <a:prstGeom prst="rect">
            <a:avLst/>
          </a:prstGeom>
          <a:noFill/>
          <a:ln/>
        </p:spPr>
        <p:txBody>
          <a:bodyPr wrap="square" rtlCol="0" anchor="ctr"/>
          <a:lstStyle/>
          <a:p>
            <a:pPr marL="0" indent="0">
              <a:buNone/>
            </a:pPr>
            <a:r>
              <a:rPr lang="en-US" sz="1200" b="1" dirty="0">
                <a:solidFill>
                  <a:srgbClr val="FFFFFF"/>
                </a:solidFill>
              </a:rPr>
              <a:t>⚡  Parallel data fetch</a:t>
            </a:r>
            <a:endParaRPr lang="en-US" sz="1200" dirty="0"/>
          </a:p>
        </p:txBody>
      </p:sp>
      <p:sp>
        <p:nvSpPr>
          <p:cNvPr id="25" name="Text 23"/>
          <p:cNvSpPr/>
          <p:nvPr/>
        </p:nvSpPr>
        <p:spPr>
          <a:xfrm>
            <a:off x="3108960" y="2999232"/>
            <a:ext cx="5577840" cy="457200"/>
          </a:xfrm>
          <a:prstGeom prst="rect">
            <a:avLst/>
          </a:prstGeom>
          <a:noFill/>
          <a:ln/>
        </p:spPr>
        <p:txBody>
          <a:bodyPr wrap="square" rtlCol="0" anchor="ctr"/>
          <a:lstStyle/>
          <a:p>
            <a:pPr marL="0" indent="0">
              <a:buNone/>
            </a:pPr>
            <a:r>
              <a:rPr lang="en-US" sz="1100" dirty="0">
                <a:solidFill>
                  <a:srgbClr val="8892A4"/>
                </a:solidFill>
                <a:latin typeface="Consolas" pitchFamily="34" charset="0"/>
                <a:ea typeface="Consolas" pitchFamily="34" charset="-122"/>
                <a:cs typeface="Consolas" pitchFamily="34" charset="-120"/>
              </a:rPr>
              <a:t>Promise.all([products, orders, categories, users])</a:t>
            </a:r>
            <a:endParaRPr lang="en-US" sz="1100" dirty="0"/>
          </a:p>
        </p:txBody>
      </p:sp>
      <p:sp>
        <p:nvSpPr>
          <p:cNvPr id="26" name="Shape 24"/>
          <p:cNvSpPr/>
          <p:nvPr/>
        </p:nvSpPr>
        <p:spPr>
          <a:xfrm>
            <a:off x="292608" y="3511296"/>
            <a:ext cx="8549640" cy="457200"/>
          </a:xfrm>
          <a:prstGeom prst="rect">
            <a:avLst/>
          </a:prstGeom>
          <a:solidFill>
            <a:srgbClr val="1A1D2E"/>
          </a:solidFill>
          <a:ln w="15240">
            <a:solidFill>
              <a:srgbClr val="A78BFA"/>
            </a:solidFill>
            <a:prstDash val="solid"/>
          </a:ln>
          <a:effectLst>
            <a:outerShdw blurRad="127000" dist="50800" dir="8100000" algn="bl" rotWithShape="0">
              <a:srgbClr val="000000">
                <a:alpha val="35000"/>
              </a:srgbClr>
            </a:outerShdw>
          </a:effectLst>
        </p:spPr>
        <p:txBody>
          <a:bodyPr/>
          <a:lstStyle/>
          <a:p>
            <a:endParaRPr lang="hu-HU"/>
          </a:p>
        </p:txBody>
      </p:sp>
      <p:sp>
        <p:nvSpPr>
          <p:cNvPr id="27" name="Shape 25"/>
          <p:cNvSpPr/>
          <p:nvPr/>
        </p:nvSpPr>
        <p:spPr>
          <a:xfrm>
            <a:off x="292608" y="3511296"/>
            <a:ext cx="73152" cy="457200"/>
          </a:xfrm>
          <a:prstGeom prst="rect">
            <a:avLst/>
          </a:prstGeom>
          <a:solidFill>
            <a:srgbClr val="A78BFA"/>
          </a:solidFill>
          <a:ln w="12700">
            <a:solidFill>
              <a:srgbClr val="A78BFA"/>
            </a:solidFill>
            <a:prstDash val="solid"/>
          </a:ln>
        </p:spPr>
        <p:txBody>
          <a:bodyPr/>
          <a:lstStyle/>
          <a:p>
            <a:endParaRPr lang="hu-HU"/>
          </a:p>
        </p:txBody>
      </p:sp>
      <p:sp>
        <p:nvSpPr>
          <p:cNvPr id="28" name="Text 26"/>
          <p:cNvSpPr/>
          <p:nvPr/>
        </p:nvSpPr>
        <p:spPr>
          <a:xfrm>
            <a:off x="475488" y="3511296"/>
            <a:ext cx="2560320" cy="457200"/>
          </a:xfrm>
          <a:prstGeom prst="rect">
            <a:avLst/>
          </a:prstGeom>
          <a:noFill/>
          <a:ln/>
        </p:spPr>
        <p:txBody>
          <a:bodyPr wrap="square" rtlCol="0" anchor="ctr"/>
          <a:lstStyle/>
          <a:p>
            <a:pPr marL="0" indent="0">
              <a:buNone/>
            </a:pPr>
            <a:r>
              <a:rPr lang="en-US" sz="1200" b="1" dirty="0">
                <a:solidFill>
                  <a:srgbClr val="FFFFFF"/>
                </a:solidFill>
              </a:rPr>
              <a:t>🖼️  Image management</a:t>
            </a:r>
            <a:endParaRPr lang="en-US" sz="1200" dirty="0"/>
          </a:p>
        </p:txBody>
      </p:sp>
      <p:sp>
        <p:nvSpPr>
          <p:cNvPr id="29" name="Text 27"/>
          <p:cNvSpPr/>
          <p:nvPr/>
        </p:nvSpPr>
        <p:spPr>
          <a:xfrm>
            <a:off x="3108960" y="3511296"/>
            <a:ext cx="5577840" cy="457200"/>
          </a:xfrm>
          <a:prstGeom prst="rect">
            <a:avLst/>
          </a:prstGeom>
          <a:noFill/>
          <a:ln/>
        </p:spPr>
        <p:txBody>
          <a:bodyPr wrap="square" rtlCol="0" anchor="ctr"/>
          <a:lstStyle/>
          <a:p>
            <a:pPr marL="0" indent="0">
              <a:buNone/>
            </a:pPr>
            <a:r>
              <a:rPr lang="en-US" sz="1100" dirty="0">
                <a:solidFill>
                  <a:srgbClr val="8892A4"/>
                </a:solidFill>
                <a:latin typeface="Consolas" pitchFamily="34" charset="0"/>
                <a:ea typeface="Consolas" pitchFamily="34" charset="-122"/>
                <a:cs typeface="Consolas" pitchFamily="34" charset="-120"/>
              </a:rPr>
              <a:t>URL input  +  file upload → stored as JSON array</a:t>
            </a:r>
            <a:endParaRPr lang="en-US" sz="1100" dirty="0"/>
          </a:p>
        </p:txBody>
      </p:sp>
      <p:sp>
        <p:nvSpPr>
          <p:cNvPr id="30" name="Shape 28"/>
          <p:cNvSpPr/>
          <p:nvPr/>
        </p:nvSpPr>
        <p:spPr>
          <a:xfrm>
            <a:off x="292608" y="4023360"/>
            <a:ext cx="8549640" cy="457200"/>
          </a:xfrm>
          <a:prstGeom prst="rect">
            <a:avLst/>
          </a:prstGeom>
          <a:solidFill>
            <a:srgbClr val="1A1D2E"/>
          </a:solidFill>
          <a:ln w="15240">
            <a:solidFill>
              <a:srgbClr val="67E8F9"/>
            </a:solidFill>
            <a:prstDash val="solid"/>
          </a:ln>
          <a:effectLst>
            <a:outerShdw blurRad="127000" dist="50800" dir="8100000" algn="bl" rotWithShape="0">
              <a:srgbClr val="000000">
                <a:alpha val="35000"/>
              </a:srgbClr>
            </a:outerShdw>
          </a:effectLst>
        </p:spPr>
        <p:txBody>
          <a:bodyPr/>
          <a:lstStyle/>
          <a:p>
            <a:endParaRPr lang="hu-HU"/>
          </a:p>
        </p:txBody>
      </p:sp>
      <p:sp>
        <p:nvSpPr>
          <p:cNvPr id="31" name="Shape 29"/>
          <p:cNvSpPr/>
          <p:nvPr/>
        </p:nvSpPr>
        <p:spPr>
          <a:xfrm>
            <a:off x="292608" y="4023360"/>
            <a:ext cx="73152" cy="457200"/>
          </a:xfrm>
          <a:prstGeom prst="rect">
            <a:avLst/>
          </a:prstGeom>
          <a:solidFill>
            <a:srgbClr val="67E8F9"/>
          </a:solidFill>
          <a:ln w="12700">
            <a:solidFill>
              <a:srgbClr val="67E8F9"/>
            </a:solidFill>
            <a:prstDash val="solid"/>
          </a:ln>
        </p:spPr>
        <p:txBody>
          <a:bodyPr/>
          <a:lstStyle/>
          <a:p>
            <a:endParaRPr lang="hu-HU"/>
          </a:p>
        </p:txBody>
      </p:sp>
      <p:sp>
        <p:nvSpPr>
          <p:cNvPr id="32" name="Text 30"/>
          <p:cNvSpPr/>
          <p:nvPr/>
        </p:nvSpPr>
        <p:spPr>
          <a:xfrm>
            <a:off x="475488" y="4023360"/>
            <a:ext cx="2560320" cy="457200"/>
          </a:xfrm>
          <a:prstGeom prst="rect">
            <a:avLst/>
          </a:prstGeom>
          <a:noFill/>
          <a:ln/>
        </p:spPr>
        <p:txBody>
          <a:bodyPr wrap="square" rtlCol="0" anchor="ctr"/>
          <a:lstStyle/>
          <a:p>
            <a:pPr marL="0" indent="0">
              <a:buNone/>
            </a:pPr>
            <a:r>
              <a:rPr lang="en-US" sz="1200" b="1" dirty="0">
                <a:solidFill>
                  <a:srgbClr val="FFFFFF"/>
                </a:solidFill>
              </a:rPr>
              <a:t>✏️  Product CRUD</a:t>
            </a:r>
            <a:endParaRPr lang="en-US" sz="1200" dirty="0"/>
          </a:p>
        </p:txBody>
      </p:sp>
      <p:sp>
        <p:nvSpPr>
          <p:cNvPr id="33" name="Text 31"/>
          <p:cNvSpPr/>
          <p:nvPr/>
        </p:nvSpPr>
        <p:spPr>
          <a:xfrm>
            <a:off x="3108960" y="4023360"/>
            <a:ext cx="5577840" cy="457200"/>
          </a:xfrm>
          <a:prstGeom prst="rect">
            <a:avLst/>
          </a:prstGeom>
          <a:noFill/>
          <a:ln/>
        </p:spPr>
        <p:txBody>
          <a:bodyPr wrap="square" rtlCol="0" anchor="ctr"/>
          <a:lstStyle/>
          <a:p>
            <a:pPr marL="0" indent="0">
              <a:buNone/>
            </a:pPr>
            <a:r>
              <a:rPr lang="en-US" sz="1100" dirty="0">
                <a:solidFill>
                  <a:srgbClr val="8892A4"/>
                </a:solidFill>
                <a:latin typeface="Consolas" pitchFamily="34" charset="0"/>
                <a:ea typeface="Consolas" pitchFamily="34" charset="-122"/>
                <a:cs typeface="Consolas" pitchFamily="34" charset="-120"/>
              </a:rPr>
              <a:t>Create · Edit · Delete with live form and image preview</a:t>
            </a:r>
            <a:endParaRPr lang="en-US" sz="1100" dirty="0"/>
          </a:p>
        </p:txBody>
      </p:sp>
      <p:sp>
        <p:nvSpPr>
          <p:cNvPr id="34" name="Shape 32"/>
          <p:cNvSpPr/>
          <p:nvPr/>
        </p:nvSpPr>
        <p:spPr>
          <a:xfrm>
            <a:off x="292608" y="4535424"/>
            <a:ext cx="8549640" cy="457200"/>
          </a:xfrm>
          <a:prstGeom prst="rect">
            <a:avLst/>
          </a:prstGeom>
          <a:solidFill>
            <a:srgbClr val="1A1D2E"/>
          </a:solidFill>
          <a:ln w="15240">
            <a:solidFill>
              <a:srgbClr val="34D399"/>
            </a:solidFill>
            <a:prstDash val="solid"/>
          </a:ln>
          <a:effectLst>
            <a:outerShdw blurRad="127000" dist="50800" dir="8100000" algn="bl" rotWithShape="0">
              <a:srgbClr val="000000">
                <a:alpha val="35000"/>
              </a:srgbClr>
            </a:outerShdw>
          </a:effectLst>
        </p:spPr>
        <p:txBody>
          <a:bodyPr/>
          <a:lstStyle/>
          <a:p>
            <a:endParaRPr lang="hu-HU"/>
          </a:p>
        </p:txBody>
      </p:sp>
      <p:sp>
        <p:nvSpPr>
          <p:cNvPr id="35" name="Shape 33"/>
          <p:cNvSpPr/>
          <p:nvPr/>
        </p:nvSpPr>
        <p:spPr>
          <a:xfrm>
            <a:off x="292608" y="4535424"/>
            <a:ext cx="73152" cy="457200"/>
          </a:xfrm>
          <a:prstGeom prst="rect">
            <a:avLst/>
          </a:prstGeom>
          <a:solidFill>
            <a:srgbClr val="34D399"/>
          </a:solidFill>
          <a:ln w="12700">
            <a:solidFill>
              <a:srgbClr val="34D399"/>
            </a:solidFill>
            <a:prstDash val="solid"/>
          </a:ln>
        </p:spPr>
        <p:txBody>
          <a:bodyPr/>
          <a:lstStyle/>
          <a:p>
            <a:endParaRPr lang="hu-HU"/>
          </a:p>
        </p:txBody>
      </p:sp>
      <p:sp>
        <p:nvSpPr>
          <p:cNvPr id="36" name="Text 34"/>
          <p:cNvSpPr/>
          <p:nvPr/>
        </p:nvSpPr>
        <p:spPr>
          <a:xfrm>
            <a:off x="475488" y="4535424"/>
            <a:ext cx="2560320" cy="457200"/>
          </a:xfrm>
          <a:prstGeom prst="rect">
            <a:avLst/>
          </a:prstGeom>
          <a:noFill/>
          <a:ln/>
        </p:spPr>
        <p:txBody>
          <a:bodyPr wrap="square" rtlCol="0" anchor="ctr"/>
          <a:lstStyle/>
          <a:p>
            <a:pPr marL="0" indent="0">
              <a:buNone/>
            </a:pPr>
            <a:r>
              <a:rPr lang="en-US" sz="1200" b="1" dirty="0">
                <a:solidFill>
                  <a:srgbClr val="FFFFFF"/>
                </a:solidFill>
              </a:rPr>
              <a:t>📋  Order viewer</a:t>
            </a:r>
            <a:endParaRPr lang="en-US" sz="1200" dirty="0"/>
          </a:p>
        </p:txBody>
      </p:sp>
      <p:sp>
        <p:nvSpPr>
          <p:cNvPr id="37" name="Text 35"/>
          <p:cNvSpPr/>
          <p:nvPr/>
        </p:nvSpPr>
        <p:spPr>
          <a:xfrm>
            <a:off x="3108960" y="4535424"/>
            <a:ext cx="5577840" cy="457200"/>
          </a:xfrm>
          <a:prstGeom prst="rect">
            <a:avLst/>
          </a:prstGeom>
          <a:noFill/>
          <a:ln/>
        </p:spPr>
        <p:txBody>
          <a:bodyPr wrap="square" rtlCol="0" anchor="ctr"/>
          <a:lstStyle/>
          <a:p>
            <a:pPr marL="0" indent="0">
              <a:buNone/>
            </a:pPr>
            <a:r>
              <a:rPr lang="en-US" sz="1100" dirty="0">
                <a:solidFill>
                  <a:srgbClr val="8892A4"/>
                </a:solidFill>
                <a:latin typeface="Consolas" pitchFamily="34" charset="0"/>
                <a:ea typeface="Consolas" pitchFamily="34" charset="-122"/>
                <a:cs typeface="Consolas" pitchFamily="34" charset="-120"/>
              </a:rPr>
              <a:t>Status: "Feldolgozás" → "Szállítás" → "Kiszállítva"</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F1117"/>
        </a:solidFill>
        <a:effectLst/>
      </p:bgPr>
    </p:bg>
    <p:spTree>
      <p:nvGrpSpPr>
        <p:cNvPr id="1" name=""/>
        <p:cNvGrpSpPr/>
        <p:nvPr/>
      </p:nvGrpSpPr>
      <p:grpSpPr>
        <a:xfrm>
          <a:off x="0" y="0"/>
          <a:ext cx="0" cy="0"/>
          <a:chOff x="0" y="0"/>
          <a:chExt cx="0" cy="0"/>
        </a:xfrm>
      </p:grpSpPr>
      <p:sp>
        <p:nvSpPr>
          <p:cNvPr id="2" name="Shape 0"/>
          <p:cNvSpPr/>
          <p:nvPr/>
        </p:nvSpPr>
        <p:spPr>
          <a:xfrm>
            <a:off x="0" y="0"/>
            <a:ext cx="9144000" cy="1078992"/>
          </a:xfrm>
          <a:prstGeom prst="rect">
            <a:avLst/>
          </a:prstGeom>
          <a:solidFill>
            <a:srgbClr val="1A1D2E"/>
          </a:solidFill>
          <a:ln w="12700">
            <a:solidFill>
              <a:srgbClr val="1A1D2E"/>
            </a:solidFill>
            <a:prstDash val="solid"/>
          </a:ln>
        </p:spPr>
        <p:txBody>
          <a:bodyPr/>
          <a:lstStyle/>
          <a:p>
            <a:endParaRPr lang="hu-HU"/>
          </a:p>
        </p:txBody>
      </p:sp>
      <p:sp>
        <p:nvSpPr>
          <p:cNvPr id="3" name="Shape 1"/>
          <p:cNvSpPr/>
          <p:nvPr/>
        </p:nvSpPr>
        <p:spPr>
          <a:xfrm>
            <a:off x="0" y="1078992"/>
            <a:ext cx="9144000" cy="36576"/>
          </a:xfrm>
          <a:prstGeom prst="rect">
            <a:avLst/>
          </a:prstGeom>
          <a:solidFill>
            <a:srgbClr val="E07B54"/>
          </a:solidFill>
          <a:ln w="12700">
            <a:solidFill>
              <a:srgbClr val="E07B54"/>
            </a:solidFill>
            <a:prstDash val="solid"/>
          </a:ln>
        </p:spPr>
        <p:txBody>
          <a:bodyPr/>
          <a:lstStyle/>
          <a:p>
            <a:endParaRPr lang="hu-HU"/>
          </a:p>
        </p:txBody>
      </p:sp>
      <p:sp>
        <p:nvSpPr>
          <p:cNvPr id="4" name="Text 2"/>
          <p:cNvSpPr/>
          <p:nvPr/>
        </p:nvSpPr>
        <p:spPr>
          <a:xfrm>
            <a:off x="502920" y="73152"/>
            <a:ext cx="6400800" cy="640080"/>
          </a:xfrm>
          <a:prstGeom prst="rect">
            <a:avLst/>
          </a:prstGeom>
          <a:noFill/>
          <a:ln/>
        </p:spPr>
        <p:txBody>
          <a:bodyPr wrap="square" rtlCol="0" anchor="ctr"/>
          <a:lstStyle/>
          <a:p>
            <a:pPr marL="0" indent="0">
              <a:buNone/>
            </a:pPr>
            <a:r>
              <a:rPr lang="en-US" sz="3200" b="1" dirty="0">
                <a:solidFill>
                  <a:srgbClr val="FFFFFF"/>
                </a:solidFill>
                <a:latin typeface="Georgia" pitchFamily="34" charset="0"/>
                <a:ea typeface="Georgia" pitchFamily="34" charset="-122"/>
                <a:cs typeface="Georgia" pitchFamily="34" charset="-120"/>
              </a:rPr>
              <a:t>Order Flow</a:t>
            </a:r>
            <a:endParaRPr lang="en-US" sz="3200" dirty="0"/>
          </a:p>
        </p:txBody>
      </p:sp>
      <p:sp>
        <p:nvSpPr>
          <p:cNvPr id="5" name="Text 3"/>
          <p:cNvSpPr/>
          <p:nvPr/>
        </p:nvSpPr>
        <p:spPr>
          <a:xfrm>
            <a:off x="502920" y="713232"/>
            <a:ext cx="7772400" cy="329184"/>
          </a:xfrm>
          <a:prstGeom prst="rect">
            <a:avLst/>
          </a:prstGeom>
          <a:noFill/>
          <a:ln/>
        </p:spPr>
        <p:txBody>
          <a:bodyPr wrap="square" rtlCol="0" anchor="ctr"/>
          <a:lstStyle/>
          <a:p>
            <a:pPr marL="0" indent="0">
              <a:buNone/>
            </a:pPr>
            <a:r>
              <a:rPr lang="en-US" sz="1300" dirty="0">
                <a:solidFill>
                  <a:srgbClr val="8892A4"/>
                </a:solidFill>
              </a:rPr>
              <a:t>From cart to confirmed order</a:t>
            </a:r>
            <a:endParaRPr lang="en-US" sz="1300" dirty="0"/>
          </a:p>
        </p:txBody>
      </p:sp>
      <p:sp>
        <p:nvSpPr>
          <p:cNvPr id="6" name="Shape 4"/>
          <p:cNvSpPr/>
          <p:nvPr/>
        </p:nvSpPr>
        <p:spPr>
          <a:xfrm>
            <a:off x="256032" y="1325880"/>
            <a:ext cx="1371600" cy="2423160"/>
          </a:xfrm>
          <a:prstGeom prst="rect">
            <a:avLst/>
          </a:prstGeom>
          <a:solidFill>
            <a:srgbClr val="1A1D2E"/>
          </a:solidFill>
          <a:ln w="15240">
            <a:solidFill>
              <a:srgbClr val="67E8F9"/>
            </a:solidFill>
            <a:prstDash val="solid"/>
          </a:ln>
          <a:effectLst>
            <a:outerShdw blurRad="127000" dist="50800" dir="8100000" algn="bl" rotWithShape="0">
              <a:srgbClr val="000000">
                <a:alpha val="35000"/>
              </a:srgbClr>
            </a:outerShdw>
          </a:effectLst>
        </p:spPr>
        <p:txBody>
          <a:bodyPr/>
          <a:lstStyle/>
          <a:p>
            <a:endParaRPr lang="hu-HU"/>
          </a:p>
        </p:txBody>
      </p:sp>
      <p:sp>
        <p:nvSpPr>
          <p:cNvPr id="7" name="Shape 5"/>
          <p:cNvSpPr/>
          <p:nvPr/>
        </p:nvSpPr>
        <p:spPr>
          <a:xfrm>
            <a:off x="256032" y="1325880"/>
            <a:ext cx="1371600" cy="54864"/>
          </a:xfrm>
          <a:prstGeom prst="rect">
            <a:avLst/>
          </a:prstGeom>
          <a:solidFill>
            <a:srgbClr val="67E8F9"/>
          </a:solidFill>
          <a:ln w="12700">
            <a:solidFill>
              <a:srgbClr val="67E8F9"/>
            </a:solidFill>
            <a:prstDash val="solid"/>
          </a:ln>
        </p:spPr>
        <p:txBody>
          <a:bodyPr/>
          <a:lstStyle/>
          <a:p>
            <a:endParaRPr lang="hu-HU"/>
          </a:p>
        </p:txBody>
      </p:sp>
      <p:sp>
        <p:nvSpPr>
          <p:cNvPr id="8" name="Shape 6"/>
          <p:cNvSpPr/>
          <p:nvPr/>
        </p:nvSpPr>
        <p:spPr>
          <a:xfrm>
            <a:off x="557784" y="1444752"/>
            <a:ext cx="768096" cy="768096"/>
          </a:xfrm>
          <a:prstGeom prst="ellipse">
            <a:avLst/>
          </a:prstGeom>
          <a:solidFill>
            <a:srgbClr val="67E8F9"/>
          </a:solidFill>
          <a:ln w="12700">
            <a:solidFill>
              <a:srgbClr val="67E8F9"/>
            </a:solidFill>
            <a:prstDash val="solid"/>
          </a:ln>
        </p:spPr>
        <p:txBody>
          <a:bodyPr/>
          <a:lstStyle/>
          <a:p>
            <a:endParaRPr lang="hu-HU"/>
          </a:p>
        </p:txBody>
      </p:sp>
      <p:sp>
        <p:nvSpPr>
          <p:cNvPr id="9" name="Text 7"/>
          <p:cNvSpPr/>
          <p:nvPr/>
        </p:nvSpPr>
        <p:spPr>
          <a:xfrm>
            <a:off x="557784" y="1444752"/>
            <a:ext cx="768096" cy="768096"/>
          </a:xfrm>
          <a:prstGeom prst="rect">
            <a:avLst/>
          </a:prstGeom>
          <a:noFill/>
          <a:ln/>
        </p:spPr>
        <p:txBody>
          <a:bodyPr wrap="square" lIns="0" tIns="0" rIns="0" bIns="0" rtlCol="0" anchor="ctr"/>
          <a:lstStyle/>
          <a:p>
            <a:pPr marL="0" indent="0" algn="ctr">
              <a:buNone/>
            </a:pPr>
            <a:r>
              <a:rPr lang="en-US" sz="1800" b="1" dirty="0">
                <a:solidFill>
                  <a:srgbClr val="0F1117"/>
                </a:solidFill>
              </a:rPr>
              <a:t>1</a:t>
            </a:r>
            <a:endParaRPr lang="en-US" sz="1800" dirty="0"/>
          </a:p>
        </p:txBody>
      </p:sp>
      <p:sp>
        <p:nvSpPr>
          <p:cNvPr id="10" name="Text 8"/>
          <p:cNvSpPr/>
          <p:nvPr/>
        </p:nvSpPr>
        <p:spPr>
          <a:xfrm>
            <a:off x="256032" y="2286000"/>
            <a:ext cx="1371600" cy="594360"/>
          </a:xfrm>
          <a:prstGeom prst="rect">
            <a:avLst/>
          </a:prstGeom>
          <a:noFill/>
          <a:ln/>
        </p:spPr>
        <p:txBody>
          <a:bodyPr wrap="square" rtlCol="0" anchor="ctr"/>
          <a:lstStyle/>
          <a:p>
            <a:pPr marL="0" indent="0" algn="ctr">
              <a:buNone/>
            </a:pPr>
            <a:r>
              <a:rPr lang="en-US" sz="2200" dirty="0">
                <a:solidFill>
                  <a:schemeClr val="bg1"/>
                </a:solidFill>
              </a:rPr>
              <a:t>🛍️</a:t>
            </a:r>
          </a:p>
        </p:txBody>
      </p:sp>
      <p:sp>
        <p:nvSpPr>
          <p:cNvPr id="11" name="Text 9"/>
          <p:cNvSpPr/>
          <p:nvPr/>
        </p:nvSpPr>
        <p:spPr>
          <a:xfrm>
            <a:off x="256032" y="2944368"/>
            <a:ext cx="1371600" cy="274320"/>
          </a:xfrm>
          <a:prstGeom prst="rect">
            <a:avLst/>
          </a:prstGeom>
          <a:noFill/>
          <a:ln/>
        </p:spPr>
        <p:txBody>
          <a:bodyPr wrap="square" rtlCol="0" anchor="ctr"/>
          <a:lstStyle/>
          <a:p>
            <a:pPr marL="0" indent="0" algn="ctr">
              <a:buNone/>
            </a:pPr>
            <a:r>
              <a:rPr lang="en-US" sz="1200" b="1" dirty="0">
                <a:solidFill>
                  <a:srgbClr val="FFFFFF"/>
                </a:solidFill>
              </a:rPr>
              <a:t>Browse</a:t>
            </a:r>
            <a:endParaRPr lang="en-US" sz="1200" dirty="0"/>
          </a:p>
        </p:txBody>
      </p:sp>
      <p:sp>
        <p:nvSpPr>
          <p:cNvPr id="12" name="Text 10"/>
          <p:cNvSpPr/>
          <p:nvPr/>
        </p:nvSpPr>
        <p:spPr>
          <a:xfrm>
            <a:off x="210312" y="3246120"/>
            <a:ext cx="1463040" cy="457200"/>
          </a:xfrm>
          <a:prstGeom prst="rect">
            <a:avLst/>
          </a:prstGeom>
          <a:noFill/>
          <a:ln/>
        </p:spPr>
        <p:txBody>
          <a:bodyPr wrap="square" rtlCol="0" anchor="ctr"/>
          <a:lstStyle/>
          <a:p>
            <a:pPr marL="0" indent="0" algn="ctr">
              <a:buNone/>
            </a:pPr>
            <a:r>
              <a:rPr lang="en-US" sz="950" dirty="0">
                <a:solidFill>
                  <a:srgbClr val="8892A4"/>
                </a:solidFill>
              </a:rPr>
              <a:t>Products page</a:t>
            </a:r>
            <a:endParaRPr lang="en-US" sz="950" dirty="0"/>
          </a:p>
          <a:p>
            <a:pPr marL="0" indent="0" algn="ctr">
              <a:buNone/>
            </a:pPr>
            <a:r>
              <a:rPr lang="en-US" sz="950" dirty="0">
                <a:solidFill>
                  <a:srgbClr val="8892A4"/>
                </a:solidFill>
              </a:rPr>
              <a:t>Category filter</a:t>
            </a:r>
            <a:endParaRPr lang="en-US" sz="950" dirty="0"/>
          </a:p>
        </p:txBody>
      </p:sp>
      <p:sp>
        <p:nvSpPr>
          <p:cNvPr id="13" name="Text 11"/>
          <p:cNvSpPr/>
          <p:nvPr/>
        </p:nvSpPr>
        <p:spPr>
          <a:xfrm>
            <a:off x="1627632" y="2103120"/>
            <a:ext cx="228600" cy="548640"/>
          </a:xfrm>
          <a:prstGeom prst="rect">
            <a:avLst/>
          </a:prstGeom>
          <a:noFill/>
          <a:ln/>
        </p:spPr>
        <p:txBody>
          <a:bodyPr wrap="square" rtlCol="0" anchor="ctr"/>
          <a:lstStyle/>
          <a:p>
            <a:pPr marL="0" indent="0" algn="ctr">
              <a:buNone/>
            </a:pPr>
            <a:r>
              <a:rPr lang="en-US" sz="2200" dirty="0">
                <a:solidFill>
                  <a:srgbClr val="8892A4"/>
                </a:solidFill>
              </a:rPr>
              <a:t>›</a:t>
            </a:r>
            <a:endParaRPr lang="en-US" sz="2200" dirty="0"/>
          </a:p>
        </p:txBody>
      </p:sp>
      <p:sp>
        <p:nvSpPr>
          <p:cNvPr id="14" name="Shape 12"/>
          <p:cNvSpPr/>
          <p:nvPr/>
        </p:nvSpPr>
        <p:spPr>
          <a:xfrm>
            <a:off x="1719072" y="1325880"/>
            <a:ext cx="1371600" cy="2423160"/>
          </a:xfrm>
          <a:prstGeom prst="rect">
            <a:avLst/>
          </a:prstGeom>
          <a:solidFill>
            <a:srgbClr val="1A1D2E"/>
          </a:solidFill>
          <a:ln w="15240">
            <a:solidFill>
              <a:srgbClr val="A78BFA"/>
            </a:solidFill>
            <a:prstDash val="solid"/>
          </a:ln>
          <a:effectLst>
            <a:outerShdw blurRad="127000" dist="50800" dir="8100000" algn="bl" rotWithShape="0">
              <a:srgbClr val="000000">
                <a:alpha val="35000"/>
              </a:srgbClr>
            </a:outerShdw>
          </a:effectLst>
        </p:spPr>
        <p:txBody>
          <a:bodyPr/>
          <a:lstStyle/>
          <a:p>
            <a:endParaRPr lang="hu-HU"/>
          </a:p>
        </p:txBody>
      </p:sp>
      <p:sp>
        <p:nvSpPr>
          <p:cNvPr id="15" name="Shape 13"/>
          <p:cNvSpPr/>
          <p:nvPr/>
        </p:nvSpPr>
        <p:spPr>
          <a:xfrm>
            <a:off x="1719072" y="1325880"/>
            <a:ext cx="1371600" cy="54864"/>
          </a:xfrm>
          <a:prstGeom prst="rect">
            <a:avLst/>
          </a:prstGeom>
          <a:solidFill>
            <a:srgbClr val="A78BFA"/>
          </a:solidFill>
          <a:ln w="12700">
            <a:solidFill>
              <a:srgbClr val="A78BFA"/>
            </a:solidFill>
            <a:prstDash val="solid"/>
          </a:ln>
        </p:spPr>
        <p:txBody>
          <a:bodyPr/>
          <a:lstStyle/>
          <a:p>
            <a:endParaRPr lang="hu-HU"/>
          </a:p>
        </p:txBody>
      </p:sp>
      <p:sp>
        <p:nvSpPr>
          <p:cNvPr id="16" name="Shape 14"/>
          <p:cNvSpPr/>
          <p:nvPr/>
        </p:nvSpPr>
        <p:spPr>
          <a:xfrm>
            <a:off x="2020824" y="1444752"/>
            <a:ext cx="768096" cy="768096"/>
          </a:xfrm>
          <a:prstGeom prst="ellipse">
            <a:avLst/>
          </a:prstGeom>
          <a:solidFill>
            <a:srgbClr val="A78BFA"/>
          </a:solidFill>
          <a:ln w="12700">
            <a:solidFill>
              <a:srgbClr val="A78BFA"/>
            </a:solidFill>
            <a:prstDash val="solid"/>
          </a:ln>
        </p:spPr>
        <p:txBody>
          <a:bodyPr/>
          <a:lstStyle/>
          <a:p>
            <a:endParaRPr lang="hu-HU"/>
          </a:p>
        </p:txBody>
      </p:sp>
      <p:sp>
        <p:nvSpPr>
          <p:cNvPr id="17" name="Text 15"/>
          <p:cNvSpPr/>
          <p:nvPr/>
        </p:nvSpPr>
        <p:spPr>
          <a:xfrm>
            <a:off x="2020824" y="1444752"/>
            <a:ext cx="768096" cy="768096"/>
          </a:xfrm>
          <a:prstGeom prst="rect">
            <a:avLst/>
          </a:prstGeom>
          <a:noFill/>
          <a:ln/>
        </p:spPr>
        <p:txBody>
          <a:bodyPr wrap="square" lIns="0" tIns="0" rIns="0" bIns="0" rtlCol="0" anchor="ctr"/>
          <a:lstStyle/>
          <a:p>
            <a:pPr marL="0" indent="0" algn="ctr">
              <a:buNone/>
            </a:pPr>
            <a:r>
              <a:rPr lang="en-US" sz="1800" b="1" dirty="0">
                <a:solidFill>
                  <a:srgbClr val="0F1117"/>
                </a:solidFill>
              </a:rPr>
              <a:t>2</a:t>
            </a:r>
            <a:endParaRPr lang="en-US" sz="1800" dirty="0"/>
          </a:p>
        </p:txBody>
      </p:sp>
      <p:sp>
        <p:nvSpPr>
          <p:cNvPr id="18" name="Text 16"/>
          <p:cNvSpPr/>
          <p:nvPr/>
        </p:nvSpPr>
        <p:spPr>
          <a:xfrm>
            <a:off x="1719072" y="2286000"/>
            <a:ext cx="1371600" cy="594360"/>
          </a:xfrm>
          <a:prstGeom prst="rect">
            <a:avLst/>
          </a:prstGeom>
          <a:noFill/>
          <a:ln/>
        </p:spPr>
        <p:txBody>
          <a:bodyPr wrap="square" rtlCol="0" anchor="ctr"/>
          <a:lstStyle/>
          <a:p>
            <a:pPr marL="0" indent="0" algn="ctr">
              <a:buNone/>
            </a:pPr>
            <a:r>
              <a:rPr lang="en-US" sz="2200" dirty="0">
                <a:solidFill>
                  <a:schemeClr val="bg1"/>
                </a:solidFill>
              </a:rPr>
              <a:t>➕</a:t>
            </a:r>
          </a:p>
        </p:txBody>
      </p:sp>
      <p:sp>
        <p:nvSpPr>
          <p:cNvPr id="19" name="Text 17"/>
          <p:cNvSpPr/>
          <p:nvPr/>
        </p:nvSpPr>
        <p:spPr>
          <a:xfrm>
            <a:off x="1719072" y="2944368"/>
            <a:ext cx="1371600" cy="274320"/>
          </a:xfrm>
          <a:prstGeom prst="rect">
            <a:avLst/>
          </a:prstGeom>
          <a:noFill/>
          <a:ln/>
        </p:spPr>
        <p:txBody>
          <a:bodyPr wrap="square" rtlCol="0" anchor="ctr"/>
          <a:lstStyle/>
          <a:p>
            <a:pPr marL="0" indent="0" algn="ctr">
              <a:buNone/>
            </a:pPr>
            <a:r>
              <a:rPr lang="en-US" sz="1200" b="1" dirty="0">
                <a:solidFill>
                  <a:srgbClr val="FFFFFF"/>
                </a:solidFill>
              </a:rPr>
              <a:t>Add</a:t>
            </a:r>
            <a:endParaRPr lang="en-US" sz="1200" dirty="0"/>
          </a:p>
        </p:txBody>
      </p:sp>
      <p:sp>
        <p:nvSpPr>
          <p:cNvPr id="20" name="Text 18"/>
          <p:cNvSpPr/>
          <p:nvPr/>
        </p:nvSpPr>
        <p:spPr>
          <a:xfrm>
            <a:off x="1673352" y="3246120"/>
            <a:ext cx="1463040" cy="457200"/>
          </a:xfrm>
          <a:prstGeom prst="rect">
            <a:avLst/>
          </a:prstGeom>
          <a:noFill/>
          <a:ln/>
        </p:spPr>
        <p:txBody>
          <a:bodyPr wrap="square" rtlCol="0" anchor="ctr"/>
          <a:lstStyle/>
          <a:p>
            <a:pPr marL="0" indent="0" algn="ctr">
              <a:buNone/>
            </a:pPr>
            <a:r>
              <a:rPr lang="en-US" sz="950" dirty="0">
                <a:solidFill>
                  <a:srgbClr val="8892A4"/>
                </a:solidFill>
              </a:rPr>
              <a:t>CartContext</a:t>
            </a:r>
            <a:endParaRPr lang="en-US" sz="950" dirty="0"/>
          </a:p>
          <a:p>
            <a:pPr marL="0" indent="0" algn="ctr">
              <a:buNone/>
            </a:pPr>
            <a:r>
              <a:rPr lang="en-US" sz="950" dirty="0">
                <a:solidFill>
                  <a:srgbClr val="8892A4"/>
                </a:solidFill>
              </a:rPr>
              <a:t>addToCart()</a:t>
            </a:r>
            <a:endParaRPr lang="en-US" sz="950" dirty="0"/>
          </a:p>
        </p:txBody>
      </p:sp>
      <p:sp>
        <p:nvSpPr>
          <p:cNvPr id="21" name="Text 19"/>
          <p:cNvSpPr/>
          <p:nvPr/>
        </p:nvSpPr>
        <p:spPr>
          <a:xfrm>
            <a:off x="3090672" y="2103120"/>
            <a:ext cx="228600" cy="548640"/>
          </a:xfrm>
          <a:prstGeom prst="rect">
            <a:avLst/>
          </a:prstGeom>
          <a:noFill/>
          <a:ln/>
        </p:spPr>
        <p:txBody>
          <a:bodyPr wrap="square" rtlCol="0" anchor="ctr"/>
          <a:lstStyle/>
          <a:p>
            <a:pPr marL="0" indent="0" algn="ctr">
              <a:buNone/>
            </a:pPr>
            <a:r>
              <a:rPr lang="en-US" sz="2200" dirty="0">
                <a:solidFill>
                  <a:srgbClr val="8892A4"/>
                </a:solidFill>
              </a:rPr>
              <a:t>›</a:t>
            </a:r>
            <a:endParaRPr lang="en-US" sz="2200" dirty="0"/>
          </a:p>
        </p:txBody>
      </p:sp>
      <p:sp>
        <p:nvSpPr>
          <p:cNvPr id="22" name="Shape 20"/>
          <p:cNvSpPr/>
          <p:nvPr/>
        </p:nvSpPr>
        <p:spPr>
          <a:xfrm>
            <a:off x="3182112" y="1325880"/>
            <a:ext cx="1371600" cy="2423160"/>
          </a:xfrm>
          <a:prstGeom prst="rect">
            <a:avLst/>
          </a:prstGeom>
          <a:solidFill>
            <a:srgbClr val="1A1D2E"/>
          </a:solidFill>
          <a:ln w="15240">
            <a:solidFill>
              <a:srgbClr val="E07B54"/>
            </a:solidFill>
            <a:prstDash val="solid"/>
          </a:ln>
          <a:effectLst>
            <a:outerShdw blurRad="127000" dist="50800" dir="8100000" algn="bl" rotWithShape="0">
              <a:srgbClr val="000000">
                <a:alpha val="35000"/>
              </a:srgbClr>
            </a:outerShdw>
          </a:effectLst>
        </p:spPr>
        <p:txBody>
          <a:bodyPr/>
          <a:lstStyle/>
          <a:p>
            <a:endParaRPr lang="hu-HU"/>
          </a:p>
        </p:txBody>
      </p:sp>
      <p:sp>
        <p:nvSpPr>
          <p:cNvPr id="23" name="Shape 21"/>
          <p:cNvSpPr/>
          <p:nvPr/>
        </p:nvSpPr>
        <p:spPr>
          <a:xfrm>
            <a:off x="3182112" y="1325880"/>
            <a:ext cx="1371600" cy="54864"/>
          </a:xfrm>
          <a:prstGeom prst="rect">
            <a:avLst/>
          </a:prstGeom>
          <a:solidFill>
            <a:srgbClr val="E07B54"/>
          </a:solidFill>
          <a:ln w="12700">
            <a:solidFill>
              <a:srgbClr val="E07B54"/>
            </a:solidFill>
            <a:prstDash val="solid"/>
          </a:ln>
        </p:spPr>
        <p:txBody>
          <a:bodyPr/>
          <a:lstStyle/>
          <a:p>
            <a:endParaRPr lang="hu-HU"/>
          </a:p>
        </p:txBody>
      </p:sp>
      <p:sp>
        <p:nvSpPr>
          <p:cNvPr id="24" name="Shape 22"/>
          <p:cNvSpPr/>
          <p:nvPr/>
        </p:nvSpPr>
        <p:spPr>
          <a:xfrm>
            <a:off x="3483864" y="1444752"/>
            <a:ext cx="768096" cy="768096"/>
          </a:xfrm>
          <a:prstGeom prst="ellipse">
            <a:avLst/>
          </a:prstGeom>
          <a:solidFill>
            <a:srgbClr val="E07B54"/>
          </a:solidFill>
          <a:ln w="12700">
            <a:solidFill>
              <a:srgbClr val="E07B54"/>
            </a:solidFill>
            <a:prstDash val="solid"/>
          </a:ln>
        </p:spPr>
        <p:txBody>
          <a:bodyPr/>
          <a:lstStyle/>
          <a:p>
            <a:endParaRPr lang="hu-HU"/>
          </a:p>
        </p:txBody>
      </p:sp>
      <p:sp>
        <p:nvSpPr>
          <p:cNvPr id="25" name="Text 23"/>
          <p:cNvSpPr/>
          <p:nvPr/>
        </p:nvSpPr>
        <p:spPr>
          <a:xfrm>
            <a:off x="3483864" y="1444752"/>
            <a:ext cx="768096" cy="768096"/>
          </a:xfrm>
          <a:prstGeom prst="rect">
            <a:avLst/>
          </a:prstGeom>
          <a:noFill/>
          <a:ln/>
        </p:spPr>
        <p:txBody>
          <a:bodyPr wrap="square" lIns="0" tIns="0" rIns="0" bIns="0" rtlCol="0" anchor="ctr"/>
          <a:lstStyle/>
          <a:p>
            <a:pPr marL="0" indent="0" algn="ctr">
              <a:buNone/>
            </a:pPr>
            <a:r>
              <a:rPr lang="en-US" sz="1800" b="1" dirty="0">
                <a:solidFill>
                  <a:srgbClr val="0F1117"/>
                </a:solidFill>
              </a:rPr>
              <a:t>3</a:t>
            </a:r>
            <a:endParaRPr lang="en-US" sz="1800" dirty="0"/>
          </a:p>
        </p:txBody>
      </p:sp>
      <p:sp>
        <p:nvSpPr>
          <p:cNvPr id="26" name="Text 24"/>
          <p:cNvSpPr/>
          <p:nvPr/>
        </p:nvSpPr>
        <p:spPr>
          <a:xfrm>
            <a:off x="3182112" y="2286000"/>
            <a:ext cx="1371600" cy="594360"/>
          </a:xfrm>
          <a:prstGeom prst="rect">
            <a:avLst/>
          </a:prstGeom>
          <a:noFill/>
          <a:ln/>
        </p:spPr>
        <p:txBody>
          <a:bodyPr wrap="square" rtlCol="0" anchor="ctr"/>
          <a:lstStyle/>
          <a:p>
            <a:pPr marL="0" indent="0" algn="ctr">
              <a:buNone/>
            </a:pPr>
            <a:r>
              <a:rPr lang="en-US" sz="2200" dirty="0">
                <a:solidFill>
                  <a:schemeClr val="bg1"/>
                </a:solidFill>
              </a:rPr>
              <a:t>🛒</a:t>
            </a:r>
          </a:p>
        </p:txBody>
      </p:sp>
      <p:sp>
        <p:nvSpPr>
          <p:cNvPr id="27" name="Text 25"/>
          <p:cNvSpPr/>
          <p:nvPr/>
        </p:nvSpPr>
        <p:spPr>
          <a:xfrm>
            <a:off x="3182112" y="2944368"/>
            <a:ext cx="1371600" cy="274320"/>
          </a:xfrm>
          <a:prstGeom prst="rect">
            <a:avLst/>
          </a:prstGeom>
          <a:noFill/>
          <a:ln/>
        </p:spPr>
        <p:txBody>
          <a:bodyPr wrap="square" rtlCol="0" anchor="ctr"/>
          <a:lstStyle/>
          <a:p>
            <a:pPr marL="0" indent="0" algn="ctr">
              <a:buNone/>
            </a:pPr>
            <a:r>
              <a:rPr lang="en-US" sz="1200" b="1" dirty="0">
                <a:solidFill>
                  <a:srgbClr val="FFFFFF"/>
                </a:solidFill>
              </a:rPr>
              <a:t>Cart</a:t>
            </a:r>
            <a:endParaRPr lang="en-US" sz="1200" dirty="0"/>
          </a:p>
        </p:txBody>
      </p:sp>
      <p:sp>
        <p:nvSpPr>
          <p:cNvPr id="28" name="Text 26"/>
          <p:cNvSpPr/>
          <p:nvPr/>
        </p:nvSpPr>
        <p:spPr>
          <a:xfrm>
            <a:off x="3136392" y="3246120"/>
            <a:ext cx="1463040" cy="457200"/>
          </a:xfrm>
          <a:prstGeom prst="rect">
            <a:avLst/>
          </a:prstGeom>
          <a:noFill/>
          <a:ln/>
        </p:spPr>
        <p:txBody>
          <a:bodyPr wrap="square" rtlCol="0" anchor="ctr"/>
          <a:lstStyle/>
          <a:p>
            <a:pPr marL="0" indent="0" algn="ctr">
              <a:buNone/>
            </a:pPr>
            <a:r>
              <a:rPr lang="en-US" sz="950" dirty="0">
                <a:solidFill>
                  <a:srgbClr val="8892A4"/>
                </a:solidFill>
              </a:rPr>
              <a:t>Review items</a:t>
            </a:r>
            <a:endParaRPr lang="en-US" sz="950" dirty="0"/>
          </a:p>
          <a:p>
            <a:pPr marL="0" indent="0" algn="ctr">
              <a:buNone/>
            </a:pPr>
            <a:r>
              <a:rPr lang="en-US" sz="950" dirty="0">
                <a:solidFill>
                  <a:srgbClr val="8892A4"/>
                </a:solidFill>
              </a:rPr>
              <a:t>Adjust qty</a:t>
            </a:r>
            <a:endParaRPr lang="en-US" sz="950" dirty="0"/>
          </a:p>
        </p:txBody>
      </p:sp>
      <p:sp>
        <p:nvSpPr>
          <p:cNvPr id="29" name="Text 27"/>
          <p:cNvSpPr/>
          <p:nvPr/>
        </p:nvSpPr>
        <p:spPr>
          <a:xfrm>
            <a:off x="4553712" y="2103120"/>
            <a:ext cx="228600" cy="548640"/>
          </a:xfrm>
          <a:prstGeom prst="rect">
            <a:avLst/>
          </a:prstGeom>
          <a:noFill/>
          <a:ln/>
        </p:spPr>
        <p:txBody>
          <a:bodyPr wrap="square" rtlCol="0" anchor="ctr"/>
          <a:lstStyle/>
          <a:p>
            <a:pPr marL="0" indent="0" algn="ctr">
              <a:buNone/>
            </a:pPr>
            <a:r>
              <a:rPr lang="en-US" sz="2200" dirty="0">
                <a:solidFill>
                  <a:srgbClr val="8892A4"/>
                </a:solidFill>
              </a:rPr>
              <a:t>›</a:t>
            </a:r>
            <a:endParaRPr lang="en-US" sz="2200" dirty="0"/>
          </a:p>
        </p:txBody>
      </p:sp>
      <p:sp>
        <p:nvSpPr>
          <p:cNvPr id="30" name="Shape 28"/>
          <p:cNvSpPr/>
          <p:nvPr/>
        </p:nvSpPr>
        <p:spPr>
          <a:xfrm>
            <a:off x="4645152" y="1325880"/>
            <a:ext cx="1371600" cy="2423160"/>
          </a:xfrm>
          <a:prstGeom prst="rect">
            <a:avLst/>
          </a:prstGeom>
          <a:solidFill>
            <a:srgbClr val="1A1D2E"/>
          </a:solidFill>
          <a:ln w="15240">
            <a:solidFill>
              <a:srgbClr val="F5C842"/>
            </a:solidFill>
            <a:prstDash val="solid"/>
          </a:ln>
          <a:effectLst>
            <a:outerShdw blurRad="127000" dist="50800" dir="8100000" algn="bl" rotWithShape="0">
              <a:srgbClr val="000000">
                <a:alpha val="35000"/>
              </a:srgbClr>
            </a:outerShdw>
          </a:effectLst>
        </p:spPr>
        <p:txBody>
          <a:bodyPr/>
          <a:lstStyle/>
          <a:p>
            <a:endParaRPr lang="hu-HU"/>
          </a:p>
        </p:txBody>
      </p:sp>
      <p:sp>
        <p:nvSpPr>
          <p:cNvPr id="31" name="Shape 29"/>
          <p:cNvSpPr/>
          <p:nvPr/>
        </p:nvSpPr>
        <p:spPr>
          <a:xfrm>
            <a:off x="4645152" y="1325880"/>
            <a:ext cx="1371600" cy="54864"/>
          </a:xfrm>
          <a:prstGeom prst="rect">
            <a:avLst/>
          </a:prstGeom>
          <a:solidFill>
            <a:srgbClr val="F5C842"/>
          </a:solidFill>
          <a:ln w="12700">
            <a:solidFill>
              <a:srgbClr val="F5C842"/>
            </a:solidFill>
            <a:prstDash val="solid"/>
          </a:ln>
        </p:spPr>
        <p:txBody>
          <a:bodyPr/>
          <a:lstStyle/>
          <a:p>
            <a:endParaRPr lang="hu-HU"/>
          </a:p>
        </p:txBody>
      </p:sp>
      <p:sp>
        <p:nvSpPr>
          <p:cNvPr id="32" name="Shape 30"/>
          <p:cNvSpPr/>
          <p:nvPr/>
        </p:nvSpPr>
        <p:spPr>
          <a:xfrm>
            <a:off x="4946904" y="1444752"/>
            <a:ext cx="768096" cy="768096"/>
          </a:xfrm>
          <a:prstGeom prst="ellipse">
            <a:avLst/>
          </a:prstGeom>
          <a:solidFill>
            <a:srgbClr val="F5C842"/>
          </a:solidFill>
          <a:ln w="12700">
            <a:solidFill>
              <a:srgbClr val="F5C842"/>
            </a:solidFill>
            <a:prstDash val="solid"/>
          </a:ln>
        </p:spPr>
        <p:txBody>
          <a:bodyPr/>
          <a:lstStyle/>
          <a:p>
            <a:endParaRPr lang="hu-HU"/>
          </a:p>
        </p:txBody>
      </p:sp>
      <p:sp>
        <p:nvSpPr>
          <p:cNvPr id="33" name="Text 31"/>
          <p:cNvSpPr/>
          <p:nvPr/>
        </p:nvSpPr>
        <p:spPr>
          <a:xfrm>
            <a:off x="4946904" y="1444752"/>
            <a:ext cx="768096" cy="768096"/>
          </a:xfrm>
          <a:prstGeom prst="rect">
            <a:avLst/>
          </a:prstGeom>
          <a:noFill/>
          <a:ln/>
        </p:spPr>
        <p:txBody>
          <a:bodyPr wrap="square" lIns="0" tIns="0" rIns="0" bIns="0" rtlCol="0" anchor="ctr"/>
          <a:lstStyle/>
          <a:p>
            <a:pPr marL="0" indent="0" algn="ctr">
              <a:buNone/>
            </a:pPr>
            <a:r>
              <a:rPr lang="en-US" sz="1800" b="1" dirty="0">
                <a:solidFill>
                  <a:srgbClr val="0F1117"/>
                </a:solidFill>
              </a:rPr>
              <a:t>4</a:t>
            </a:r>
            <a:endParaRPr lang="en-US" sz="1800" dirty="0"/>
          </a:p>
        </p:txBody>
      </p:sp>
      <p:sp>
        <p:nvSpPr>
          <p:cNvPr id="34" name="Text 32"/>
          <p:cNvSpPr/>
          <p:nvPr/>
        </p:nvSpPr>
        <p:spPr>
          <a:xfrm>
            <a:off x="4645152" y="2286000"/>
            <a:ext cx="1371600" cy="594360"/>
          </a:xfrm>
          <a:prstGeom prst="rect">
            <a:avLst/>
          </a:prstGeom>
          <a:noFill/>
          <a:ln/>
        </p:spPr>
        <p:txBody>
          <a:bodyPr wrap="square" rtlCol="0" anchor="ctr"/>
          <a:lstStyle/>
          <a:p>
            <a:pPr marL="0" indent="0" algn="ctr">
              <a:buNone/>
            </a:pPr>
            <a:r>
              <a:rPr lang="en-US" sz="2200" dirty="0">
                <a:solidFill>
                  <a:schemeClr val="bg1"/>
                </a:solidFill>
              </a:rPr>
              <a:t>📝</a:t>
            </a:r>
          </a:p>
        </p:txBody>
      </p:sp>
      <p:sp>
        <p:nvSpPr>
          <p:cNvPr id="35" name="Text 33"/>
          <p:cNvSpPr/>
          <p:nvPr/>
        </p:nvSpPr>
        <p:spPr>
          <a:xfrm>
            <a:off x="4645152" y="2944368"/>
            <a:ext cx="1371600" cy="274320"/>
          </a:xfrm>
          <a:prstGeom prst="rect">
            <a:avLst/>
          </a:prstGeom>
          <a:noFill/>
          <a:ln/>
        </p:spPr>
        <p:txBody>
          <a:bodyPr wrap="square" rtlCol="0" anchor="ctr"/>
          <a:lstStyle/>
          <a:p>
            <a:pPr marL="0" indent="0" algn="ctr">
              <a:buNone/>
            </a:pPr>
            <a:r>
              <a:rPr lang="en-US" sz="1200" b="1" dirty="0">
                <a:solidFill>
                  <a:srgbClr val="FFFFFF"/>
                </a:solidFill>
              </a:rPr>
              <a:t>Checkout</a:t>
            </a:r>
            <a:endParaRPr lang="en-US" sz="1200" dirty="0"/>
          </a:p>
        </p:txBody>
      </p:sp>
      <p:sp>
        <p:nvSpPr>
          <p:cNvPr id="36" name="Text 34"/>
          <p:cNvSpPr/>
          <p:nvPr/>
        </p:nvSpPr>
        <p:spPr>
          <a:xfrm>
            <a:off x="4599432" y="3246120"/>
            <a:ext cx="1463040" cy="457200"/>
          </a:xfrm>
          <a:prstGeom prst="rect">
            <a:avLst/>
          </a:prstGeom>
          <a:noFill/>
          <a:ln/>
        </p:spPr>
        <p:txBody>
          <a:bodyPr wrap="square" rtlCol="0" anchor="ctr"/>
          <a:lstStyle/>
          <a:p>
            <a:pPr marL="0" indent="0" algn="ctr">
              <a:buNone/>
            </a:pPr>
            <a:r>
              <a:rPr lang="en-US" sz="950" dirty="0">
                <a:solidFill>
                  <a:srgbClr val="8892A4"/>
                </a:solidFill>
              </a:rPr>
              <a:t>Shipping info</a:t>
            </a:r>
            <a:endParaRPr lang="en-US" sz="950" dirty="0"/>
          </a:p>
          <a:p>
            <a:pPr marL="0" indent="0" algn="ctr">
              <a:buNone/>
            </a:pPr>
            <a:r>
              <a:rPr lang="en-US" sz="950" dirty="0">
                <a:solidFill>
                  <a:srgbClr val="8892A4"/>
                </a:solidFill>
              </a:rPr>
              <a:t>Payment method</a:t>
            </a:r>
            <a:endParaRPr lang="en-US" sz="950" dirty="0"/>
          </a:p>
        </p:txBody>
      </p:sp>
      <p:sp>
        <p:nvSpPr>
          <p:cNvPr id="37" name="Text 35"/>
          <p:cNvSpPr/>
          <p:nvPr/>
        </p:nvSpPr>
        <p:spPr>
          <a:xfrm>
            <a:off x="6016752" y="2103120"/>
            <a:ext cx="228600" cy="548640"/>
          </a:xfrm>
          <a:prstGeom prst="rect">
            <a:avLst/>
          </a:prstGeom>
          <a:noFill/>
          <a:ln/>
        </p:spPr>
        <p:txBody>
          <a:bodyPr wrap="square" rtlCol="0" anchor="ctr"/>
          <a:lstStyle/>
          <a:p>
            <a:pPr marL="0" indent="0" algn="ctr">
              <a:buNone/>
            </a:pPr>
            <a:r>
              <a:rPr lang="en-US" sz="2200" dirty="0">
                <a:solidFill>
                  <a:srgbClr val="8892A4"/>
                </a:solidFill>
              </a:rPr>
              <a:t>›</a:t>
            </a:r>
            <a:endParaRPr lang="en-US" sz="2200" dirty="0"/>
          </a:p>
        </p:txBody>
      </p:sp>
      <p:sp>
        <p:nvSpPr>
          <p:cNvPr id="38" name="Shape 36"/>
          <p:cNvSpPr/>
          <p:nvPr/>
        </p:nvSpPr>
        <p:spPr>
          <a:xfrm>
            <a:off x="6108192" y="1325880"/>
            <a:ext cx="1371600" cy="2423160"/>
          </a:xfrm>
          <a:prstGeom prst="rect">
            <a:avLst/>
          </a:prstGeom>
          <a:solidFill>
            <a:srgbClr val="1A1D2E"/>
          </a:solidFill>
          <a:ln w="15240">
            <a:solidFill>
              <a:srgbClr val="34D399"/>
            </a:solidFill>
            <a:prstDash val="solid"/>
          </a:ln>
          <a:effectLst>
            <a:outerShdw blurRad="127000" dist="50800" dir="8100000" algn="bl" rotWithShape="0">
              <a:srgbClr val="000000">
                <a:alpha val="35000"/>
              </a:srgbClr>
            </a:outerShdw>
          </a:effectLst>
        </p:spPr>
        <p:txBody>
          <a:bodyPr/>
          <a:lstStyle/>
          <a:p>
            <a:endParaRPr lang="hu-HU"/>
          </a:p>
        </p:txBody>
      </p:sp>
      <p:sp>
        <p:nvSpPr>
          <p:cNvPr id="39" name="Shape 37"/>
          <p:cNvSpPr/>
          <p:nvPr/>
        </p:nvSpPr>
        <p:spPr>
          <a:xfrm>
            <a:off x="6108192" y="1325880"/>
            <a:ext cx="1371600" cy="54864"/>
          </a:xfrm>
          <a:prstGeom prst="rect">
            <a:avLst/>
          </a:prstGeom>
          <a:solidFill>
            <a:srgbClr val="34D399"/>
          </a:solidFill>
          <a:ln w="12700">
            <a:solidFill>
              <a:srgbClr val="34D399"/>
            </a:solidFill>
            <a:prstDash val="solid"/>
          </a:ln>
        </p:spPr>
        <p:txBody>
          <a:bodyPr/>
          <a:lstStyle/>
          <a:p>
            <a:endParaRPr lang="hu-HU"/>
          </a:p>
        </p:txBody>
      </p:sp>
      <p:sp>
        <p:nvSpPr>
          <p:cNvPr id="40" name="Shape 38"/>
          <p:cNvSpPr/>
          <p:nvPr/>
        </p:nvSpPr>
        <p:spPr>
          <a:xfrm>
            <a:off x="6409944" y="1444752"/>
            <a:ext cx="768096" cy="768096"/>
          </a:xfrm>
          <a:prstGeom prst="ellipse">
            <a:avLst/>
          </a:prstGeom>
          <a:solidFill>
            <a:srgbClr val="34D399"/>
          </a:solidFill>
          <a:ln w="12700">
            <a:solidFill>
              <a:srgbClr val="34D399"/>
            </a:solidFill>
            <a:prstDash val="solid"/>
          </a:ln>
        </p:spPr>
        <p:txBody>
          <a:bodyPr/>
          <a:lstStyle/>
          <a:p>
            <a:endParaRPr lang="hu-HU"/>
          </a:p>
        </p:txBody>
      </p:sp>
      <p:sp>
        <p:nvSpPr>
          <p:cNvPr id="41" name="Text 39"/>
          <p:cNvSpPr/>
          <p:nvPr/>
        </p:nvSpPr>
        <p:spPr>
          <a:xfrm>
            <a:off x="6409944" y="1444752"/>
            <a:ext cx="768096" cy="768096"/>
          </a:xfrm>
          <a:prstGeom prst="rect">
            <a:avLst/>
          </a:prstGeom>
          <a:noFill/>
          <a:ln/>
        </p:spPr>
        <p:txBody>
          <a:bodyPr wrap="square" lIns="0" tIns="0" rIns="0" bIns="0" rtlCol="0" anchor="ctr"/>
          <a:lstStyle/>
          <a:p>
            <a:pPr marL="0" indent="0" algn="ctr">
              <a:buNone/>
            </a:pPr>
            <a:r>
              <a:rPr lang="en-US" sz="1800" b="1" dirty="0">
                <a:solidFill>
                  <a:srgbClr val="0F1117"/>
                </a:solidFill>
              </a:rPr>
              <a:t>5</a:t>
            </a:r>
            <a:endParaRPr lang="en-US" sz="1800" dirty="0"/>
          </a:p>
        </p:txBody>
      </p:sp>
      <p:sp>
        <p:nvSpPr>
          <p:cNvPr id="42" name="Text 40"/>
          <p:cNvSpPr/>
          <p:nvPr/>
        </p:nvSpPr>
        <p:spPr>
          <a:xfrm>
            <a:off x="6108192" y="2286000"/>
            <a:ext cx="1371600" cy="594360"/>
          </a:xfrm>
          <a:prstGeom prst="rect">
            <a:avLst/>
          </a:prstGeom>
          <a:noFill/>
          <a:ln/>
        </p:spPr>
        <p:txBody>
          <a:bodyPr wrap="square" rtlCol="0" anchor="ctr"/>
          <a:lstStyle/>
          <a:p>
            <a:pPr marL="0" indent="0" algn="ctr">
              <a:buNone/>
            </a:pPr>
            <a:r>
              <a:rPr lang="en-US" sz="2200" dirty="0">
                <a:solidFill>
                  <a:schemeClr val="bg1"/>
                </a:solidFill>
              </a:rPr>
              <a:t>📡</a:t>
            </a:r>
          </a:p>
        </p:txBody>
      </p:sp>
      <p:sp>
        <p:nvSpPr>
          <p:cNvPr id="43" name="Text 41"/>
          <p:cNvSpPr/>
          <p:nvPr/>
        </p:nvSpPr>
        <p:spPr>
          <a:xfrm>
            <a:off x="6108192" y="2944368"/>
            <a:ext cx="1371600" cy="274320"/>
          </a:xfrm>
          <a:prstGeom prst="rect">
            <a:avLst/>
          </a:prstGeom>
          <a:noFill/>
          <a:ln/>
        </p:spPr>
        <p:txBody>
          <a:bodyPr wrap="square" rtlCol="0" anchor="ctr"/>
          <a:lstStyle/>
          <a:p>
            <a:pPr marL="0" indent="0" algn="ctr">
              <a:buNone/>
            </a:pPr>
            <a:r>
              <a:rPr lang="en-US" sz="1200" b="1" dirty="0">
                <a:solidFill>
                  <a:srgbClr val="FFFFFF"/>
                </a:solidFill>
              </a:rPr>
              <a:t>POST</a:t>
            </a:r>
            <a:endParaRPr lang="en-US" sz="1200" dirty="0"/>
          </a:p>
        </p:txBody>
      </p:sp>
      <p:sp>
        <p:nvSpPr>
          <p:cNvPr id="44" name="Text 42"/>
          <p:cNvSpPr/>
          <p:nvPr/>
        </p:nvSpPr>
        <p:spPr>
          <a:xfrm>
            <a:off x="6062472" y="3246120"/>
            <a:ext cx="1463040" cy="457200"/>
          </a:xfrm>
          <a:prstGeom prst="rect">
            <a:avLst/>
          </a:prstGeom>
          <a:noFill/>
          <a:ln/>
        </p:spPr>
        <p:txBody>
          <a:bodyPr wrap="square" rtlCol="0" anchor="ctr"/>
          <a:lstStyle/>
          <a:p>
            <a:pPr marL="0" indent="0" algn="ctr">
              <a:buNone/>
            </a:pPr>
            <a:r>
              <a:rPr lang="en-US" sz="950" dirty="0">
                <a:solidFill>
                  <a:srgbClr val="8892A4"/>
                </a:solidFill>
              </a:rPr>
              <a:t>POST /api/orders</a:t>
            </a:r>
            <a:endParaRPr lang="en-US" sz="950" dirty="0"/>
          </a:p>
          <a:p>
            <a:pPr marL="0" indent="0" algn="ctr">
              <a:buNone/>
            </a:pPr>
            <a:r>
              <a:rPr lang="en-US" sz="950" dirty="0">
                <a:solidFill>
                  <a:srgbClr val="8892A4"/>
                </a:solidFill>
              </a:rPr>
              <a:t>+ /api/orderItems</a:t>
            </a:r>
            <a:endParaRPr lang="en-US" sz="950" dirty="0"/>
          </a:p>
        </p:txBody>
      </p:sp>
      <p:sp>
        <p:nvSpPr>
          <p:cNvPr id="45" name="Text 43"/>
          <p:cNvSpPr/>
          <p:nvPr/>
        </p:nvSpPr>
        <p:spPr>
          <a:xfrm>
            <a:off x="7479792" y="2103120"/>
            <a:ext cx="228600" cy="548640"/>
          </a:xfrm>
          <a:prstGeom prst="rect">
            <a:avLst/>
          </a:prstGeom>
          <a:noFill/>
          <a:ln/>
        </p:spPr>
        <p:txBody>
          <a:bodyPr wrap="square" rtlCol="0" anchor="ctr"/>
          <a:lstStyle/>
          <a:p>
            <a:pPr marL="0" indent="0" algn="ctr">
              <a:buNone/>
            </a:pPr>
            <a:r>
              <a:rPr lang="en-US" sz="2200" dirty="0">
                <a:solidFill>
                  <a:srgbClr val="8892A4"/>
                </a:solidFill>
              </a:rPr>
              <a:t>›</a:t>
            </a:r>
            <a:endParaRPr lang="en-US" sz="2200" dirty="0"/>
          </a:p>
        </p:txBody>
      </p:sp>
      <p:sp>
        <p:nvSpPr>
          <p:cNvPr id="46" name="Shape 44"/>
          <p:cNvSpPr/>
          <p:nvPr/>
        </p:nvSpPr>
        <p:spPr>
          <a:xfrm>
            <a:off x="7571232" y="1325880"/>
            <a:ext cx="1371600" cy="2423160"/>
          </a:xfrm>
          <a:prstGeom prst="rect">
            <a:avLst/>
          </a:prstGeom>
          <a:solidFill>
            <a:srgbClr val="1A1D2E"/>
          </a:solidFill>
          <a:ln w="15240">
            <a:solidFill>
              <a:srgbClr val="4ECDC4"/>
            </a:solidFill>
            <a:prstDash val="solid"/>
          </a:ln>
          <a:effectLst>
            <a:outerShdw blurRad="127000" dist="50800" dir="8100000" algn="bl" rotWithShape="0">
              <a:srgbClr val="000000">
                <a:alpha val="35000"/>
              </a:srgbClr>
            </a:outerShdw>
          </a:effectLst>
        </p:spPr>
        <p:txBody>
          <a:bodyPr/>
          <a:lstStyle/>
          <a:p>
            <a:endParaRPr lang="hu-HU"/>
          </a:p>
        </p:txBody>
      </p:sp>
      <p:sp>
        <p:nvSpPr>
          <p:cNvPr id="47" name="Shape 45"/>
          <p:cNvSpPr/>
          <p:nvPr/>
        </p:nvSpPr>
        <p:spPr>
          <a:xfrm>
            <a:off x="7571232" y="1325880"/>
            <a:ext cx="1371600" cy="54864"/>
          </a:xfrm>
          <a:prstGeom prst="rect">
            <a:avLst/>
          </a:prstGeom>
          <a:solidFill>
            <a:srgbClr val="4ECDC4"/>
          </a:solidFill>
          <a:ln w="12700">
            <a:solidFill>
              <a:srgbClr val="4ECDC4"/>
            </a:solidFill>
            <a:prstDash val="solid"/>
          </a:ln>
        </p:spPr>
        <p:txBody>
          <a:bodyPr/>
          <a:lstStyle/>
          <a:p>
            <a:endParaRPr lang="hu-HU"/>
          </a:p>
        </p:txBody>
      </p:sp>
      <p:sp>
        <p:nvSpPr>
          <p:cNvPr id="48" name="Shape 46"/>
          <p:cNvSpPr/>
          <p:nvPr/>
        </p:nvSpPr>
        <p:spPr>
          <a:xfrm>
            <a:off x="7872984" y="1444752"/>
            <a:ext cx="768096" cy="768096"/>
          </a:xfrm>
          <a:prstGeom prst="ellipse">
            <a:avLst/>
          </a:prstGeom>
          <a:solidFill>
            <a:srgbClr val="4ECDC4"/>
          </a:solidFill>
          <a:ln w="12700">
            <a:solidFill>
              <a:srgbClr val="4ECDC4"/>
            </a:solidFill>
            <a:prstDash val="solid"/>
          </a:ln>
        </p:spPr>
        <p:txBody>
          <a:bodyPr/>
          <a:lstStyle/>
          <a:p>
            <a:endParaRPr lang="hu-HU"/>
          </a:p>
        </p:txBody>
      </p:sp>
      <p:sp>
        <p:nvSpPr>
          <p:cNvPr id="49" name="Text 47"/>
          <p:cNvSpPr/>
          <p:nvPr/>
        </p:nvSpPr>
        <p:spPr>
          <a:xfrm>
            <a:off x="7872984" y="1444752"/>
            <a:ext cx="768096" cy="768096"/>
          </a:xfrm>
          <a:prstGeom prst="rect">
            <a:avLst/>
          </a:prstGeom>
          <a:noFill/>
          <a:ln/>
        </p:spPr>
        <p:txBody>
          <a:bodyPr wrap="square" lIns="0" tIns="0" rIns="0" bIns="0" rtlCol="0" anchor="ctr"/>
          <a:lstStyle/>
          <a:p>
            <a:pPr marL="0" indent="0" algn="ctr">
              <a:buNone/>
            </a:pPr>
            <a:r>
              <a:rPr lang="en-US" sz="1800" b="1" dirty="0">
                <a:solidFill>
                  <a:srgbClr val="0F1117"/>
                </a:solidFill>
              </a:rPr>
              <a:t>6</a:t>
            </a:r>
            <a:endParaRPr lang="en-US" sz="1800" dirty="0"/>
          </a:p>
        </p:txBody>
      </p:sp>
      <p:sp>
        <p:nvSpPr>
          <p:cNvPr id="50" name="Text 48"/>
          <p:cNvSpPr/>
          <p:nvPr/>
        </p:nvSpPr>
        <p:spPr>
          <a:xfrm>
            <a:off x="7571232" y="2286000"/>
            <a:ext cx="1371600" cy="594360"/>
          </a:xfrm>
          <a:prstGeom prst="rect">
            <a:avLst/>
          </a:prstGeom>
          <a:noFill/>
          <a:ln/>
        </p:spPr>
        <p:txBody>
          <a:bodyPr wrap="square" rtlCol="0" anchor="ctr"/>
          <a:lstStyle/>
          <a:p>
            <a:pPr marL="0" indent="0" algn="ctr">
              <a:buNone/>
            </a:pPr>
            <a:r>
              <a:rPr lang="en-US" sz="2200" dirty="0">
                <a:solidFill>
                  <a:schemeClr val="bg1"/>
                </a:solidFill>
              </a:rPr>
              <a:t>✅</a:t>
            </a:r>
          </a:p>
        </p:txBody>
      </p:sp>
      <p:sp>
        <p:nvSpPr>
          <p:cNvPr id="51" name="Text 49"/>
          <p:cNvSpPr/>
          <p:nvPr/>
        </p:nvSpPr>
        <p:spPr>
          <a:xfrm>
            <a:off x="7571232" y="2944368"/>
            <a:ext cx="1371600" cy="274320"/>
          </a:xfrm>
          <a:prstGeom prst="rect">
            <a:avLst/>
          </a:prstGeom>
          <a:noFill/>
          <a:ln/>
        </p:spPr>
        <p:txBody>
          <a:bodyPr wrap="square" rtlCol="0" anchor="ctr"/>
          <a:lstStyle/>
          <a:p>
            <a:pPr marL="0" indent="0" algn="ctr">
              <a:buNone/>
            </a:pPr>
            <a:r>
              <a:rPr lang="en-US" sz="1200" b="1" dirty="0">
                <a:solidFill>
                  <a:srgbClr val="FFFFFF"/>
                </a:solidFill>
              </a:rPr>
              <a:t>Done</a:t>
            </a:r>
            <a:endParaRPr lang="en-US" sz="1200" dirty="0"/>
          </a:p>
        </p:txBody>
      </p:sp>
      <p:sp>
        <p:nvSpPr>
          <p:cNvPr id="52" name="Text 50"/>
          <p:cNvSpPr/>
          <p:nvPr/>
        </p:nvSpPr>
        <p:spPr>
          <a:xfrm>
            <a:off x="7525512" y="3246120"/>
            <a:ext cx="1463040" cy="457200"/>
          </a:xfrm>
          <a:prstGeom prst="rect">
            <a:avLst/>
          </a:prstGeom>
          <a:noFill/>
          <a:ln/>
        </p:spPr>
        <p:txBody>
          <a:bodyPr wrap="square" rtlCol="0" anchor="ctr"/>
          <a:lstStyle/>
          <a:p>
            <a:pPr marL="0" indent="0" algn="ctr">
              <a:buNone/>
            </a:pPr>
            <a:r>
              <a:rPr lang="en-US" sz="950" dirty="0">
                <a:solidFill>
                  <a:srgbClr val="8892A4"/>
                </a:solidFill>
              </a:rPr>
              <a:t>Status:</a:t>
            </a:r>
            <a:endParaRPr lang="en-US" sz="950" dirty="0"/>
          </a:p>
          <a:p>
            <a:pPr marL="0" indent="0" algn="ctr">
              <a:buNone/>
            </a:pPr>
            <a:r>
              <a:rPr lang="en-US" sz="950" dirty="0">
                <a:solidFill>
                  <a:srgbClr val="8892A4"/>
                </a:solidFill>
              </a:rPr>
              <a:t>Feldolgozás alatt</a:t>
            </a:r>
            <a:endParaRPr lang="en-US" sz="950" dirty="0"/>
          </a:p>
        </p:txBody>
      </p:sp>
      <p:sp>
        <p:nvSpPr>
          <p:cNvPr id="53" name="Shape 51"/>
          <p:cNvSpPr/>
          <p:nvPr/>
        </p:nvSpPr>
        <p:spPr>
          <a:xfrm>
            <a:off x="292608" y="3931920"/>
            <a:ext cx="8549640" cy="1005840"/>
          </a:xfrm>
          <a:prstGeom prst="rect">
            <a:avLst/>
          </a:prstGeom>
          <a:solidFill>
            <a:srgbClr val="141824"/>
          </a:solidFill>
          <a:ln w="12700">
            <a:solidFill>
              <a:srgbClr val="2E3250"/>
            </a:solidFill>
            <a:prstDash val="solid"/>
          </a:ln>
          <a:effectLst>
            <a:outerShdw blurRad="127000" dist="50800" dir="8100000" algn="bl" rotWithShape="0">
              <a:srgbClr val="000000">
                <a:alpha val="35000"/>
              </a:srgbClr>
            </a:outerShdw>
          </a:effectLst>
        </p:spPr>
        <p:txBody>
          <a:bodyPr/>
          <a:lstStyle/>
          <a:p>
            <a:endParaRPr lang="hu-HU"/>
          </a:p>
        </p:txBody>
      </p:sp>
      <p:sp>
        <p:nvSpPr>
          <p:cNvPr id="54" name="Text 52"/>
          <p:cNvSpPr/>
          <p:nvPr/>
        </p:nvSpPr>
        <p:spPr>
          <a:xfrm>
            <a:off x="475488" y="4005072"/>
            <a:ext cx="8229600" cy="411480"/>
          </a:xfrm>
          <a:prstGeom prst="rect">
            <a:avLst/>
          </a:prstGeom>
          <a:noFill/>
          <a:ln/>
        </p:spPr>
        <p:txBody>
          <a:bodyPr wrap="square" rtlCol="0" anchor="ctr"/>
          <a:lstStyle/>
          <a:p>
            <a:pPr marL="0" indent="0">
              <a:buNone/>
            </a:pPr>
            <a:r>
              <a:rPr lang="en-US" sz="1050" dirty="0">
                <a:solidFill>
                  <a:srgbClr val="67E8F9"/>
                </a:solidFill>
                <a:latin typeface="Consolas" pitchFamily="34" charset="0"/>
                <a:ea typeface="Consolas" pitchFamily="34" charset="-122"/>
                <a:cs typeface="Consolas" pitchFamily="34" charset="-120"/>
              </a:rPr>
              <a:t>POST /api/orders  →  { user_id, total_price, date, status: "Feldolgozás alatt", payment_method, shipping_address, phone }</a:t>
            </a:r>
            <a:endParaRPr lang="en-US" sz="1050" dirty="0"/>
          </a:p>
        </p:txBody>
      </p:sp>
      <p:sp>
        <p:nvSpPr>
          <p:cNvPr id="55" name="Text 53"/>
          <p:cNvSpPr/>
          <p:nvPr/>
        </p:nvSpPr>
        <p:spPr>
          <a:xfrm>
            <a:off x="475488" y="4416552"/>
            <a:ext cx="8229600" cy="411480"/>
          </a:xfrm>
          <a:prstGeom prst="rect">
            <a:avLst/>
          </a:prstGeom>
          <a:noFill/>
          <a:ln/>
        </p:spPr>
        <p:txBody>
          <a:bodyPr wrap="square" rtlCol="0" anchor="ctr"/>
          <a:lstStyle/>
          <a:p>
            <a:pPr marL="0" indent="0">
              <a:buNone/>
            </a:pPr>
            <a:r>
              <a:rPr lang="en-US" sz="1050" dirty="0">
                <a:solidFill>
                  <a:srgbClr val="F5C842"/>
                </a:solidFill>
                <a:latin typeface="Consolas" pitchFamily="34" charset="0"/>
                <a:ea typeface="Consolas" pitchFamily="34" charset="-122"/>
                <a:cs typeface="Consolas" pitchFamily="34" charset="-120"/>
              </a:rPr>
              <a:t>POST /api/orderItems  →  { orderId, productId, quantity }   ×  n items</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F1117"/>
        </a:solidFill>
        <a:effectLst/>
      </p:bgPr>
    </p:bg>
    <p:spTree>
      <p:nvGrpSpPr>
        <p:cNvPr id="1" name=""/>
        <p:cNvGrpSpPr/>
        <p:nvPr/>
      </p:nvGrpSpPr>
      <p:grpSpPr>
        <a:xfrm>
          <a:off x="0" y="0"/>
          <a:ext cx="0" cy="0"/>
          <a:chOff x="0" y="0"/>
          <a:chExt cx="0" cy="0"/>
        </a:xfrm>
      </p:grpSpPr>
      <p:sp>
        <p:nvSpPr>
          <p:cNvPr id="2" name="Shape 0"/>
          <p:cNvSpPr/>
          <p:nvPr/>
        </p:nvSpPr>
        <p:spPr>
          <a:xfrm>
            <a:off x="0" y="0"/>
            <a:ext cx="9144000" cy="1078992"/>
          </a:xfrm>
          <a:prstGeom prst="rect">
            <a:avLst/>
          </a:prstGeom>
          <a:solidFill>
            <a:srgbClr val="1A1D2E"/>
          </a:solidFill>
          <a:ln w="12700">
            <a:solidFill>
              <a:srgbClr val="1A1D2E"/>
            </a:solidFill>
            <a:prstDash val="solid"/>
          </a:ln>
        </p:spPr>
        <p:txBody>
          <a:bodyPr/>
          <a:lstStyle/>
          <a:p>
            <a:endParaRPr lang="hu-HU"/>
          </a:p>
        </p:txBody>
      </p:sp>
      <p:sp>
        <p:nvSpPr>
          <p:cNvPr id="3" name="Shape 1"/>
          <p:cNvSpPr/>
          <p:nvPr/>
        </p:nvSpPr>
        <p:spPr>
          <a:xfrm>
            <a:off x="0" y="1078992"/>
            <a:ext cx="9144000" cy="36576"/>
          </a:xfrm>
          <a:prstGeom prst="rect">
            <a:avLst/>
          </a:prstGeom>
          <a:solidFill>
            <a:srgbClr val="E07B54"/>
          </a:solidFill>
          <a:ln w="12700">
            <a:solidFill>
              <a:srgbClr val="E07B54"/>
            </a:solidFill>
            <a:prstDash val="solid"/>
          </a:ln>
        </p:spPr>
        <p:txBody>
          <a:bodyPr/>
          <a:lstStyle/>
          <a:p>
            <a:endParaRPr lang="hu-HU"/>
          </a:p>
        </p:txBody>
      </p:sp>
      <p:sp>
        <p:nvSpPr>
          <p:cNvPr id="4" name="Text 2"/>
          <p:cNvSpPr/>
          <p:nvPr/>
        </p:nvSpPr>
        <p:spPr>
          <a:xfrm>
            <a:off x="502920" y="73152"/>
            <a:ext cx="6400800" cy="640080"/>
          </a:xfrm>
          <a:prstGeom prst="rect">
            <a:avLst/>
          </a:prstGeom>
          <a:noFill/>
          <a:ln/>
        </p:spPr>
        <p:txBody>
          <a:bodyPr wrap="square" rtlCol="0" anchor="ctr"/>
          <a:lstStyle/>
          <a:p>
            <a:pPr marL="0" indent="0">
              <a:buNone/>
            </a:pPr>
            <a:r>
              <a:rPr lang="en-US" sz="3200" b="1" dirty="0">
                <a:solidFill>
                  <a:srgbClr val="FFFFFF"/>
                </a:solidFill>
                <a:latin typeface="Georgia" pitchFamily="34" charset="0"/>
                <a:ea typeface="Georgia" pitchFamily="34" charset="-122"/>
                <a:cs typeface="Georgia" pitchFamily="34" charset="-120"/>
              </a:rPr>
              <a:t>Teamwork &amp; Tools</a:t>
            </a:r>
            <a:endParaRPr lang="en-US" sz="3200" dirty="0"/>
          </a:p>
        </p:txBody>
      </p:sp>
      <p:sp>
        <p:nvSpPr>
          <p:cNvPr id="5" name="Text 3"/>
          <p:cNvSpPr/>
          <p:nvPr/>
        </p:nvSpPr>
        <p:spPr>
          <a:xfrm>
            <a:off x="502920" y="713232"/>
            <a:ext cx="7772400" cy="329184"/>
          </a:xfrm>
          <a:prstGeom prst="rect">
            <a:avLst/>
          </a:prstGeom>
          <a:noFill/>
          <a:ln/>
        </p:spPr>
        <p:txBody>
          <a:bodyPr wrap="square" rtlCol="0" anchor="ctr"/>
          <a:lstStyle/>
          <a:p>
            <a:pPr marL="0" indent="0">
              <a:buNone/>
            </a:pPr>
            <a:r>
              <a:rPr lang="en-US" sz="1300" dirty="0">
                <a:solidFill>
                  <a:srgbClr val="8892A4"/>
                </a:solidFill>
              </a:rPr>
              <a:t>How we organized the project</a:t>
            </a:r>
            <a:endParaRPr lang="en-US" sz="1300" dirty="0"/>
          </a:p>
        </p:txBody>
      </p:sp>
      <p:sp>
        <p:nvSpPr>
          <p:cNvPr id="6" name="Shape 4"/>
          <p:cNvSpPr/>
          <p:nvPr/>
        </p:nvSpPr>
        <p:spPr>
          <a:xfrm>
            <a:off x="292608" y="1298448"/>
            <a:ext cx="4187952" cy="1600200"/>
          </a:xfrm>
          <a:prstGeom prst="rect">
            <a:avLst/>
          </a:prstGeom>
          <a:solidFill>
            <a:srgbClr val="1A1D2E"/>
          </a:solidFill>
          <a:ln w="15240">
            <a:solidFill>
              <a:srgbClr val="A78BFA"/>
            </a:solidFill>
            <a:prstDash val="solid"/>
          </a:ln>
          <a:effectLst>
            <a:outerShdw blurRad="127000" dist="50800" dir="8100000" algn="bl" rotWithShape="0">
              <a:srgbClr val="000000">
                <a:alpha val="35000"/>
              </a:srgbClr>
            </a:outerShdw>
          </a:effectLst>
        </p:spPr>
        <p:txBody>
          <a:bodyPr/>
          <a:lstStyle/>
          <a:p>
            <a:endParaRPr lang="hu-HU"/>
          </a:p>
        </p:txBody>
      </p:sp>
      <p:sp>
        <p:nvSpPr>
          <p:cNvPr id="7" name="Shape 5"/>
          <p:cNvSpPr/>
          <p:nvPr/>
        </p:nvSpPr>
        <p:spPr>
          <a:xfrm>
            <a:off x="292608" y="1298448"/>
            <a:ext cx="4187952" cy="54864"/>
          </a:xfrm>
          <a:prstGeom prst="rect">
            <a:avLst/>
          </a:prstGeom>
          <a:solidFill>
            <a:srgbClr val="A78BFA"/>
          </a:solidFill>
          <a:ln w="12700">
            <a:solidFill>
              <a:srgbClr val="A78BFA"/>
            </a:solidFill>
            <a:prstDash val="solid"/>
          </a:ln>
        </p:spPr>
        <p:txBody>
          <a:bodyPr/>
          <a:lstStyle/>
          <a:p>
            <a:endParaRPr lang="hu-HU"/>
          </a:p>
        </p:txBody>
      </p:sp>
      <p:sp>
        <p:nvSpPr>
          <p:cNvPr id="8" name="Shape 6"/>
          <p:cNvSpPr/>
          <p:nvPr/>
        </p:nvSpPr>
        <p:spPr>
          <a:xfrm>
            <a:off x="429768" y="1481328"/>
            <a:ext cx="868680" cy="868680"/>
          </a:xfrm>
          <a:prstGeom prst="ellipse">
            <a:avLst/>
          </a:prstGeom>
          <a:solidFill>
            <a:srgbClr val="A78BFA">
              <a:alpha val="75000"/>
            </a:srgbClr>
          </a:solidFill>
          <a:ln w="12700">
            <a:solidFill>
              <a:srgbClr val="A78BFA"/>
            </a:solidFill>
            <a:prstDash val="solid"/>
          </a:ln>
        </p:spPr>
        <p:txBody>
          <a:bodyPr/>
          <a:lstStyle/>
          <a:p>
            <a:endParaRPr lang="hu-HU"/>
          </a:p>
        </p:txBody>
      </p:sp>
      <p:sp>
        <p:nvSpPr>
          <p:cNvPr id="9" name="Text 7"/>
          <p:cNvSpPr/>
          <p:nvPr/>
        </p:nvSpPr>
        <p:spPr>
          <a:xfrm>
            <a:off x="429768" y="1481328"/>
            <a:ext cx="868680" cy="868680"/>
          </a:xfrm>
          <a:prstGeom prst="rect">
            <a:avLst/>
          </a:prstGeom>
          <a:noFill/>
          <a:ln/>
        </p:spPr>
        <p:txBody>
          <a:bodyPr wrap="square" rtlCol="0" anchor="ctr"/>
          <a:lstStyle/>
          <a:p>
            <a:pPr marL="0" indent="0" algn="ctr">
              <a:buNone/>
            </a:pPr>
            <a:r>
              <a:rPr lang="en-US" sz="2600" dirty="0">
                <a:solidFill>
                  <a:srgbClr val="000000"/>
                </a:solidFill>
              </a:rPr>
              <a:t>💬</a:t>
            </a:r>
            <a:endParaRPr lang="en-US" sz="2600" dirty="0"/>
          </a:p>
        </p:txBody>
      </p:sp>
      <p:sp>
        <p:nvSpPr>
          <p:cNvPr id="10" name="Text 8"/>
          <p:cNvSpPr/>
          <p:nvPr/>
        </p:nvSpPr>
        <p:spPr>
          <a:xfrm>
            <a:off x="1435608" y="1481328"/>
            <a:ext cx="2926080" cy="384048"/>
          </a:xfrm>
          <a:prstGeom prst="rect">
            <a:avLst/>
          </a:prstGeom>
          <a:noFill/>
          <a:ln/>
        </p:spPr>
        <p:txBody>
          <a:bodyPr wrap="square" rtlCol="0" anchor="ctr"/>
          <a:lstStyle/>
          <a:p>
            <a:pPr marL="0" indent="0">
              <a:buNone/>
            </a:pPr>
            <a:r>
              <a:rPr lang="en-US" sz="1600" b="1" dirty="0">
                <a:solidFill>
                  <a:srgbClr val="FFFFFF"/>
                </a:solidFill>
              </a:rPr>
              <a:t>Discord</a:t>
            </a:r>
            <a:endParaRPr lang="en-US" sz="1600" dirty="0"/>
          </a:p>
        </p:txBody>
      </p:sp>
      <p:sp>
        <p:nvSpPr>
          <p:cNvPr id="11" name="Text 9"/>
          <p:cNvSpPr/>
          <p:nvPr/>
        </p:nvSpPr>
        <p:spPr>
          <a:xfrm>
            <a:off x="1435608" y="1892808"/>
            <a:ext cx="2926080" cy="822960"/>
          </a:xfrm>
          <a:prstGeom prst="rect">
            <a:avLst/>
          </a:prstGeom>
          <a:noFill/>
          <a:ln/>
        </p:spPr>
        <p:txBody>
          <a:bodyPr wrap="square" rtlCol="0" anchor="ctr"/>
          <a:lstStyle/>
          <a:p>
            <a:pPr marL="0" indent="0">
              <a:lnSpc>
                <a:spcPct val="140000"/>
              </a:lnSpc>
              <a:buNone/>
            </a:pPr>
            <a:r>
              <a:rPr lang="en-US" sz="1200" dirty="0">
                <a:solidFill>
                  <a:srgbClr val="8892A4"/>
                </a:solidFill>
              </a:rPr>
              <a:t>Daily standups, task discussion,</a:t>
            </a:r>
            <a:endParaRPr lang="en-US" sz="1200" dirty="0"/>
          </a:p>
          <a:p>
            <a:pPr marL="0" indent="0">
              <a:lnSpc>
                <a:spcPct val="140000"/>
              </a:lnSpc>
              <a:buNone/>
            </a:pPr>
            <a:r>
              <a:rPr lang="en-US" sz="1200" dirty="0">
                <a:solidFill>
                  <a:srgbClr val="8892A4"/>
                </a:solidFill>
              </a:rPr>
              <a:t>channel per feature area</a:t>
            </a:r>
            <a:endParaRPr lang="en-US" sz="1200" dirty="0"/>
          </a:p>
        </p:txBody>
      </p:sp>
      <p:sp>
        <p:nvSpPr>
          <p:cNvPr id="12" name="Shape 10"/>
          <p:cNvSpPr/>
          <p:nvPr/>
        </p:nvSpPr>
        <p:spPr>
          <a:xfrm>
            <a:off x="4727448" y="1298448"/>
            <a:ext cx="4187952" cy="1600200"/>
          </a:xfrm>
          <a:prstGeom prst="rect">
            <a:avLst/>
          </a:prstGeom>
          <a:solidFill>
            <a:srgbClr val="1A1D2E"/>
          </a:solidFill>
          <a:ln w="15240">
            <a:solidFill>
              <a:srgbClr val="E07B54"/>
            </a:solidFill>
            <a:prstDash val="solid"/>
          </a:ln>
          <a:effectLst>
            <a:outerShdw blurRad="127000" dist="50800" dir="8100000" algn="bl" rotWithShape="0">
              <a:srgbClr val="000000">
                <a:alpha val="35000"/>
              </a:srgbClr>
            </a:outerShdw>
          </a:effectLst>
        </p:spPr>
        <p:txBody>
          <a:bodyPr/>
          <a:lstStyle/>
          <a:p>
            <a:endParaRPr lang="hu-HU"/>
          </a:p>
        </p:txBody>
      </p:sp>
      <p:sp>
        <p:nvSpPr>
          <p:cNvPr id="13" name="Shape 11"/>
          <p:cNvSpPr/>
          <p:nvPr/>
        </p:nvSpPr>
        <p:spPr>
          <a:xfrm>
            <a:off x="4727448" y="1298448"/>
            <a:ext cx="4187952" cy="54864"/>
          </a:xfrm>
          <a:prstGeom prst="rect">
            <a:avLst/>
          </a:prstGeom>
          <a:solidFill>
            <a:srgbClr val="E07B54"/>
          </a:solidFill>
          <a:ln w="12700">
            <a:solidFill>
              <a:srgbClr val="E07B54"/>
            </a:solidFill>
            <a:prstDash val="solid"/>
          </a:ln>
        </p:spPr>
        <p:txBody>
          <a:bodyPr/>
          <a:lstStyle/>
          <a:p>
            <a:endParaRPr lang="hu-HU"/>
          </a:p>
        </p:txBody>
      </p:sp>
      <p:sp>
        <p:nvSpPr>
          <p:cNvPr id="14" name="Shape 12"/>
          <p:cNvSpPr/>
          <p:nvPr/>
        </p:nvSpPr>
        <p:spPr>
          <a:xfrm>
            <a:off x="4864608" y="1481328"/>
            <a:ext cx="868680" cy="868680"/>
          </a:xfrm>
          <a:prstGeom prst="ellipse">
            <a:avLst/>
          </a:prstGeom>
          <a:solidFill>
            <a:srgbClr val="E07B54">
              <a:alpha val="75000"/>
            </a:srgbClr>
          </a:solidFill>
          <a:ln w="12700">
            <a:solidFill>
              <a:srgbClr val="E07B54"/>
            </a:solidFill>
            <a:prstDash val="solid"/>
          </a:ln>
        </p:spPr>
        <p:txBody>
          <a:bodyPr/>
          <a:lstStyle/>
          <a:p>
            <a:endParaRPr lang="hu-HU"/>
          </a:p>
        </p:txBody>
      </p:sp>
      <p:sp>
        <p:nvSpPr>
          <p:cNvPr id="15" name="Text 13"/>
          <p:cNvSpPr/>
          <p:nvPr/>
        </p:nvSpPr>
        <p:spPr>
          <a:xfrm>
            <a:off x="4864608" y="1481328"/>
            <a:ext cx="868680" cy="868680"/>
          </a:xfrm>
          <a:prstGeom prst="rect">
            <a:avLst/>
          </a:prstGeom>
          <a:noFill/>
          <a:ln/>
        </p:spPr>
        <p:txBody>
          <a:bodyPr wrap="square" rtlCol="0" anchor="ctr"/>
          <a:lstStyle/>
          <a:p>
            <a:pPr marL="0" indent="0" algn="ctr">
              <a:buNone/>
            </a:pPr>
            <a:r>
              <a:rPr lang="en-US" sz="2600" dirty="0">
                <a:solidFill>
                  <a:srgbClr val="000000"/>
                </a:solidFill>
              </a:rPr>
              <a:t>🐙</a:t>
            </a:r>
            <a:endParaRPr lang="en-US" sz="2600" dirty="0"/>
          </a:p>
        </p:txBody>
      </p:sp>
      <p:sp>
        <p:nvSpPr>
          <p:cNvPr id="16" name="Text 14"/>
          <p:cNvSpPr/>
          <p:nvPr/>
        </p:nvSpPr>
        <p:spPr>
          <a:xfrm>
            <a:off x="5870448" y="1481328"/>
            <a:ext cx="2926080" cy="384048"/>
          </a:xfrm>
          <a:prstGeom prst="rect">
            <a:avLst/>
          </a:prstGeom>
          <a:noFill/>
          <a:ln/>
        </p:spPr>
        <p:txBody>
          <a:bodyPr wrap="square" rtlCol="0" anchor="ctr"/>
          <a:lstStyle/>
          <a:p>
            <a:pPr marL="0" indent="0">
              <a:buNone/>
            </a:pPr>
            <a:r>
              <a:rPr lang="en-US" sz="1600" b="1" dirty="0">
                <a:solidFill>
                  <a:srgbClr val="FFFFFF"/>
                </a:solidFill>
              </a:rPr>
              <a:t>Git / GitHub</a:t>
            </a:r>
            <a:endParaRPr lang="en-US" sz="1600" dirty="0"/>
          </a:p>
        </p:txBody>
      </p:sp>
      <p:sp>
        <p:nvSpPr>
          <p:cNvPr id="17" name="Text 15"/>
          <p:cNvSpPr/>
          <p:nvPr/>
        </p:nvSpPr>
        <p:spPr>
          <a:xfrm>
            <a:off x="5870448" y="1892808"/>
            <a:ext cx="2926080" cy="822960"/>
          </a:xfrm>
          <a:prstGeom prst="rect">
            <a:avLst/>
          </a:prstGeom>
          <a:noFill/>
          <a:ln/>
        </p:spPr>
        <p:txBody>
          <a:bodyPr wrap="square" rtlCol="0" anchor="ctr"/>
          <a:lstStyle/>
          <a:p>
            <a:pPr marL="0" indent="0">
              <a:lnSpc>
                <a:spcPct val="140000"/>
              </a:lnSpc>
              <a:buNone/>
            </a:pPr>
            <a:r>
              <a:rPr lang="en-US" sz="1200" dirty="0">
                <a:solidFill>
                  <a:srgbClr val="8892A4"/>
                </a:solidFill>
              </a:rPr>
              <a:t>Feature branches, pull requests,</a:t>
            </a:r>
            <a:endParaRPr lang="en-US" sz="1200" dirty="0"/>
          </a:p>
          <a:p>
            <a:pPr marL="0" indent="0">
              <a:lnSpc>
                <a:spcPct val="140000"/>
              </a:lnSpc>
              <a:buNone/>
            </a:pPr>
            <a:r>
              <a:rPr lang="en-US" sz="1200" dirty="0">
                <a:solidFill>
                  <a:srgbClr val="8892A4"/>
                </a:solidFill>
              </a:rPr>
              <a:t>code review before merge</a:t>
            </a:r>
            <a:endParaRPr lang="en-US" sz="1200" dirty="0"/>
          </a:p>
        </p:txBody>
      </p:sp>
      <p:sp>
        <p:nvSpPr>
          <p:cNvPr id="18" name="Shape 16"/>
          <p:cNvSpPr/>
          <p:nvPr/>
        </p:nvSpPr>
        <p:spPr>
          <a:xfrm>
            <a:off x="292608" y="3081528"/>
            <a:ext cx="4187952" cy="1600200"/>
          </a:xfrm>
          <a:prstGeom prst="rect">
            <a:avLst/>
          </a:prstGeom>
          <a:solidFill>
            <a:srgbClr val="1A1D2E"/>
          </a:solidFill>
          <a:ln w="15240">
            <a:solidFill>
              <a:srgbClr val="F5C842"/>
            </a:solidFill>
            <a:prstDash val="solid"/>
          </a:ln>
          <a:effectLst>
            <a:outerShdw blurRad="127000" dist="50800" dir="8100000" algn="bl" rotWithShape="0">
              <a:srgbClr val="000000">
                <a:alpha val="35000"/>
              </a:srgbClr>
            </a:outerShdw>
          </a:effectLst>
        </p:spPr>
        <p:txBody>
          <a:bodyPr/>
          <a:lstStyle/>
          <a:p>
            <a:endParaRPr lang="hu-HU"/>
          </a:p>
        </p:txBody>
      </p:sp>
      <p:sp>
        <p:nvSpPr>
          <p:cNvPr id="19" name="Shape 17"/>
          <p:cNvSpPr/>
          <p:nvPr/>
        </p:nvSpPr>
        <p:spPr>
          <a:xfrm>
            <a:off x="292608" y="3081528"/>
            <a:ext cx="4187952" cy="54864"/>
          </a:xfrm>
          <a:prstGeom prst="rect">
            <a:avLst/>
          </a:prstGeom>
          <a:solidFill>
            <a:srgbClr val="F5C842"/>
          </a:solidFill>
          <a:ln w="12700">
            <a:solidFill>
              <a:srgbClr val="F5C842"/>
            </a:solidFill>
            <a:prstDash val="solid"/>
          </a:ln>
        </p:spPr>
        <p:txBody>
          <a:bodyPr/>
          <a:lstStyle/>
          <a:p>
            <a:endParaRPr lang="hu-HU"/>
          </a:p>
        </p:txBody>
      </p:sp>
      <p:sp>
        <p:nvSpPr>
          <p:cNvPr id="20" name="Shape 18"/>
          <p:cNvSpPr/>
          <p:nvPr/>
        </p:nvSpPr>
        <p:spPr>
          <a:xfrm>
            <a:off x="429768" y="3264408"/>
            <a:ext cx="868680" cy="868680"/>
          </a:xfrm>
          <a:prstGeom prst="ellipse">
            <a:avLst/>
          </a:prstGeom>
          <a:solidFill>
            <a:srgbClr val="F5C842">
              <a:alpha val="75000"/>
            </a:srgbClr>
          </a:solidFill>
          <a:ln w="12700">
            <a:solidFill>
              <a:srgbClr val="F5C842"/>
            </a:solidFill>
            <a:prstDash val="solid"/>
          </a:ln>
        </p:spPr>
        <p:txBody>
          <a:bodyPr/>
          <a:lstStyle/>
          <a:p>
            <a:endParaRPr lang="hu-HU"/>
          </a:p>
        </p:txBody>
      </p:sp>
      <p:sp>
        <p:nvSpPr>
          <p:cNvPr id="21" name="Text 19"/>
          <p:cNvSpPr/>
          <p:nvPr/>
        </p:nvSpPr>
        <p:spPr>
          <a:xfrm>
            <a:off x="429768" y="3264408"/>
            <a:ext cx="868680" cy="868680"/>
          </a:xfrm>
          <a:prstGeom prst="rect">
            <a:avLst/>
          </a:prstGeom>
          <a:noFill/>
          <a:ln/>
        </p:spPr>
        <p:txBody>
          <a:bodyPr wrap="square" rtlCol="0" anchor="ctr"/>
          <a:lstStyle/>
          <a:p>
            <a:pPr marL="0" indent="0" algn="ctr">
              <a:buNone/>
            </a:pPr>
            <a:r>
              <a:rPr lang="en-US" sz="2600" dirty="0">
                <a:solidFill>
                  <a:srgbClr val="000000"/>
                </a:solidFill>
              </a:rPr>
              <a:t>📋</a:t>
            </a:r>
            <a:endParaRPr lang="en-US" sz="2600" dirty="0"/>
          </a:p>
        </p:txBody>
      </p:sp>
      <p:sp>
        <p:nvSpPr>
          <p:cNvPr id="22" name="Text 20"/>
          <p:cNvSpPr/>
          <p:nvPr/>
        </p:nvSpPr>
        <p:spPr>
          <a:xfrm>
            <a:off x="1435608" y="3264408"/>
            <a:ext cx="2926080" cy="384048"/>
          </a:xfrm>
          <a:prstGeom prst="rect">
            <a:avLst/>
          </a:prstGeom>
          <a:noFill/>
          <a:ln/>
        </p:spPr>
        <p:txBody>
          <a:bodyPr wrap="square" rtlCol="0" anchor="ctr"/>
          <a:lstStyle/>
          <a:p>
            <a:pPr marL="0" indent="0">
              <a:buNone/>
            </a:pPr>
            <a:r>
              <a:rPr lang="en-US" sz="1600" b="1" dirty="0">
                <a:solidFill>
                  <a:srgbClr val="FFFFFF"/>
                </a:solidFill>
              </a:rPr>
              <a:t>Task split</a:t>
            </a:r>
            <a:endParaRPr lang="en-US" sz="1600" dirty="0"/>
          </a:p>
        </p:txBody>
      </p:sp>
      <p:sp>
        <p:nvSpPr>
          <p:cNvPr id="23" name="Text 21"/>
          <p:cNvSpPr/>
          <p:nvPr/>
        </p:nvSpPr>
        <p:spPr>
          <a:xfrm>
            <a:off x="1435608" y="3675888"/>
            <a:ext cx="2926080" cy="822960"/>
          </a:xfrm>
          <a:prstGeom prst="rect">
            <a:avLst/>
          </a:prstGeom>
          <a:noFill/>
          <a:ln/>
        </p:spPr>
        <p:txBody>
          <a:bodyPr wrap="square" rtlCol="0" anchor="ctr"/>
          <a:lstStyle/>
          <a:p>
            <a:pPr marL="0" indent="0">
              <a:lnSpc>
                <a:spcPct val="140000"/>
              </a:lnSpc>
              <a:buNone/>
            </a:pPr>
            <a:r>
              <a:rPr lang="en-US" sz="1200" dirty="0">
                <a:solidFill>
                  <a:srgbClr val="8892A4"/>
                </a:solidFill>
              </a:rPr>
              <a:t>Frontend  ·  Backend  ·  DB design</a:t>
            </a:r>
            <a:endParaRPr lang="en-US" sz="1200" dirty="0"/>
          </a:p>
          <a:p>
            <a:pPr marL="0" indent="0">
              <a:lnSpc>
                <a:spcPct val="140000"/>
              </a:lnSpc>
              <a:buNone/>
            </a:pPr>
            <a:r>
              <a:rPr lang="en-US" sz="1200" dirty="0">
                <a:solidFill>
                  <a:srgbClr val="8892A4"/>
                </a:solidFill>
              </a:rPr>
              <a:t>Documentation per member</a:t>
            </a:r>
            <a:endParaRPr lang="en-US" sz="1200" dirty="0"/>
          </a:p>
        </p:txBody>
      </p:sp>
      <p:sp>
        <p:nvSpPr>
          <p:cNvPr id="24" name="Shape 22"/>
          <p:cNvSpPr/>
          <p:nvPr/>
        </p:nvSpPr>
        <p:spPr>
          <a:xfrm>
            <a:off x="4727448" y="3081528"/>
            <a:ext cx="4187952" cy="1600200"/>
          </a:xfrm>
          <a:prstGeom prst="rect">
            <a:avLst/>
          </a:prstGeom>
          <a:solidFill>
            <a:srgbClr val="1A1D2E"/>
          </a:solidFill>
          <a:ln w="15240">
            <a:solidFill>
              <a:srgbClr val="67E8F9"/>
            </a:solidFill>
            <a:prstDash val="solid"/>
          </a:ln>
          <a:effectLst>
            <a:outerShdw blurRad="127000" dist="50800" dir="8100000" algn="bl" rotWithShape="0">
              <a:srgbClr val="000000">
                <a:alpha val="35000"/>
              </a:srgbClr>
            </a:outerShdw>
          </a:effectLst>
        </p:spPr>
        <p:txBody>
          <a:bodyPr/>
          <a:lstStyle/>
          <a:p>
            <a:endParaRPr lang="hu-HU"/>
          </a:p>
        </p:txBody>
      </p:sp>
      <p:sp>
        <p:nvSpPr>
          <p:cNvPr id="25" name="Shape 23"/>
          <p:cNvSpPr/>
          <p:nvPr/>
        </p:nvSpPr>
        <p:spPr>
          <a:xfrm>
            <a:off x="4727448" y="3081528"/>
            <a:ext cx="4187952" cy="54864"/>
          </a:xfrm>
          <a:prstGeom prst="rect">
            <a:avLst/>
          </a:prstGeom>
          <a:solidFill>
            <a:srgbClr val="67E8F9"/>
          </a:solidFill>
          <a:ln w="12700">
            <a:solidFill>
              <a:srgbClr val="67E8F9"/>
            </a:solidFill>
            <a:prstDash val="solid"/>
          </a:ln>
        </p:spPr>
        <p:txBody>
          <a:bodyPr/>
          <a:lstStyle/>
          <a:p>
            <a:endParaRPr lang="hu-HU"/>
          </a:p>
        </p:txBody>
      </p:sp>
      <p:sp>
        <p:nvSpPr>
          <p:cNvPr id="26" name="Shape 24"/>
          <p:cNvSpPr/>
          <p:nvPr/>
        </p:nvSpPr>
        <p:spPr>
          <a:xfrm>
            <a:off x="4864608" y="3264408"/>
            <a:ext cx="868680" cy="868680"/>
          </a:xfrm>
          <a:prstGeom prst="ellipse">
            <a:avLst/>
          </a:prstGeom>
          <a:solidFill>
            <a:srgbClr val="67E8F9">
              <a:alpha val="75000"/>
            </a:srgbClr>
          </a:solidFill>
          <a:ln w="12700">
            <a:solidFill>
              <a:srgbClr val="67E8F9"/>
            </a:solidFill>
            <a:prstDash val="solid"/>
          </a:ln>
        </p:spPr>
        <p:txBody>
          <a:bodyPr/>
          <a:lstStyle/>
          <a:p>
            <a:endParaRPr lang="hu-HU"/>
          </a:p>
        </p:txBody>
      </p:sp>
      <p:sp>
        <p:nvSpPr>
          <p:cNvPr id="27" name="Text 25"/>
          <p:cNvSpPr/>
          <p:nvPr/>
        </p:nvSpPr>
        <p:spPr>
          <a:xfrm>
            <a:off x="4864608" y="3264408"/>
            <a:ext cx="868680" cy="868680"/>
          </a:xfrm>
          <a:prstGeom prst="rect">
            <a:avLst/>
          </a:prstGeom>
          <a:noFill/>
          <a:ln/>
        </p:spPr>
        <p:txBody>
          <a:bodyPr wrap="square" rtlCol="0" anchor="ctr"/>
          <a:lstStyle/>
          <a:p>
            <a:pPr marL="0" indent="0" algn="ctr">
              <a:buNone/>
            </a:pPr>
            <a:r>
              <a:rPr lang="en-US" sz="2600" dirty="0">
                <a:solidFill>
                  <a:srgbClr val="000000"/>
                </a:solidFill>
              </a:rPr>
              <a:t>📄</a:t>
            </a:r>
            <a:endParaRPr lang="en-US" sz="2600" dirty="0"/>
          </a:p>
        </p:txBody>
      </p:sp>
      <p:sp>
        <p:nvSpPr>
          <p:cNvPr id="28" name="Text 26"/>
          <p:cNvSpPr/>
          <p:nvPr/>
        </p:nvSpPr>
        <p:spPr>
          <a:xfrm>
            <a:off x="5870448" y="3264408"/>
            <a:ext cx="2926080" cy="384048"/>
          </a:xfrm>
          <a:prstGeom prst="rect">
            <a:avLst/>
          </a:prstGeom>
          <a:noFill/>
          <a:ln/>
        </p:spPr>
        <p:txBody>
          <a:bodyPr wrap="square" rtlCol="0" anchor="ctr"/>
          <a:lstStyle/>
          <a:p>
            <a:pPr marL="0" indent="0">
              <a:buNone/>
            </a:pPr>
            <a:r>
              <a:rPr lang="en-US" sz="1600" b="1" dirty="0">
                <a:solidFill>
                  <a:srgbClr val="FFFFFF"/>
                </a:solidFill>
              </a:rPr>
              <a:t>Audit log</a:t>
            </a:r>
            <a:endParaRPr lang="en-US" sz="1600" dirty="0"/>
          </a:p>
        </p:txBody>
      </p:sp>
      <p:sp>
        <p:nvSpPr>
          <p:cNvPr id="29" name="Text 27"/>
          <p:cNvSpPr/>
          <p:nvPr/>
        </p:nvSpPr>
        <p:spPr>
          <a:xfrm>
            <a:off x="5870448" y="3675888"/>
            <a:ext cx="2926080" cy="822960"/>
          </a:xfrm>
          <a:prstGeom prst="rect">
            <a:avLst/>
          </a:prstGeom>
          <a:noFill/>
          <a:ln/>
        </p:spPr>
        <p:txBody>
          <a:bodyPr wrap="square" rtlCol="0" anchor="ctr"/>
          <a:lstStyle/>
          <a:p>
            <a:pPr marL="0" indent="0">
              <a:lnSpc>
                <a:spcPct val="140000"/>
              </a:lnSpc>
              <a:buNone/>
            </a:pPr>
            <a:r>
              <a:rPr lang="en-US" sz="1200" dirty="0">
                <a:solidFill>
                  <a:srgbClr val="8892A4"/>
                </a:solidFill>
              </a:rPr>
              <a:t>AUDIT-JELENTES.md — full status</a:t>
            </a:r>
            <a:endParaRPr lang="en-US" sz="1200" dirty="0"/>
          </a:p>
          <a:p>
            <a:pPr marL="0" indent="0">
              <a:lnSpc>
                <a:spcPct val="140000"/>
              </a:lnSpc>
              <a:buNone/>
            </a:pPr>
            <a:r>
              <a:rPr lang="en-US" sz="1200" dirty="0">
                <a:solidFill>
                  <a:srgbClr val="8892A4"/>
                </a:solidFill>
              </a:rPr>
              <a:t>of every module &amp; endpoint</a:t>
            </a:r>
            <a:endParaRPr lang="en-US" sz="1200" dirty="0"/>
          </a:p>
        </p:txBody>
      </p:sp>
      <p:sp>
        <p:nvSpPr>
          <p:cNvPr id="31" name="Text 29"/>
          <p:cNvSpPr/>
          <p:nvPr/>
        </p:nvSpPr>
        <p:spPr>
          <a:xfrm>
            <a:off x="384048" y="4809744"/>
            <a:ext cx="8366760" cy="320040"/>
          </a:xfrm>
          <a:prstGeom prst="rect">
            <a:avLst/>
          </a:prstGeom>
          <a:noFill/>
          <a:ln/>
        </p:spPr>
        <p:txBody>
          <a:bodyPr wrap="square" rtlCol="0" anchor="ctr"/>
          <a:lstStyle/>
          <a:p>
            <a:pPr marL="0" indent="0" algn="ctr">
              <a:buNone/>
            </a:pP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F1117"/>
        </a:solidFill>
        <a:effectLst/>
      </p:bgPr>
    </p:bg>
    <p:spTree>
      <p:nvGrpSpPr>
        <p:cNvPr id="1" name=""/>
        <p:cNvGrpSpPr/>
        <p:nvPr/>
      </p:nvGrpSpPr>
      <p:grpSpPr>
        <a:xfrm>
          <a:off x="0" y="0"/>
          <a:ext cx="0" cy="0"/>
          <a:chOff x="0" y="0"/>
          <a:chExt cx="0" cy="0"/>
        </a:xfrm>
      </p:grpSpPr>
      <p:sp>
        <p:nvSpPr>
          <p:cNvPr id="2" name="Shape 0"/>
          <p:cNvSpPr/>
          <p:nvPr/>
        </p:nvSpPr>
        <p:spPr>
          <a:xfrm>
            <a:off x="0" y="0"/>
            <a:ext cx="5303520" cy="5143500"/>
          </a:xfrm>
          <a:prstGeom prst="rect">
            <a:avLst/>
          </a:prstGeom>
          <a:solidFill>
            <a:srgbClr val="1A1D2E"/>
          </a:solidFill>
          <a:ln w="12700">
            <a:solidFill>
              <a:srgbClr val="1A1D2E"/>
            </a:solidFill>
            <a:prstDash val="solid"/>
          </a:ln>
        </p:spPr>
        <p:txBody>
          <a:bodyPr/>
          <a:lstStyle/>
          <a:p>
            <a:endParaRPr lang="hu-HU"/>
          </a:p>
        </p:txBody>
      </p:sp>
      <p:sp>
        <p:nvSpPr>
          <p:cNvPr id="3" name="Shape 1"/>
          <p:cNvSpPr/>
          <p:nvPr/>
        </p:nvSpPr>
        <p:spPr>
          <a:xfrm>
            <a:off x="5303520" y="0"/>
            <a:ext cx="54864" cy="5143500"/>
          </a:xfrm>
          <a:prstGeom prst="rect">
            <a:avLst/>
          </a:prstGeom>
          <a:solidFill>
            <a:srgbClr val="E07B54"/>
          </a:solidFill>
          <a:ln w="12700">
            <a:solidFill>
              <a:srgbClr val="E07B54"/>
            </a:solidFill>
            <a:prstDash val="solid"/>
          </a:ln>
        </p:spPr>
        <p:txBody>
          <a:bodyPr/>
          <a:lstStyle/>
          <a:p>
            <a:endParaRPr lang="hu-HU"/>
          </a:p>
        </p:txBody>
      </p:sp>
      <p:sp>
        <p:nvSpPr>
          <p:cNvPr id="4" name="Text 2"/>
          <p:cNvSpPr/>
          <p:nvPr/>
        </p:nvSpPr>
        <p:spPr>
          <a:xfrm>
            <a:off x="365760" y="365760"/>
            <a:ext cx="4754880" cy="594360"/>
          </a:xfrm>
          <a:prstGeom prst="rect">
            <a:avLst/>
          </a:prstGeom>
          <a:noFill/>
          <a:ln/>
        </p:spPr>
        <p:txBody>
          <a:bodyPr wrap="square" rtlCol="0" anchor="ctr"/>
          <a:lstStyle/>
          <a:p>
            <a:pPr marL="0" indent="0">
              <a:buNone/>
            </a:pPr>
            <a:r>
              <a:rPr lang="en-US" sz="2200" b="1" dirty="0">
                <a:solidFill>
                  <a:srgbClr val="E07B54"/>
                </a:solidFill>
                <a:latin typeface="Georgia" pitchFamily="34" charset="0"/>
                <a:ea typeface="Georgia" pitchFamily="34" charset="-122"/>
                <a:cs typeface="Georgia" pitchFamily="34" charset="-120"/>
              </a:rPr>
              <a:t>What we built</a:t>
            </a:r>
            <a:endParaRPr lang="en-US" sz="2200" dirty="0"/>
          </a:p>
        </p:txBody>
      </p:sp>
      <p:sp>
        <p:nvSpPr>
          <p:cNvPr id="5" name="Shape 3"/>
          <p:cNvSpPr/>
          <p:nvPr/>
        </p:nvSpPr>
        <p:spPr>
          <a:xfrm>
            <a:off x="384048" y="1097280"/>
            <a:ext cx="347472" cy="347472"/>
          </a:xfrm>
          <a:prstGeom prst="ellipse">
            <a:avLst/>
          </a:prstGeom>
          <a:solidFill>
            <a:srgbClr val="34D399">
              <a:alpha val="85000"/>
            </a:srgbClr>
          </a:solidFill>
          <a:ln w="12700">
            <a:solidFill>
              <a:srgbClr val="34D399"/>
            </a:solidFill>
            <a:prstDash val="solid"/>
          </a:ln>
        </p:spPr>
        <p:txBody>
          <a:bodyPr/>
          <a:lstStyle/>
          <a:p>
            <a:endParaRPr lang="hu-HU"/>
          </a:p>
        </p:txBody>
      </p:sp>
      <p:sp>
        <p:nvSpPr>
          <p:cNvPr id="6" name="Text 4"/>
          <p:cNvSpPr/>
          <p:nvPr/>
        </p:nvSpPr>
        <p:spPr>
          <a:xfrm>
            <a:off x="384048" y="1097280"/>
            <a:ext cx="347472" cy="347472"/>
          </a:xfrm>
          <a:prstGeom prst="rect">
            <a:avLst/>
          </a:prstGeom>
          <a:noFill/>
          <a:ln/>
        </p:spPr>
        <p:txBody>
          <a:bodyPr wrap="square" lIns="0" tIns="0" rIns="0" bIns="0" rtlCol="0" anchor="ctr"/>
          <a:lstStyle/>
          <a:p>
            <a:pPr marL="0" indent="0" algn="ctr">
              <a:buNone/>
            </a:pPr>
            <a:r>
              <a:rPr lang="en-US" sz="1300" b="1" dirty="0">
                <a:solidFill>
                  <a:srgbClr val="34D399"/>
                </a:solidFill>
              </a:rPr>
              <a:t>✓</a:t>
            </a:r>
            <a:endParaRPr lang="en-US" sz="1300" dirty="0"/>
          </a:p>
        </p:txBody>
      </p:sp>
      <p:sp>
        <p:nvSpPr>
          <p:cNvPr id="7" name="Text 5"/>
          <p:cNvSpPr/>
          <p:nvPr/>
        </p:nvSpPr>
        <p:spPr>
          <a:xfrm>
            <a:off x="868680" y="1097280"/>
            <a:ext cx="4206240" cy="347472"/>
          </a:xfrm>
          <a:prstGeom prst="rect">
            <a:avLst/>
          </a:prstGeom>
          <a:noFill/>
          <a:ln/>
        </p:spPr>
        <p:txBody>
          <a:bodyPr wrap="square" rtlCol="0" anchor="ctr"/>
          <a:lstStyle/>
          <a:p>
            <a:pPr marL="0" indent="0">
              <a:buNone/>
            </a:pPr>
            <a:r>
              <a:rPr lang="en-US" sz="1300" dirty="0">
                <a:solidFill>
                  <a:srgbClr val="FFFFFF"/>
                </a:solidFill>
              </a:rPr>
              <a:t>Full-stack React + Node.js app</a:t>
            </a:r>
            <a:endParaRPr lang="en-US" sz="1300" dirty="0"/>
          </a:p>
        </p:txBody>
      </p:sp>
      <p:sp>
        <p:nvSpPr>
          <p:cNvPr id="8" name="Shape 6"/>
          <p:cNvSpPr/>
          <p:nvPr/>
        </p:nvSpPr>
        <p:spPr>
          <a:xfrm>
            <a:off x="384048" y="1719072"/>
            <a:ext cx="347472" cy="347472"/>
          </a:xfrm>
          <a:prstGeom prst="ellipse">
            <a:avLst/>
          </a:prstGeom>
          <a:solidFill>
            <a:srgbClr val="34D399">
              <a:alpha val="85000"/>
            </a:srgbClr>
          </a:solidFill>
          <a:ln w="12700">
            <a:solidFill>
              <a:srgbClr val="34D399"/>
            </a:solidFill>
            <a:prstDash val="solid"/>
          </a:ln>
        </p:spPr>
        <p:txBody>
          <a:bodyPr/>
          <a:lstStyle/>
          <a:p>
            <a:endParaRPr lang="hu-HU"/>
          </a:p>
        </p:txBody>
      </p:sp>
      <p:sp>
        <p:nvSpPr>
          <p:cNvPr id="9" name="Text 7"/>
          <p:cNvSpPr/>
          <p:nvPr/>
        </p:nvSpPr>
        <p:spPr>
          <a:xfrm>
            <a:off x="384048" y="1719072"/>
            <a:ext cx="347472" cy="347472"/>
          </a:xfrm>
          <a:prstGeom prst="rect">
            <a:avLst/>
          </a:prstGeom>
          <a:noFill/>
          <a:ln/>
        </p:spPr>
        <p:txBody>
          <a:bodyPr wrap="square" lIns="0" tIns="0" rIns="0" bIns="0" rtlCol="0" anchor="ctr"/>
          <a:lstStyle/>
          <a:p>
            <a:pPr marL="0" indent="0" algn="ctr">
              <a:buNone/>
            </a:pPr>
            <a:r>
              <a:rPr lang="en-US" sz="1300" b="1" dirty="0">
                <a:solidFill>
                  <a:srgbClr val="34D399"/>
                </a:solidFill>
              </a:rPr>
              <a:t>✓</a:t>
            </a:r>
            <a:endParaRPr lang="en-US" sz="1300" dirty="0"/>
          </a:p>
        </p:txBody>
      </p:sp>
      <p:sp>
        <p:nvSpPr>
          <p:cNvPr id="10" name="Text 8"/>
          <p:cNvSpPr/>
          <p:nvPr/>
        </p:nvSpPr>
        <p:spPr>
          <a:xfrm>
            <a:off x="868680" y="1719072"/>
            <a:ext cx="4206240" cy="347472"/>
          </a:xfrm>
          <a:prstGeom prst="rect">
            <a:avLst/>
          </a:prstGeom>
          <a:noFill/>
          <a:ln/>
        </p:spPr>
        <p:txBody>
          <a:bodyPr wrap="square" rtlCol="0" anchor="ctr"/>
          <a:lstStyle/>
          <a:p>
            <a:pPr marL="0" indent="0">
              <a:buNone/>
            </a:pPr>
            <a:r>
              <a:rPr lang="en-US" sz="1300" dirty="0">
                <a:solidFill>
                  <a:srgbClr val="FFFFFF"/>
                </a:solidFill>
              </a:rPr>
              <a:t>JWT authentication &amp; admin guard</a:t>
            </a:r>
            <a:endParaRPr lang="en-US" sz="1300" dirty="0"/>
          </a:p>
        </p:txBody>
      </p:sp>
      <p:sp>
        <p:nvSpPr>
          <p:cNvPr id="11" name="Shape 9"/>
          <p:cNvSpPr/>
          <p:nvPr/>
        </p:nvSpPr>
        <p:spPr>
          <a:xfrm>
            <a:off x="384048" y="2340864"/>
            <a:ext cx="347472" cy="347472"/>
          </a:xfrm>
          <a:prstGeom prst="ellipse">
            <a:avLst/>
          </a:prstGeom>
          <a:solidFill>
            <a:srgbClr val="34D399">
              <a:alpha val="85000"/>
            </a:srgbClr>
          </a:solidFill>
          <a:ln w="12700">
            <a:solidFill>
              <a:srgbClr val="34D399"/>
            </a:solidFill>
            <a:prstDash val="solid"/>
          </a:ln>
        </p:spPr>
        <p:txBody>
          <a:bodyPr/>
          <a:lstStyle/>
          <a:p>
            <a:endParaRPr lang="hu-HU"/>
          </a:p>
        </p:txBody>
      </p:sp>
      <p:sp>
        <p:nvSpPr>
          <p:cNvPr id="12" name="Text 10"/>
          <p:cNvSpPr/>
          <p:nvPr/>
        </p:nvSpPr>
        <p:spPr>
          <a:xfrm>
            <a:off x="384048" y="2340864"/>
            <a:ext cx="347472" cy="347472"/>
          </a:xfrm>
          <a:prstGeom prst="rect">
            <a:avLst/>
          </a:prstGeom>
          <a:noFill/>
          <a:ln/>
        </p:spPr>
        <p:txBody>
          <a:bodyPr wrap="square" lIns="0" tIns="0" rIns="0" bIns="0" rtlCol="0" anchor="ctr"/>
          <a:lstStyle/>
          <a:p>
            <a:pPr marL="0" indent="0" algn="ctr">
              <a:buNone/>
            </a:pPr>
            <a:r>
              <a:rPr lang="en-US" sz="1300" b="1" dirty="0">
                <a:solidFill>
                  <a:srgbClr val="34D399"/>
                </a:solidFill>
              </a:rPr>
              <a:t>✓</a:t>
            </a:r>
            <a:endParaRPr lang="en-US" sz="1300" dirty="0"/>
          </a:p>
        </p:txBody>
      </p:sp>
      <p:sp>
        <p:nvSpPr>
          <p:cNvPr id="13" name="Text 11"/>
          <p:cNvSpPr/>
          <p:nvPr/>
        </p:nvSpPr>
        <p:spPr>
          <a:xfrm>
            <a:off x="868680" y="2340864"/>
            <a:ext cx="4206240" cy="347472"/>
          </a:xfrm>
          <a:prstGeom prst="rect">
            <a:avLst/>
          </a:prstGeom>
          <a:noFill/>
          <a:ln/>
        </p:spPr>
        <p:txBody>
          <a:bodyPr wrap="square" rtlCol="0" anchor="ctr"/>
          <a:lstStyle/>
          <a:p>
            <a:pPr marL="0" indent="0">
              <a:buNone/>
            </a:pPr>
            <a:r>
              <a:rPr lang="en-US" sz="1300" dirty="0">
                <a:solidFill>
                  <a:srgbClr val="FFFFFF"/>
                </a:solidFill>
              </a:rPr>
              <a:t>Database-backed cart &amp; orders</a:t>
            </a:r>
            <a:endParaRPr lang="en-US" sz="1300" dirty="0"/>
          </a:p>
        </p:txBody>
      </p:sp>
      <p:sp>
        <p:nvSpPr>
          <p:cNvPr id="14" name="Shape 12"/>
          <p:cNvSpPr/>
          <p:nvPr/>
        </p:nvSpPr>
        <p:spPr>
          <a:xfrm>
            <a:off x="384048" y="2962656"/>
            <a:ext cx="347472" cy="347472"/>
          </a:xfrm>
          <a:prstGeom prst="ellipse">
            <a:avLst/>
          </a:prstGeom>
          <a:solidFill>
            <a:srgbClr val="34D399">
              <a:alpha val="85000"/>
            </a:srgbClr>
          </a:solidFill>
          <a:ln w="12700">
            <a:solidFill>
              <a:srgbClr val="34D399"/>
            </a:solidFill>
            <a:prstDash val="solid"/>
          </a:ln>
        </p:spPr>
        <p:txBody>
          <a:bodyPr/>
          <a:lstStyle/>
          <a:p>
            <a:endParaRPr lang="hu-HU"/>
          </a:p>
        </p:txBody>
      </p:sp>
      <p:sp>
        <p:nvSpPr>
          <p:cNvPr id="15" name="Text 13"/>
          <p:cNvSpPr/>
          <p:nvPr/>
        </p:nvSpPr>
        <p:spPr>
          <a:xfrm>
            <a:off x="384048" y="2962656"/>
            <a:ext cx="347472" cy="347472"/>
          </a:xfrm>
          <a:prstGeom prst="rect">
            <a:avLst/>
          </a:prstGeom>
          <a:noFill/>
          <a:ln/>
        </p:spPr>
        <p:txBody>
          <a:bodyPr wrap="square" lIns="0" tIns="0" rIns="0" bIns="0" rtlCol="0" anchor="ctr"/>
          <a:lstStyle/>
          <a:p>
            <a:pPr marL="0" indent="0" algn="ctr">
              <a:buNone/>
            </a:pPr>
            <a:r>
              <a:rPr lang="en-US" sz="1300" b="1" dirty="0">
                <a:solidFill>
                  <a:srgbClr val="34D399"/>
                </a:solidFill>
              </a:rPr>
              <a:t>✓</a:t>
            </a:r>
            <a:endParaRPr lang="en-US" sz="1300" dirty="0"/>
          </a:p>
        </p:txBody>
      </p:sp>
      <p:sp>
        <p:nvSpPr>
          <p:cNvPr id="16" name="Text 14"/>
          <p:cNvSpPr/>
          <p:nvPr/>
        </p:nvSpPr>
        <p:spPr>
          <a:xfrm>
            <a:off x="868680" y="2962656"/>
            <a:ext cx="4206240" cy="347472"/>
          </a:xfrm>
          <a:prstGeom prst="rect">
            <a:avLst/>
          </a:prstGeom>
          <a:noFill/>
          <a:ln/>
        </p:spPr>
        <p:txBody>
          <a:bodyPr wrap="square" rtlCol="0" anchor="ctr"/>
          <a:lstStyle/>
          <a:p>
            <a:pPr marL="0" indent="0">
              <a:buNone/>
            </a:pPr>
            <a:r>
              <a:rPr lang="en-US" sz="1300" dirty="0">
                <a:solidFill>
                  <a:srgbClr val="FFFFFF"/>
                </a:solidFill>
              </a:rPr>
              <a:t>Admin CRUD panel with image upload</a:t>
            </a:r>
            <a:endParaRPr lang="en-US" sz="1300" dirty="0"/>
          </a:p>
        </p:txBody>
      </p:sp>
      <p:sp>
        <p:nvSpPr>
          <p:cNvPr id="17" name="Shape 15"/>
          <p:cNvSpPr/>
          <p:nvPr/>
        </p:nvSpPr>
        <p:spPr>
          <a:xfrm>
            <a:off x="384048" y="3584448"/>
            <a:ext cx="347472" cy="347472"/>
          </a:xfrm>
          <a:prstGeom prst="ellipse">
            <a:avLst/>
          </a:prstGeom>
          <a:solidFill>
            <a:srgbClr val="34D399">
              <a:alpha val="85000"/>
            </a:srgbClr>
          </a:solidFill>
          <a:ln w="12700">
            <a:solidFill>
              <a:srgbClr val="34D399"/>
            </a:solidFill>
            <a:prstDash val="solid"/>
          </a:ln>
        </p:spPr>
        <p:txBody>
          <a:bodyPr/>
          <a:lstStyle/>
          <a:p>
            <a:endParaRPr lang="hu-HU"/>
          </a:p>
        </p:txBody>
      </p:sp>
      <p:sp>
        <p:nvSpPr>
          <p:cNvPr id="18" name="Text 16"/>
          <p:cNvSpPr/>
          <p:nvPr/>
        </p:nvSpPr>
        <p:spPr>
          <a:xfrm>
            <a:off x="384048" y="3584448"/>
            <a:ext cx="347472" cy="347472"/>
          </a:xfrm>
          <a:prstGeom prst="rect">
            <a:avLst/>
          </a:prstGeom>
          <a:noFill/>
          <a:ln/>
        </p:spPr>
        <p:txBody>
          <a:bodyPr wrap="square" lIns="0" tIns="0" rIns="0" bIns="0" rtlCol="0" anchor="ctr"/>
          <a:lstStyle/>
          <a:p>
            <a:pPr marL="0" indent="0" algn="ctr">
              <a:buNone/>
            </a:pPr>
            <a:r>
              <a:rPr lang="en-US" sz="1300" b="1" dirty="0">
                <a:solidFill>
                  <a:srgbClr val="34D399"/>
                </a:solidFill>
              </a:rPr>
              <a:t>✓</a:t>
            </a:r>
            <a:endParaRPr lang="en-US" sz="1300" dirty="0"/>
          </a:p>
        </p:txBody>
      </p:sp>
      <p:sp>
        <p:nvSpPr>
          <p:cNvPr id="19" name="Text 17"/>
          <p:cNvSpPr/>
          <p:nvPr/>
        </p:nvSpPr>
        <p:spPr>
          <a:xfrm>
            <a:off x="868680" y="3584448"/>
            <a:ext cx="4206240" cy="347472"/>
          </a:xfrm>
          <a:prstGeom prst="rect">
            <a:avLst/>
          </a:prstGeom>
          <a:noFill/>
          <a:ln/>
        </p:spPr>
        <p:txBody>
          <a:bodyPr wrap="square" rtlCol="0" anchor="ctr"/>
          <a:lstStyle/>
          <a:p>
            <a:pPr marL="0" indent="0">
              <a:buNone/>
            </a:pPr>
            <a:r>
              <a:rPr lang="en-US" sz="1300" dirty="0">
                <a:solidFill>
                  <a:srgbClr val="FFFFFF"/>
                </a:solidFill>
              </a:rPr>
              <a:t>REST API — fully documented</a:t>
            </a:r>
            <a:endParaRPr lang="en-US" sz="1300" dirty="0"/>
          </a:p>
        </p:txBody>
      </p:sp>
      <p:sp>
        <p:nvSpPr>
          <p:cNvPr id="20" name="Shape 18"/>
          <p:cNvSpPr/>
          <p:nvPr/>
        </p:nvSpPr>
        <p:spPr>
          <a:xfrm>
            <a:off x="384048" y="4206240"/>
            <a:ext cx="347472" cy="347472"/>
          </a:xfrm>
          <a:prstGeom prst="ellipse">
            <a:avLst/>
          </a:prstGeom>
          <a:solidFill>
            <a:srgbClr val="34D399">
              <a:alpha val="85000"/>
            </a:srgbClr>
          </a:solidFill>
          <a:ln w="12700">
            <a:solidFill>
              <a:srgbClr val="34D399"/>
            </a:solidFill>
            <a:prstDash val="solid"/>
          </a:ln>
        </p:spPr>
        <p:txBody>
          <a:bodyPr/>
          <a:lstStyle/>
          <a:p>
            <a:endParaRPr lang="hu-HU"/>
          </a:p>
        </p:txBody>
      </p:sp>
      <p:sp>
        <p:nvSpPr>
          <p:cNvPr id="21" name="Text 19"/>
          <p:cNvSpPr/>
          <p:nvPr/>
        </p:nvSpPr>
        <p:spPr>
          <a:xfrm>
            <a:off x="384048" y="4206240"/>
            <a:ext cx="347472" cy="347472"/>
          </a:xfrm>
          <a:prstGeom prst="rect">
            <a:avLst/>
          </a:prstGeom>
          <a:noFill/>
          <a:ln/>
        </p:spPr>
        <p:txBody>
          <a:bodyPr wrap="square" lIns="0" tIns="0" rIns="0" bIns="0" rtlCol="0" anchor="ctr"/>
          <a:lstStyle/>
          <a:p>
            <a:pPr marL="0" indent="0" algn="ctr">
              <a:buNone/>
            </a:pPr>
            <a:r>
              <a:rPr lang="en-US" sz="1300" b="1" dirty="0">
                <a:solidFill>
                  <a:srgbClr val="34D399"/>
                </a:solidFill>
              </a:rPr>
              <a:t>✓</a:t>
            </a:r>
            <a:endParaRPr lang="en-US" sz="1300" dirty="0"/>
          </a:p>
        </p:txBody>
      </p:sp>
      <p:sp>
        <p:nvSpPr>
          <p:cNvPr id="22" name="Text 20"/>
          <p:cNvSpPr/>
          <p:nvPr/>
        </p:nvSpPr>
        <p:spPr>
          <a:xfrm>
            <a:off x="868680" y="4206240"/>
            <a:ext cx="4206240" cy="347472"/>
          </a:xfrm>
          <a:prstGeom prst="rect">
            <a:avLst/>
          </a:prstGeom>
          <a:noFill/>
          <a:ln/>
        </p:spPr>
        <p:txBody>
          <a:bodyPr wrap="square" rtlCol="0" anchor="ctr"/>
          <a:lstStyle/>
          <a:p>
            <a:pPr marL="0" indent="0">
              <a:buNone/>
            </a:pPr>
            <a:r>
              <a:rPr lang="en-US" sz="1300" dirty="0">
                <a:solidFill>
                  <a:srgbClr val="FFFFFF"/>
                </a:solidFill>
              </a:rPr>
              <a:t>Git + Discord project management</a:t>
            </a:r>
            <a:endParaRPr lang="en-US" sz="1300" dirty="0"/>
          </a:p>
        </p:txBody>
      </p:sp>
      <p:sp>
        <p:nvSpPr>
          <p:cNvPr id="23" name="Text 21"/>
          <p:cNvSpPr/>
          <p:nvPr/>
        </p:nvSpPr>
        <p:spPr>
          <a:xfrm>
            <a:off x="5577840" y="640080"/>
            <a:ext cx="3383280" cy="2286000"/>
          </a:xfrm>
          <a:prstGeom prst="rect">
            <a:avLst/>
          </a:prstGeom>
          <a:noFill/>
          <a:ln/>
        </p:spPr>
        <p:txBody>
          <a:bodyPr wrap="square" rtlCol="0" anchor="ctr"/>
          <a:lstStyle/>
          <a:p>
            <a:pPr marL="0" indent="0" algn="ctr">
              <a:buNone/>
            </a:pPr>
            <a:r>
              <a:rPr lang="en-US" sz="5600" b="1" dirty="0">
                <a:solidFill>
                  <a:srgbClr val="FFFFFF"/>
                </a:solidFill>
                <a:latin typeface="Georgia" pitchFamily="34" charset="0"/>
                <a:ea typeface="Georgia" pitchFamily="34" charset="-122"/>
                <a:cs typeface="Georgia" pitchFamily="34" charset="-120"/>
              </a:rPr>
              <a:t>Thank</a:t>
            </a:r>
            <a:endParaRPr lang="en-US" sz="5600" dirty="0"/>
          </a:p>
          <a:p>
            <a:pPr marL="0" indent="0" algn="ctr">
              <a:buNone/>
            </a:pPr>
            <a:r>
              <a:rPr lang="en-US" sz="5600" b="1" dirty="0">
                <a:solidFill>
                  <a:srgbClr val="FFFFFF"/>
                </a:solidFill>
                <a:latin typeface="Georgia" pitchFamily="34" charset="0"/>
                <a:ea typeface="Georgia" pitchFamily="34" charset="-122"/>
                <a:cs typeface="Georgia" pitchFamily="34" charset="-120"/>
              </a:rPr>
              <a:t>You!</a:t>
            </a:r>
            <a:endParaRPr lang="en-US" sz="5600" dirty="0"/>
          </a:p>
        </p:txBody>
      </p:sp>
      <p:sp>
        <p:nvSpPr>
          <p:cNvPr id="24" name="Shape 22"/>
          <p:cNvSpPr/>
          <p:nvPr/>
        </p:nvSpPr>
        <p:spPr>
          <a:xfrm>
            <a:off x="5760720" y="3017520"/>
            <a:ext cx="3017520" cy="54864"/>
          </a:xfrm>
          <a:prstGeom prst="rect">
            <a:avLst/>
          </a:prstGeom>
          <a:solidFill>
            <a:srgbClr val="E07B54"/>
          </a:solidFill>
          <a:ln w="12700">
            <a:solidFill>
              <a:srgbClr val="E07B54"/>
            </a:solidFill>
            <a:prstDash val="solid"/>
          </a:ln>
        </p:spPr>
        <p:txBody>
          <a:bodyPr/>
          <a:lstStyle/>
          <a:p>
            <a:endParaRPr lang="hu-HU"/>
          </a:p>
        </p:txBody>
      </p:sp>
      <p:sp>
        <p:nvSpPr>
          <p:cNvPr id="25" name="Text 23"/>
          <p:cNvSpPr/>
          <p:nvPr/>
        </p:nvSpPr>
        <p:spPr>
          <a:xfrm>
            <a:off x="5577840" y="3154680"/>
            <a:ext cx="3383280" cy="594360"/>
          </a:xfrm>
          <a:prstGeom prst="rect">
            <a:avLst/>
          </a:prstGeom>
          <a:noFill/>
          <a:ln/>
        </p:spPr>
        <p:txBody>
          <a:bodyPr wrap="square" rtlCol="0" anchor="ctr"/>
          <a:lstStyle/>
          <a:p>
            <a:pPr marL="0" indent="0" algn="ctr">
              <a:buNone/>
            </a:pPr>
            <a:r>
              <a:rPr lang="en-US" sz="2000" b="1" dirty="0">
                <a:solidFill>
                  <a:srgbClr val="E07B54"/>
                </a:solidFill>
              </a:rPr>
              <a:t>Questions?</a:t>
            </a:r>
            <a:endParaRPr lang="en-US" sz="2000" dirty="0"/>
          </a:p>
        </p:txBody>
      </p:sp>
      <p:sp>
        <p:nvSpPr>
          <p:cNvPr id="26" name="Text 24"/>
          <p:cNvSpPr/>
          <p:nvPr/>
        </p:nvSpPr>
        <p:spPr>
          <a:xfrm>
            <a:off x="5577840" y="3840480"/>
            <a:ext cx="3383280" cy="365760"/>
          </a:xfrm>
          <a:prstGeom prst="rect">
            <a:avLst/>
          </a:prstGeom>
          <a:noFill/>
          <a:ln/>
        </p:spPr>
        <p:txBody>
          <a:bodyPr wrap="square" rtlCol="0" anchor="ctr"/>
          <a:lstStyle/>
          <a:p>
            <a:pPr marL="0" indent="0" algn="ctr">
              <a:buNone/>
            </a:pPr>
            <a:r>
              <a:rPr lang="en-US" sz="1200" dirty="0">
                <a:solidFill>
                  <a:srgbClr val="8892A4"/>
                </a:solidFill>
              </a:rPr>
              <a:t>🏠  InteriorShop  ·  2026</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té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102</TotalTime>
  <Words>2029</Words>
  <Application>Microsoft Office PowerPoint</Application>
  <PresentationFormat>Diavetítés a képernyőre (16:9 oldalarány)</PresentationFormat>
  <Paragraphs>345</Paragraphs>
  <Slides>15</Slides>
  <Notes>15</Notes>
  <HiddenSlides>0</HiddenSlides>
  <MMClips>0</MMClips>
  <ScaleCrop>false</ScaleCrop>
  <HeadingPairs>
    <vt:vector size="6" baseType="variant">
      <vt:variant>
        <vt:lpstr>Használt betűtípusok</vt:lpstr>
      </vt:variant>
      <vt:variant>
        <vt:i4>4</vt:i4>
      </vt:variant>
      <vt:variant>
        <vt:lpstr>Téma</vt:lpstr>
      </vt:variant>
      <vt:variant>
        <vt:i4>1</vt:i4>
      </vt:variant>
      <vt:variant>
        <vt:lpstr>Diacímek</vt:lpstr>
      </vt:variant>
      <vt:variant>
        <vt:i4>15</vt:i4>
      </vt:variant>
    </vt:vector>
  </HeadingPairs>
  <TitlesOfParts>
    <vt:vector size="20" baseType="lpstr">
      <vt:lpstr>Arial</vt:lpstr>
      <vt:lpstr>Calibri</vt:lpstr>
      <vt:lpstr>Consolas</vt:lpstr>
      <vt:lpstr>Georgia</vt:lpstr>
      <vt:lpstr>Office Theme</vt:lpstr>
      <vt:lpstr>PowerPoint-bemutató</vt:lpstr>
      <vt:lpstr>PowerPoint-bemutató</vt:lpstr>
      <vt:lpstr>PowerPoint-bemutató</vt:lpstr>
      <vt:lpstr>PowerPoint-bemutató</vt:lpstr>
      <vt:lpstr>PowerPoint-bemutató</vt:lpstr>
      <vt:lpstr>PowerPoint-bemutató</vt:lpstr>
      <vt:lpstr>PowerPoint-bemutató</vt:lpstr>
      <vt:lpstr>PowerPoint-bemutató</vt:lpstr>
      <vt:lpstr>PowerPoint-bemutató</vt:lpstr>
      <vt:lpstr>PowerPoint-bemutató</vt:lpstr>
      <vt:lpstr>PowerPoint-bemutató</vt:lpstr>
      <vt:lpstr>PowerPoint-bemutató</vt:lpstr>
      <vt:lpstr>PowerPoint-bemutató</vt:lpstr>
      <vt:lpstr>PowerPoint-bemutató</vt:lpstr>
      <vt:lpstr>PowerPoint-bemutató</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InteriorShop – Final Project</dc:title>
  <dc:subject>PptxGenJS Presentation</dc:subject>
  <dc:creator>Lavro Sandor</dc:creator>
  <cp:lastModifiedBy>Lavro Sándor</cp:lastModifiedBy>
  <cp:revision>14</cp:revision>
  <dcterms:created xsi:type="dcterms:W3CDTF">2026-03-19T08:35:46Z</dcterms:created>
  <dcterms:modified xsi:type="dcterms:W3CDTF">2026-04-16T17:00:03Z</dcterms:modified>
</cp:coreProperties>
</file>